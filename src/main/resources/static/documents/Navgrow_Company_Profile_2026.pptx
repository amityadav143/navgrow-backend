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1.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4480560"/>
            <a:ext cx="12188952" cy="2377440"/>
          </a:xfrm>
          <a:prstGeom prst="rect">
            <a:avLst/>
          </a:prstGeom>
          <a:solidFill>
            <a:srgbClr val="14432A">
              <a:alpha val="85000"/>
            </a:srgbClr>
          </a:solidFill>
          <a:ln/>
        </p:spPr>
      </p:sp>
      <p:sp>
        <p:nvSpPr>
          <p:cNvPr id="3" name="Text 1"/>
          <p:cNvSpPr/>
          <p:nvPr/>
        </p:nvSpPr>
        <p:spPr>
          <a:xfrm>
            <a:off x="0" y="4617720"/>
            <a:ext cx="12188952" cy="320040"/>
          </a:xfrm>
          <a:prstGeom prst="rect">
            <a:avLst/>
          </a:prstGeom>
          <a:noFill/>
          <a:ln/>
        </p:spPr>
        <p:txBody>
          <a:bodyPr wrap="square" rtlCol="0" anchor="ctr"/>
          <a:lstStyle/>
          <a:p>
            <a:pPr algn="ctr" indent="0" marL="0">
              <a:buNone/>
            </a:pPr>
            <a:r>
              <a:rPr lang="en-US" sz="1200" b="1" spc="100" kern="0" dirty="0">
                <a:solidFill>
                  <a:srgbClr val="BFF0C6"/>
                </a:solidFill>
                <a:latin typeface="Calibri" pitchFamily="34" charset="0"/>
                <a:ea typeface="Calibri" pitchFamily="34" charset="-122"/>
                <a:cs typeface="Calibri" pitchFamily="34" charset="-120"/>
              </a:rPr>
              <a:t>R A I L W A Y   ·   I N D U S T R I A L   ·   C I V I L   ·   S U S T A I N A B I L I T Y</a:t>
            </a:r>
            <a:endParaRPr lang="en-US" sz="1200" dirty="0"/>
          </a:p>
        </p:txBody>
      </p:sp>
      <p:sp>
        <p:nvSpPr>
          <p:cNvPr id="4" name="Text 2"/>
          <p:cNvSpPr/>
          <p:nvPr/>
        </p:nvSpPr>
        <p:spPr>
          <a:xfrm>
            <a:off x="0" y="4937760"/>
            <a:ext cx="12188952" cy="731520"/>
          </a:xfrm>
          <a:prstGeom prst="rect">
            <a:avLst/>
          </a:prstGeom>
          <a:noFill/>
          <a:ln/>
        </p:spPr>
        <p:txBody>
          <a:bodyPr wrap="square" rtlCol="0" anchor="ctr"/>
          <a:lstStyle/>
          <a:p>
            <a:pPr algn="ctr" indent="0" marL="0">
              <a:buNone/>
            </a:pPr>
            <a:r>
              <a:rPr lang="en-US" sz="4000" b="1" dirty="0">
                <a:solidFill>
                  <a:srgbClr val="FFFFFF"/>
                </a:solidFill>
                <a:latin typeface="Poppins" pitchFamily="34" charset="0"/>
                <a:ea typeface="Poppins" pitchFamily="34" charset="-122"/>
                <a:cs typeface="Poppins" pitchFamily="34" charset="-120"/>
              </a:rPr>
              <a:t>COMPANY PROFILE &amp; CAPABILITIES</a:t>
            </a:r>
            <a:endParaRPr lang="en-US" sz="4000" dirty="0"/>
          </a:p>
        </p:txBody>
      </p:sp>
      <p:sp>
        <p:nvSpPr>
          <p:cNvPr id="5" name="Shape 3"/>
          <p:cNvSpPr/>
          <p:nvPr/>
        </p:nvSpPr>
        <p:spPr>
          <a:xfrm>
            <a:off x="5088636" y="5715000"/>
            <a:ext cx="2011680" cy="457200"/>
          </a:xfrm>
          <a:prstGeom prst="roundRect">
            <a:avLst>
              <a:gd name="adj" fmla="val 50000"/>
            </a:avLst>
          </a:prstGeom>
          <a:solidFill>
            <a:srgbClr val="1E9E3C"/>
          </a:solidFill>
          <a:ln/>
        </p:spPr>
      </p:sp>
      <p:sp>
        <p:nvSpPr>
          <p:cNvPr id="6" name="Text 4"/>
          <p:cNvSpPr/>
          <p:nvPr/>
        </p:nvSpPr>
        <p:spPr>
          <a:xfrm>
            <a:off x="5088636" y="5715000"/>
            <a:ext cx="201168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Poppins" pitchFamily="34" charset="0"/>
                <a:ea typeface="Poppins" pitchFamily="34" charset="-122"/>
                <a:cs typeface="Poppins" pitchFamily="34" charset="-120"/>
              </a:rPr>
              <a:t>2026 EDITION</a:t>
            </a:r>
            <a:endParaRPr lang="en-US" sz="1500" dirty="0"/>
          </a:p>
        </p:txBody>
      </p:sp>
      <p:sp>
        <p:nvSpPr>
          <p:cNvPr id="7" name="Shape 5"/>
          <p:cNvSpPr/>
          <p:nvPr/>
        </p:nvSpPr>
        <p:spPr>
          <a:xfrm>
            <a:off x="2848356" y="6309360"/>
            <a:ext cx="2011680" cy="457200"/>
          </a:xfrm>
          <a:prstGeom prst="roundRect">
            <a:avLst>
              <a:gd name="adj" fmla="val 12000"/>
            </a:avLst>
          </a:prstGeom>
          <a:solidFill>
            <a:srgbClr val="FFFFFF"/>
          </a:solidFill>
          <a:ln/>
        </p:spPr>
      </p:sp>
      <p:pic>
        <p:nvPicPr>
          <p:cNvPr id="8" name="Image 0" descr="/home/claude/navgrow/Navgrow_Base_Code/navgrow-frontend/public/DPIIT.png">    </p:cNvPr>
          <p:cNvPicPr>
            <a:picLocks noChangeAspect="1"/>
          </p:cNvPicPr>
          <p:nvPr/>
        </p:nvPicPr>
        <p:blipFill>
          <a:blip r:embed="rId2"/>
          <a:srcRect l="0" r="0" t="0" b="0"/>
          <a:stretch/>
        </p:blipFill>
        <p:spPr>
          <a:xfrm>
            <a:off x="2958084" y="6382512"/>
            <a:ext cx="822960" cy="310896"/>
          </a:xfrm>
          <a:prstGeom prst="rect">
            <a:avLst/>
          </a:prstGeom>
        </p:spPr>
      </p:pic>
      <p:sp>
        <p:nvSpPr>
          <p:cNvPr id="9" name="Text 6"/>
          <p:cNvSpPr/>
          <p:nvPr/>
        </p:nvSpPr>
        <p:spPr>
          <a:xfrm>
            <a:off x="3781044" y="6309360"/>
            <a:ext cx="1051560" cy="457200"/>
          </a:xfrm>
          <a:prstGeom prst="rect">
            <a:avLst/>
          </a:prstGeom>
          <a:noFill/>
          <a:ln/>
        </p:spPr>
        <p:txBody>
          <a:bodyPr wrap="square" lIns="0" tIns="0" rIns="0" bIns="0" rtlCol="0" anchor="ctr"/>
          <a:lstStyle/>
          <a:p>
            <a:pPr indent="0" marL="0">
              <a:buNone/>
            </a:pPr>
            <a:r>
              <a:rPr lang="en-US" sz="850" b="1" dirty="0">
                <a:solidFill>
                  <a:srgbClr val="0B1F3F"/>
                </a:solidFill>
                <a:latin typeface="Calibri" pitchFamily="34" charset="0"/>
                <a:ea typeface="Calibri" pitchFamily="34" charset="-122"/>
                <a:cs typeface="Calibri" pitchFamily="34" charset="-120"/>
              </a:rPr>
              <a:t>DPIIT Recognised</a:t>
            </a:r>
            <a:endParaRPr lang="en-US" sz="850" dirty="0"/>
          </a:p>
        </p:txBody>
      </p:sp>
      <p:sp>
        <p:nvSpPr>
          <p:cNvPr id="10" name="Shape 7"/>
          <p:cNvSpPr/>
          <p:nvPr/>
        </p:nvSpPr>
        <p:spPr>
          <a:xfrm>
            <a:off x="5088636" y="6309360"/>
            <a:ext cx="2011680" cy="457200"/>
          </a:xfrm>
          <a:prstGeom prst="roundRect">
            <a:avLst>
              <a:gd name="adj" fmla="val 12000"/>
            </a:avLst>
          </a:prstGeom>
          <a:solidFill>
            <a:srgbClr val="FFFFFF"/>
          </a:solidFill>
          <a:ln/>
        </p:spPr>
      </p:sp>
      <p:pic>
        <p:nvPicPr>
          <p:cNvPr id="11" name="Image 1" descr="/home/claude/navgrow/Navgrow_Base_Code/navgrow-frontend/public/msme.png">    </p:cNvPr>
          <p:cNvPicPr>
            <a:picLocks noChangeAspect="1"/>
          </p:cNvPicPr>
          <p:nvPr/>
        </p:nvPicPr>
        <p:blipFill>
          <a:blip r:embed="rId3"/>
          <a:srcRect l="0" r="0" t="0" b="0"/>
          <a:stretch/>
        </p:blipFill>
        <p:spPr>
          <a:xfrm>
            <a:off x="5198364" y="6382512"/>
            <a:ext cx="822960" cy="310896"/>
          </a:xfrm>
          <a:prstGeom prst="rect">
            <a:avLst/>
          </a:prstGeom>
        </p:spPr>
      </p:pic>
      <p:sp>
        <p:nvSpPr>
          <p:cNvPr id="12" name="Text 8"/>
          <p:cNvSpPr/>
          <p:nvPr/>
        </p:nvSpPr>
        <p:spPr>
          <a:xfrm>
            <a:off x="6021324" y="6309360"/>
            <a:ext cx="1051560" cy="457200"/>
          </a:xfrm>
          <a:prstGeom prst="rect">
            <a:avLst/>
          </a:prstGeom>
          <a:noFill/>
          <a:ln/>
        </p:spPr>
        <p:txBody>
          <a:bodyPr wrap="square" lIns="0" tIns="0" rIns="0" bIns="0" rtlCol="0" anchor="ctr"/>
          <a:lstStyle/>
          <a:p>
            <a:pPr indent="0" marL="0">
              <a:buNone/>
            </a:pPr>
            <a:r>
              <a:rPr lang="en-US" sz="850" b="1" dirty="0">
                <a:solidFill>
                  <a:srgbClr val="0B1F3F"/>
                </a:solidFill>
                <a:latin typeface="Calibri" pitchFamily="34" charset="0"/>
                <a:ea typeface="Calibri" pitchFamily="34" charset="-122"/>
                <a:cs typeface="Calibri" pitchFamily="34" charset="-120"/>
              </a:rPr>
              <a:t>MSME Registered</a:t>
            </a:r>
            <a:endParaRPr lang="en-US" sz="850" dirty="0"/>
          </a:p>
        </p:txBody>
      </p:sp>
      <p:sp>
        <p:nvSpPr>
          <p:cNvPr id="13" name="Shape 9"/>
          <p:cNvSpPr/>
          <p:nvPr/>
        </p:nvSpPr>
        <p:spPr>
          <a:xfrm>
            <a:off x="7328916" y="6309360"/>
            <a:ext cx="2011680" cy="457200"/>
          </a:xfrm>
          <a:prstGeom prst="roundRect">
            <a:avLst>
              <a:gd name="adj" fmla="val 12000"/>
            </a:avLst>
          </a:prstGeom>
          <a:solidFill>
            <a:srgbClr val="FFFFFF"/>
          </a:solidFill>
          <a:ln/>
        </p:spPr>
      </p:sp>
      <p:pic>
        <p:nvPicPr>
          <p:cNvPr id="14" name="Image 2" descr="/home/claude/navgrow/Navgrow_Base_Code/navgrow-frontend/public/makeinindia.png">    </p:cNvPr>
          <p:cNvPicPr>
            <a:picLocks noChangeAspect="1"/>
          </p:cNvPicPr>
          <p:nvPr/>
        </p:nvPicPr>
        <p:blipFill>
          <a:blip r:embed="rId4"/>
          <a:srcRect l="0" r="0" t="0" b="0"/>
          <a:stretch/>
        </p:blipFill>
        <p:spPr>
          <a:xfrm>
            <a:off x="7438644" y="6382512"/>
            <a:ext cx="822960" cy="310896"/>
          </a:xfrm>
          <a:prstGeom prst="rect">
            <a:avLst/>
          </a:prstGeom>
        </p:spPr>
      </p:pic>
      <p:sp>
        <p:nvSpPr>
          <p:cNvPr id="15" name="Text 10"/>
          <p:cNvSpPr/>
          <p:nvPr/>
        </p:nvSpPr>
        <p:spPr>
          <a:xfrm>
            <a:off x="8261604" y="6309360"/>
            <a:ext cx="1051560" cy="457200"/>
          </a:xfrm>
          <a:prstGeom prst="rect">
            <a:avLst/>
          </a:prstGeom>
          <a:noFill/>
          <a:ln/>
        </p:spPr>
        <p:txBody>
          <a:bodyPr wrap="square" lIns="0" tIns="0" rIns="0" bIns="0" rtlCol="0" anchor="ctr"/>
          <a:lstStyle/>
          <a:p>
            <a:pPr indent="0" marL="0">
              <a:buNone/>
            </a:pPr>
            <a:r>
              <a:rPr lang="en-US" sz="850" b="1" dirty="0">
                <a:solidFill>
                  <a:srgbClr val="0B1F3F"/>
                </a:solidFill>
                <a:latin typeface="Calibri" pitchFamily="34" charset="0"/>
                <a:ea typeface="Calibri" pitchFamily="34" charset="-122"/>
                <a:cs typeface="Calibri" pitchFamily="34" charset="-120"/>
              </a:rPr>
              <a:t>Make in India</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E3020"/>
          </a:solidFill>
          <a:ln/>
        </p:spPr>
      </p:sp>
      <p:sp>
        <p:nvSpPr>
          <p:cNvPr id="3" name="Shape 1"/>
          <p:cNvSpPr/>
          <p:nvPr/>
        </p:nvSpPr>
        <p:spPr>
          <a:xfrm>
            <a:off x="0" y="1051560"/>
            <a:ext cx="12188952" cy="54864"/>
          </a:xfrm>
          <a:prstGeom prst="rect">
            <a:avLst/>
          </a:prstGeom>
          <a:solidFill>
            <a:srgbClr val="1E9E3C"/>
          </a:solidFill>
          <a:ln/>
        </p:spPr>
      </p:sp>
      <p:sp>
        <p:nvSpPr>
          <p:cNvPr id="4" name="Text 2"/>
          <p:cNvSpPr/>
          <p:nvPr/>
        </p:nvSpPr>
        <p:spPr>
          <a:xfrm>
            <a:off x="457200" y="164592"/>
            <a:ext cx="7315200" cy="274320"/>
          </a:xfrm>
          <a:prstGeom prst="rect">
            <a:avLst/>
          </a:prstGeom>
          <a:noFill/>
          <a:ln/>
        </p:spPr>
        <p:txBody>
          <a:bodyPr wrap="square" lIns="0" tIns="0" rIns="0" bIns="0" rtlCol="0" anchor="ctr"/>
          <a:lstStyle/>
          <a:p>
            <a:pPr indent="0" marL="0">
              <a:buNone/>
            </a:pPr>
            <a:r>
              <a:rPr lang="en-US" sz="1050" b="1" dirty="0">
                <a:solidFill>
                  <a:srgbClr val="BFF0C6"/>
                </a:solidFill>
                <a:latin typeface="Calibri" pitchFamily="34" charset="0"/>
                <a:ea typeface="Calibri" pitchFamily="34" charset="-122"/>
                <a:cs typeface="Calibri" pitchFamily="34" charset="-120"/>
              </a:rPr>
              <a:t>ABOUT THE COMPANY</a:t>
            </a:r>
            <a:endParaRPr lang="en-US" sz="1050" dirty="0"/>
          </a:p>
        </p:txBody>
      </p:sp>
      <p:sp>
        <p:nvSpPr>
          <p:cNvPr id="5" name="Text 3"/>
          <p:cNvSpPr/>
          <p:nvPr/>
        </p:nvSpPr>
        <p:spPr>
          <a:xfrm>
            <a:off x="457200" y="420624"/>
            <a:ext cx="9144000" cy="548640"/>
          </a:xfrm>
          <a:prstGeom prst="rect">
            <a:avLst/>
          </a:prstGeom>
          <a:noFill/>
          <a:ln/>
        </p:spPr>
        <p:txBody>
          <a:bodyPr wrap="square" lIns="0" tIns="0" rIns="0" bIns="0" rtlCol="0" anchor="ctr"/>
          <a:lstStyle/>
          <a:p>
            <a:pPr indent="0" marL="0">
              <a:buNone/>
            </a:pPr>
            <a:r>
              <a:rPr lang="en-US" sz="2500" b="1" dirty="0">
                <a:solidFill>
                  <a:srgbClr val="FFFFFF"/>
                </a:solidFill>
                <a:latin typeface="Poppins" pitchFamily="34" charset="0"/>
                <a:ea typeface="Poppins" pitchFamily="34" charset="-122"/>
                <a:cs typeface="Poppins" pitchFamily="34" charset="-120"/>
              </a:rPr>
              <a:t>Building a Sustainable Tomorrow</a:t>
            </a:r>
            <a:endParaRPr lang="en-US" sz="2500" dirty="0"/>
          </a:p>
        </p:txBody>
      </p:sp>
      <p:sp>
        <p:nvSpPr>
          <p:cNvPr id="6" name="Text 4"/>
          <p:cNvSpPr/>
          <p:nvPr/>
        </p:nvSpPr>
        <p:spPr>
          <a:xfrm>
            <a:off x="7772400" y="274320"/>
            <a:ext cx="3959352" cy="274320"/>
          </a:xfrm>
          <a:prstGeom prst="rect">
            <a:avLst/>
          </a:prstGeom>
          <a:noFill/>
          <a:ln/>
        </p:spPr>
        <p:txBody>
          <a:bodyPr wrap="square" lIns="0" tIns="0" rIns="0" bIns="0" rtlCol="0" anchor="ctr"/>
          <a:lstStyle/>
          <a:p>
            <a:pPr algn="r" indent="0" marL="0">
              <a:buNone/>
            </a:pPr>
            <a:r>
              <a:rPr lang="en-US" sz="1300" b="1" dirty="0">
                <a:solidFill>
                  <a:srgbClr val="FFFFFF"/>
                </a:solidFill>
                <a:latin typeface="Poppins" pitchFamily="34" charset="0"/>
                <a:ea typeface="Poppins" pitchFamily="34" charset="-122"/>
                <a:cs typeface="Poppins" pitchFamily="34" charset="-120"/>
              </a:rPr>
              <a:t>NAVGROW</a:t>
            </a:r>
            <a:endParaRPr lang="en-US" sz="1300" dirty="0"/>
          </a:p>
        </p:txBody>
      </p:sp>
      <p:sp>
        <p:nvSpPr>
          <p:cNvPr id="7" name="Text 5"/>
          <p:cNvSpPr/>
          <p:nvPr/>
        </p:nvSpPr>
        <p:spPr>
          <a:xfrm>
            <a:off x="7772400" y="548640"/>
            <a:ext cx="3959352" cy="228600"/>
          </a:xfrm>
          <a:prstGeom prst="rect">
            <a:avLst/>
          </a:prstGeom>
          <a:noFill/>
          <a:ln/>
        </p:spPr>
        <p:txBody>
          <a:bodyPr wrap="square" lIns="0" tIns="0" rIns="0" bIns="0" rtlCol="0" anchor="ctr"/>
          <a:lstStyle/>
          <a:p>
            <a:pPr algn="r" indent="0" marL="0">
              <a:buNone/>
            </a:pPr>
            <a:r>
              <a:rPr lang="en-US" sz="750" dirty="0">
                <a:solidFill>
                  <a:srgbClr val="CFEFD4"/>
                </a:solidFill>
                <a:latin typeface="Calibri" pitchFamily="34" charset="0"/>
                <a:ea typeface="Calibri" pitchFamily="34" charset="-122"/>
                <a:cs typeface="Calibri" pitchFamily="34" charset="-120"/>
              </a:rPr>
              <a:t>ENGINEERING SERVICE PVT. LTD.</a:t>
            </a:r>
            <a:endParaRPr lang="en-US" sz="750" dirty="0"/>
          </a:p>
        </p:txBody>
      </p:sp>
      <p:sp>
        <p:nvSpPr>
          <p:cNvPr id="8" name="Text 6"/>
          <p:cNvSpPr/>
          <p:nvPr/>
        </p:nvSpPr>
        <p:spPr>
          <a:xfrm>
            <a:off x="457200" y="1280160"/>
            <a:ext cx="11274552" cy="822960"/>
          </a:xfrm>
          <a:prstGeom prst="rect">
            <a:avLst/>
          </a:prstGeom>
          <a:noFill/>
          <a:ln/>
        </p:spPr>
        <p:txBody>
          <a:bodyPr wrap="square" rtlCol="0" anchor="ctr"/>
          <a:lstStyle/>
          <a:p>
            <a:pPr indent="0" marL="0">
              <a:lnSpc>
                <a:spcPct val="110000"/>
              </a:lnSpc>
              <a:buNone/>
            </a:pPr>
            <a:r>
              <a:rPr lang="en-US" sz="1250" dirty="0">
                <a:solidFill>
                  <a:srgbClr val="17233B"/>
                </a:solidFill>
                <a:latin typeface="Calibri" pitchFamily="34" charset="0"/>
                <a:ea typeface="Calibri" pitchFamily="34" charset="-122"/>
                <a:cs typeface="Calibri" pitchFamily="34" charset="-120"/>
              </a:rPr>
              <a:t>Navgrow Engineering Service Pvt. Ltd. is a Siliguri-based, DPIIT-recognised engineering &amp; sustainability company incorporated in 2022. We combine engineering excellence with modern technology to deliver reliable, quality-first solutions for railway, industrial and civil projects — alongside solar, water and green-building systems.</a:t>
            </a:r>
            <a:endParaRPr lang="en-US" sz="1250" dirty="0"/>
          </a:p>
        </p:txBody>
      </p:sp>
      <p:sp>
        <p:nvSpPr>
          <p:cNvPr id="9" name="Shape 7"/>
          <p:cNvSpPr/>
          <p:nvPr/>
        </p:nvSpPr>
        <p:spPr>
          <a:xfrm>
            <a:off x="457200" y="2258568"/>
            <a:ext cx="146304" cy="146304"/>
          </a:xfrm>
          <a:prstGeom prst="ellipse">
            <a:avLst/>
          </a:prstGeom>
          <a:solidFill>
            <a:srgbClr val="1E9E3C"/>
          </a:solidFill>
          <a:ln/>
        </p:spPr>
      </p:sp>
      <p:sp>
        <p:nvSpPr>
          <p:cNvPr id="10" name="Text 8"/>
          <p:cNvSpPr/>
          <p:nvPr/>
        </p:nvSpPr>
        <p:spPr>
          <a:xfrm>
            <a:off x="694944" y="2194560"/>
            <a:ext cx="3328416" cy="274320"/>
          </a:xfrm>
          <a:prstGeom prst="rect">
            <a:avLst/>
          </a:prstGeom>
          <a:noFill/>
          <a:ln/>
        </p:spPr>
        <p:txBody>
          <a:bodyPr wrap="square" lIns="0" tIns="0" rIns="0" bIns="0" rtlCol="0" anchor="ctr"/>
          <a:lstStyle/>
          <a:p>
            <a:pPr indent="0" marL="0">
              <a:buNone/>
            </a:pPr>
            <a:r>
              <a:rPr lang="en-US" sz="1200" b="1" dirty="0">
                <a:solidFill>
                  <a:srgbClr val="0E3020"/>
                </a:solidFill>
                <a:latin typeface="Poppins" pitchFamily="34" charset="0"/>
                <a:ea typeface="Poppins" pitchFamily="34" charset="-122"/>
                <a:cs typeface="Poppins" pitchFamily="34" charset="-120"/>
              </a:rPr>
              <a:t>WHO WE ARE</a:t>
            </a:r>
            <a:endParaRPr lang="en-US" sz="1200" dirty="0"/>
          </a:p>
        </p:txBody>
      </p:sp>
      <p:sp>
        <p:nvSpPr>
          <p:cNvPr id="11" name="Text 9"/>
          <p:cNvSpPr/>
          <p:nvPr/>
        </p:nvSpPr>
        <p:spPr>
          <a:xfrm>
            <a:off x="457200" y="2532888"/>
            <a:ext cx="3566160" cy="1097280"/>
          </a:xfrm>
          <a:prstGeom prst="rect">
            <a:avLst/>
          </a:prstGeom>
          <a:noFill/>
          <a:ln/>
        </p:spPr>
        <p:txBody>
          <a:bodyPr wrap="square" lIns="0" tIns="0" rIns="0" bIns="0" rtlCol="0" anchor="ctr"/>
          <a:lstStyle/>
          <a:p>
            <a:pPr indent="0" marL="0">
              <a:lnSpc>
                <a:spcPct val="105000"/>
              </a:lnSpc>
              <a:buNone/>
            </a:pPr>
            <a:r>
              <a:rPr lang="en-US" sz="1000" dirty="0">
                <a:solidFill>
                  <a:srgbClr val="5B6478"/>
                </a:solidFill>
                <a:latin typeface="Calibri" pitchFamily="34" charset="0"/>
                <a:ea typeface="Calibri" pitchFamily="34" charset="-122"/>
                <a:cs typeface="Calibri" pitchFamily="34" charset="-120"/>
              </a:rPr>
              <a:t>A team of engineers, planners and innovators delivering high-quality engineering, infrastructure and sustainable-energy solutions across India.</a:t>
            </a:r>
            <a:endParaRPr lang="en-US" sz="1000" dirty="0"/>
          </a:p>
        </p:txBody>
      </p:sp>
      <p:sp>
        <p:nvSpPr>
          <p:cNvPr id="12" name="Shape 10"/>
          <p:cNvSpPr/>
          <p:nvPr/>
        </p:nvSpPr>
        <p:spPr>
          <a:xfrm>
            <a:off x="4251960" y="2258568"/>
            <a:ext cx="146304" cy="146304"/>
          </a:xfrm>
          <a:prstGeom prst="ellipse">
            <a:avLst/>
          </a:prstGeom>
          <a:solidFill>
            <a:srgbClr val="1E9E3C"/>
          </a:solidFill>
          <a:ln/>
        </p:spPr>
      </p:sp>
      <p:sp>
        <p:nvSpPr>
          <p:cNvPr id="13" name="Text 11"/>
          <p:cNvSpPr/>
          <p:nvPr/>
        </p:nvSpPr>
        <p:spPr>
          <a:xfrm>
            <a:off x="4489704" y="2194560"/>
            <a:ext cx="3328416" cy="274320"/>
          </a:xfrm>
          <a:prstGeom prst="rect">
            <a:avLst/>
          </a:prstGeom>
          <a:noFill/>
          <a:ln/>
        </p:spPr>
        <p:txBody>
          <a:bodyPr wrap="square" lIns="0" tIns="0" rIns="0" bIns="0" rtlCol="0" anchor="ctr"/>
          <a:lstStyle/>
          <a:p>
            <a:pPr indent="0" marL="0">
              <a:buNone/>
            </a:pPr>
            <a:r>
              <a:rPr lang="en-US" sz="1200" b="1" dirty="0">
                <a:solidFill>
                  <a:srgbClr val="0E3020"/>
                </a:solidFill>
                <a:latin typeface="Poppins" pitchFamily="34" charset="0"/>
                <a:ea typeface="Poppins" pitchFamily="34" charset="-122"/>
                <a:cs typeface="Poppins" pitchFamily="34" charset="-120"/>
              </a:rPr>
              <a:t>OUR VISION</a:t>
            </a:r>
            <a:endParaRPr lang="en-US" sz="1200" dirty="0"/>
          </a:p>
        </p:txBody>
      </p:sp>
      <p:sp>
        <p:nvSpPr>
          <p:cNvPr id="14" name="Text 12"/>
          <p:cNvSpPr/>
          <p:nvPr/>
        </p:nvSpPr>
        <p:spPr>
          <a:xfrm>
            <a:off x="4251960" y="2532888"/>
            <a:ext cx="3566160" cy="1097280"/>
          </a:xfrm>
          <a:prstGeom prst="rect">
            <a:avLst/>
          </a:prstGeom>
          <a:noFill/>
          <a:ln/>
        </p:spPr>
        <p:txBody>
          <a:bodyPr wrap="square" lIns="0" tIns="0" rIns="0" bIns="0" rtlCol="0" anchor="ctr"/>
          <a:lstStyle/>
          <a:p>
            <a:pPr indent="0" marL="0">
              <a:lnSpc>
                <a:spcPct val="105000"/>
              </a:lnSpc>
              <a:buNone/>
            </a:pPr>
            <a:r>
              <a:rPr lang="en-US" sz="1000" dirty="0">
                <a:solidFill>
                  <a:srgbClr val="5B6478"/>
                </a:solidFill>
                <a:latin typeface="Calibri" pitchFamily="34" charset="0"/>
                <a:ea typeface="Calibri" pitchFamily="34" charset="-122"/>
                <a:cs typeface="Calibri" pitchFamily="34" charset="-120"/>
              </a:rPr>
              <a:t>To be India's most trusted engineering company, recognised for innovation, quality and sustainable impact.</a:t>
            </a:r>
            <a:endParaRPr lang="en-US" sz="1000" dirty="0"/>
          </a:p>
        </p:txBody>
      </p:sp>
      <p:sp>
        <p:nvSpPr>
          <p:cNvPr id="15" name="Shape 13"/>
          <p:cNvSpPr/>
          <p:nvPr/>
        </p:nvSpPr>
        <p:spPr>
          <a:xfrm>
            <a:off x="8046720" y="2258568"/>
            <a:ext cx="146304" cy="146304"/>
          </a:xfrm>
          <a:prstGeom prst="ellipse">
            <a:avLst/>
          </a:prstGeom>
          <a:solidFill>
            <a:srgbClr val="1E9E3C"/>
          </a:solidFill>
          <a:ln/>
        </p:spPr>
      </p:sp>
      <p:sp>
        <p:nvSpPr>
          <p:cNvPr id="16" name="Text 14"/>
          <p:cNvSpPr/>
          <p:nvPr/>
        </p:nvSpPr>
        <p:spPr>
          <a:xfrm>
            <a:off x="8284464" y="2194560"/>
            <a:ext cx="3328416" cy="274320"/>
          </a:xfrm>
          <a:prstGeom prst="rect">
            <a:avLst/>
          </a:prstGeom>
          <a:noFill/>
          <a:ln/>
        </p:spPr>
        <p:txBody>
          <a:bodyPr wrap="square" lIns="0" tIns="0" rIns="0" bIns="0" rtlCol="0" anchor="ctr"/>
          <a:lstStyle/>
          <a:p>
            <a:pPr indent="0" marL="0">
              <a:buNone/>
            </a:pPr>
            <a:r>
              <a:rPr lang="en-US" sz="1200" b="1" dirty="0">
                <a:solidFill>
                  <a:srgbClr val="0E3020"/>
                </a:solidFill>
                <a:latin typeface="Poppins" pitchFamily="34" charset="0"/>
                <a:ea typeface="Poppins" pitchFamily="34" charset="-122"/>
                <a:cs typeface="Poppins" pitchFamily="34" charset="-120"/>
              </a:rPr>
              <a:t>OUR MISSION</a:t>
            </a:r>
            <a:endParaRPr lang="en-US" sz="1200" dirty="0"/>
          </a:p>
        </p:txBody>
      </p:sp>
      <p:sp>
        <p:nvSpPr>
          <p:cNvPr id="17" name="Text 15"/>
          <p:cNvSpPr/>
          <p:nvPr/>
        </p:nvSpPr>
        <p:spPr>
          <a:xfrm>
            <a:off x="8046720" y="2532888"/>
            <a:ext cx="3566160" cy="1097280"/>
          </a:xfrm>
          <a:prstGeom prst="rect">
            <a:avLst/>
          </a:prstGeom>
          <a:noFill/>
          <a:ln/>
        </p:spPr>
        <p:txBody>
          <a:bodyPr wrap="square" lIns="0" tIns="0" rIns="0" bIns="0" rtlCol="0" anchor="ctr"/>
          <a:lstStyle/>
          <a:p>
            <a:pPr indent="0" marL="0">
              <a:lnSpc>
                <a:spcPct val="105000"/>
              </a:lnSpc>
              <a:buNone/>
            </a:pPr>
            <a:r>
              <a:rPr lang="en-US" sz="1000" dirty="0">
                <a:solidFill>
                  <a:srgbClr val="5B6478"/>
                </a:solidFill>
                <a:latin typeface="Calibri" pitchFamily="34" charset="0"/>
                <a:ea typeface="Calibri" pitchFamily="34" charset="-122"/>
                <a:cs typeface="Calibri" pitchFamily="34" charset="-120"/>
              </a:rPr>
              <a:t>To provide cost-effective, reliable and eco-friendly engineering solutions that empower clients and contribute to a better planet.</a:t>
            </a:r>
            <a:endParaRPr lang="en-US" sz="1000" dirty="0"/>
          </a:p>
        </p:txBody>
      </p:sp>
      <p:sp>
        <p:nvSpPr>
          <p:cNvPr id="18" name="Shape 16"/>
          <p:cNvSpPr/>
          <p:nvPr/>
        </p:nvSpPr>
        <p:spPr>
          <a:xfrm>
            <a:off x="457200" y="3977640"/>
            <a:ext cx="11274552" cy="1371600"/>
          </a:xfrm>
          <a:prstGeom prst="roundRect">
            <a:avLst>
              <a:gd name="adj" fmla="val 5333"/>
            </a:avLst>
          </a:prstGeom>
          <a:solidFill>
            <a:srgbClr val="F3F7F3"/>
          </a:solidFill>
          <a:ln/>
        </p:spPr>
      </p:sp>
      <p:sp>
        <p:nvSpPr>
          <p:cNvPr id="19" name="Text 17"/>
          <p:cNvSpPr/>
          <p:nvPr/>
        </p:nvSpPr>
        <p:spPr>
          <a:xfrm>
            <a:off x="640080" y="4114800"/>
            <a:ext cx="5486400" cy="274320"/>
          </a:xfrm>
          <a:prstGeom prst="rect">
            <a:avLst/>
          </a:prstGeom>
          <a:noFill/>
          <a:ln/>
        </p:spPr>
        <p:txBody>
          <a:bodyPr wrap="square" lIns="0" tIns="0" rIns="0" bIns="0" rtlCol="0" anchor="ctr"/>
          <a:lstStyle/>
          <a:p>
            <a:pPr indent="0" marL="0">
              <a:buNone/>
            </a:pPr>
            <a:r>
              <a:rPr lang="en-US" sz="1300" b="1" dirty="0">
                <a:solidFill>
                  <a:srgbClr val="0E3020"/>
                </a:solidFill>
                <a:latin typeface="Poppins" pitchFamily="34" charset="0"/>
                <a:ea typeface="Poppins" pitchFamily="34" charset="-122"/>
                <a:cs typeface="Poppins" pitchFamily="34" charset="-120"/>
              </a:rPr>
              <a:t>WHAT WE VALUE</a:t>
            </a:r>
            <a:endParaRPr lang="en-US" sz="1300" dirty="0"/>
          </a:p>
        </p:txBody>
      </p:sp>
      <p:sp>
        <p:nvSpPr>
          <p:cNvPr id="20" name="Shape 18"/>
          <p:cNvSpPr/>
          <p:nvPr/>
        </p:nvSpPr>
        <p:spPr>
          <a:xfrm>
            <a:off x="640080" y="4572000"/>
            <a:ext cx="128016" cy="128016"/>
          </a:xfrm>
          <a:prstGeom prst="ellipse">
            <a:avLst/>
          </a:prstGeom>
          <a:solidFill>
            <a:srgbClr val="1E9E3C"/>
          </a:solidFill>
          <a:ln/>
        </p:spPr>
      </p:sp>
      <p:sp>
        <p:nvSpPr>
          <p:cNvPr id="21" name="Text 19"/>
          <p:cNvSpPr/>
          <p:nvPr/>
        </p:nvSpPr>
        <p:spPr>
          <a:xfrm>
            <a:off x="859536" y="4526280"/>
            <a:ext cx="3383280" cy="274320"/>
          </a:xfrm>
          <a:prstGeom prst="rect">
            <a:avLst/>
          </a:prstGeom>
          <a:noFill/>
          <a:ln/>
        </p:spPr>
        <p:txBody>
          <a:bodyPr wrap="square" lIns="0" tIns="0" rIns="0" bIns="0" rtlCol="0" anchor="ctr"/>
          <a:lstStyle/>
          <a:p>
            <a:pPr indent="0" marL="0">
              <a:buNone/>
            </a:pPr>
            <a:r>
              <a:rPr lang="en-US" sz="1100" b="1" dirty="0">
                <a:solidFill>
                  <a:srgbClr val="17233B"/>
                </a:solidFill>
                <a:latin typeface="Calibri" pitchFamily="34" charset="0"/>
                <a:ea typeface="Calibri" pitchFamily="34" charset="-122"/>
                <a:cs typeface="Calibri" pitchFamily="34" charset="-120"/>
              </a:rPr>
              <a:t>Integrity &amp; Transparency</a:t>
            </a:r>
            <a:endParaRPr lang="en-US" sz="1100" dirty="0"/>
          </a:p>
        </p:txBody>
      </p:sp>
      <p:sp>
        <p:nvSpPr>
          <p:cNvPr id="22" name="Shape 20"/>
          <p:cNvSpPr/>
          <p:nvPr/>
        </p:nvSpPr>
        <p:spPr>
          <a:xfrm>
            <a:off x="4297680" y="4572000"/>
            <a:ext cx="128016" cy="128016"/>
          </a:xfrm>
          <a:prstGeom prst="ellipse">
            <a:avLst/>
          </a:prstGeom>
          <a:solidFill>
            <a:srgbClr val="1E9E3C"/>
          </a:solidFill>
          <a:ln/>
        </p:spPr>
      </p:sp>
      <p:sp>
        <p:nvSpPr>
          <p:cNvPr id="23" name="Text 21"/>
          <p:cNvSpPr/>
          <p:nvPr/>
        </p:nvSpPr>
        <p:spPr>
          <a:xfrm>
            <a:off x="4517136" y="4526280"/>
            <a:ext cx="3383280" cy="274320"/>
          </a:xfrm>
          <a:prstGeom prst="rect">
            <a:avLst/>
          </a:prstGeom>
          <a:noFill/>
          <a:ln/>
        </p:spPr>
        <p:txBody>
          <a:bodyPr wrap="square" lIns="0" tIns="0" rIns="0" bIns="0" rtlCol="0" anchor="ctr"/>
          <a:lstStyle/>
          <a:p>
            <a:pPr indent="0" marL="0">
              <a:buNone/>
            </a:pPr>
            <a:r>
              <a:rPr lang="en-US" sz="1100" b="1" dirty="0">
                <a:solidFill>
                  <a:srgbClr val="17233B"/>
                </a:solidFill>
                <a:latin typeface="Calibri" pitchFamily="34" charset="0"/>
                <a:ea typeface="Calibri" pitchFamily="34" charset="-122"/>
                <a:cs typeface="Calibri" pitchFamily="34" charset="-120"/>
              </a:rPr>
              <a:t>Safety &amp; Quality</a:t>
            </a:r>
            <a:endParaRPr lang="en-US" sz="1100" dirty="0"/>
          </a:p>
        </p:txBody>
      </p:sp>
      <p:sp>
        <p:nvSpPr>
          <p:cNvPr id="24" name="Shape 22"/>
          <p:cNvSpPr/>
          <p:nvPr/>
        </p:nvSpPr>
        <p:spPr>
          <a:xfrm>
            <a:off x="7955280" y="4572000"/>
            <a:ext cx="128016" cy="128016"/>
          </a:xfrm>
          <a:prstGeom prst="ellipse">
            <a:avLst/>
          </a:prstGeom>
          <a:solidFill>
            <a:srgbClr val="1E9E3C"/>
          </a:solidFill>
          <a:ln/>
        </p:spPr>
      </p:sp>
      <p:sp>
        <p:nvSpPr>
          <p:cNvPr id="25" name="Text 23"/>
          <p:cNvSpPr/>
          <p:nvPr/>
        </p:nvSpPr>
        <p:spPr>
          <a:xfrm>
            <a:off x="8174736" y="4526280"/>
            <a:ext cx="3383280" cy="274320"/>
          </a:xfrm>
          <a:prstGeom prst="rect">
            <a:avLst/>
          </a:prstGeom>
          <a:noFill/>
          <a:ln/>
        </p:spPr>
        <p:txBody>
          <a:bodyPr wrap="square" lIns="0" tIns="0" rIns="0" bIns="0" rtlCol="0" anchor="ctr"/>
          <a:lstStyle/>
          <a:p>
            <a:pPr indent="0" marL="0">
              <a:buNone/>
            </a:pPr>
            <a:r>
              <a:rPr lang="en-US" sz="1100" b="1" dirty="0">
                <a:solidFill>
                  <a:srgbClr val="17233B"/>
                </a:solidFill>
                <a:latin typeface="Calibri" pitchFamily="34" charset="0"/>
                <a:ea typeface="Calibri" pitchFamily="34" charset="-122"/>
                <a:cs typeface="Calibri" pitchFamily="34" charset="-120"/>
              </a:rPr>
              <a:t>Innovation &amp; Excellence</a:t>
            </a:r>
            <a:endParaRPr lang="en-US" sz="1100" dirty="0"/>
          </a:p>
        </p:txBody>
      </p:sp>
      <p:sp>
        <p:nvSpPr>
          <p:cNvPr id="26" name="Shape 24"/>
          <p:cNvSpPr/>
          <p:nvPr/>
        </p:nvSpPr>
        <p:spPr>
          <a:xfrm>
            <a:off x="640080" y="4956048"/>
            <a:ext cx="128016" cy="128016"/>
          </a:xfrm>
          <a:prstGeom prst="ellipse">
            <a:avLst/>
          </a:prstGeom>
          <a:solidFill>
            <a:srgbClr val="1E9E3C"/>
          </a:solidFill>
          <a:ln/>
        </p:spPr>
      </p:sp>
      <p:sp>
        <p:nvSpPr>
          <p:cNvPr id="27" name="Text 25"/>
          <p:cNvSpPr/>
          <p:nvPr/>
        </p:nvSpPr>
        <p:spPr>
          <a:xfrm>
            <a:off x="859536" y="4910328"/>
            <a:ext cx="3383280" cy="274320"/>
          </a:xfrm>
          <a:prstGeom prst="rect">
            <a:avLst/>
          </a:prstGeom>
          <a:noFill/>
          <a:ln/>
        </p:spPr>
        <p:txBody>
          <a:bodyPr wrap="square" lIns="0" tIns="0" rIns="0" bIns="0" rtlCol="0" anchor="ctr"/>
          <a:lstStyle/>
          <a:p>
            <a:pPr indent="0" marL="0">
              <a:buNone/>
            </a:pPr>
            <a:r>
              <a:rPr lang="en-US" sz="1100" b="1" dirty="0">
                <a:solidFill>
                  <a:srgbClr val="17233B"/>
                </a:solidFill>
                <a:latin typeface="Calibri" pitchFamily="34" charset="0"/>
                <a:ea typeface="Calibri" pitchFamily="34" charset="-122"/>
                <a:cs typeface="Calibri" pitchFamily="34" charset="-120"/>
              </a:rPr>
              <a:t>Sustainability</a:t>
            </a:r>
            <a:endParaRPr lang="en-US" sz="1100" dirty="0"/>
          </a:p>
        </p:txBody>
      </p:sp>
      <p:sp>
        <p:nvSpPr>
          <p:cNvPr id="28" name="Shape 26"/>
          <p:cNvSpPr/>
          <p:nvPr/>
        </p:nvSpPr>
        <p:spPr>
          <a:xfrm>
            <a:off x="4297680" y="4956048"/>
            <a:ext cx="128016" cy="128016"/>
          </a:xfrm>
          <a:prstGeom prst="ellipse">
            <a:avLst/>
          </a:prstGeom>
          <a:solidFill>
            <a:srgbClr val="1E9E3C"/>
          </a:solidFill>
          <a:ln/>
        </p:spPr>
      </p:sp>
      <p:sp>
        <p:nvSpPr>
          <p:cNvPr id="29" name="Text 27"/>
          <p:cNvSpPr/>
          <p:nvPr/>
        </p:nvSpPr>
        <p:spPr>
          <a:xfrm>
            <a:off x="4517136" y="4910328"/>
            <a:ext cx="3383280" cy="274320"/>
          </a:xfrm>
          <a:prstGeom prst="rect">
            <a:avLst/>
          </a:prstGeom>
          <a:noFill/>
          <a:ln/>
        </p:spPr>
        <p:txBody>
          <a:bodyPr wrap="square" lIns="0" tIns="0" rIns="0" bIns="0" rtlCol="0" anchor="ctr"/>
          <a:lstStyle/>
          <a:p>
            <a:pPr indent="0" marL="0">
              <a:buNone/>
            </a:pPr>
            <a:r>
              <a:rPr lang="en-US" sz="1100" b="1" dirty="0">
                <a:solidFill>
                  <a:srgbClr val="17233B"/>
                </a:solidFill>
                <a:latin typeface="Calibri" pitchFamily="34" charset="0"/>
                <a:ea typeface="Calibri" pitchFamily="34" charset="-122"/>
                <a:cs typeface="Calibri" pitchFamily="34" charset="-120"/>
              </a:rPr>
              <a:t>Customer Commitment</a:t>
            </a:r>
            <a:endParaRPr lang="en-US" sz="1100" dirty="0"/>
          </a:p>
        </p:txBody>
      </p:sp>
      <p:sp>
        <p:nvSpPr>
          <p:cNvPr id="30" name="Text 28"/>
          <p:cNvSpPr/>
          <p:nvPr/>
        </p:nvSpPr>
        <p:spPr>
          <a:xfrm>
            <a:off x="457200" y="5532120"/>
            <a:ext cx="11274552" cy="640080"/>
          </a:xfrm>
          <a:prstGeom prst="rect">
            <a:avLst/>
          </a:prstGeom>
          <a:noFill/>
          <a:ln/>
        </p:spPr>
        <p:txBody>
          <a:bodyPr wrap="square" lIns="0" tIns="0" rIns="0" bIns="0" rtlCol="0" anchor="ctr"/>
          <a:lstStyle/>
          <a:p>
            <a:pPr algn="ctr" indent="0" marL="0">
              <a:buNone/>
            </a:pPr>
            <a:r>
              <a:rPr lang="en-US" sz="1150" i="1" dirty="0">
                <a:solidFill>
                  <a:srgbClr val="0E3020"/>
                </a:solidFill>
                <a:latin typeface="Calibri" pitchFamily="34" charset="0"/>
                <a:ea typeface="Calibri" pitchFamily="34" charset="-122"/>
                <a:cs typeface="Calibri" pitchFamily="34" charset="-120"/>
              </a:rPr>
              <a:t>Serving Indian Railways, industrial plants, government departments and private developers across North Bengal and beyond.</a:t>
            </a:r>
            <a:endParaRPr lang="en-US" sz="1150" dirty="0"/>
          </a:p>
        </p:txBody>
      </p:sp>
      <p:sp>
        <p:nvSpPr>
          <p:cNvPr id="31" name="Text 29"/>
          <p:cNvSpPr/>
          <p:nvPr/>
        </p:nvSpPr>
        <p:spPr>
          <a:xfrm>
            <a:off x="457200" y="6455664"/>
            <a:ext cx="4572000" cy="274320"/>
          </a:xfrm>
          <a:prstGeom prst="rect">
            <a:avLst/>
          </a:prstGeom>
          <a:noFill/>
          <a:ln/>
        </p:spPr>
        <p:txBody>
          <a:bodyPr wrap="square" lIns="0" tIns="0" rIns="0" bIns="0" rtlCol="0" anchor="ctr"/>
          <a:lstStyle/>
          <a:p>
            <a:pPr algn="l" indent="0" marL="0">
              <a:buNone/>
            </a:pPr>
            <a:r>
              <a:rPr lang="en-US" sz="750" dirty="0">
                <a:solidFill>
                  <a:srgbClr val="5B6478"/>
                </a:solidFill>
                <a:latin typeface="Calibri" pitchFamily="34" charset="0"/>
                <a:ea typeface="Calibri" pitchFamily="34" charset="-122"/>
                <a:cs typeface="Calibri" pitchFamily="34" charset="-120"/>
              </a:rPr>
              <a:t>NAVGROW ENGINEERING SERVICE PVT. LTD.</a:t>
            </a:r>
            <a:endParaRPr lang="en-US" sz="750" dirty="0"/>
          </a:p>
        </p:txBody>
      </p:sp>
      <p:sp>
        <p:nvSpPr>
          <p:cNvPr id="32" name="Text 30"/>
          <p:cNvSpPr/>
          <p:nvPr/>
        </p:nvSpPr>
        <p:spPr>
          <a:xfrm>
            <a:off x="4023360" y="6455664"/>
            <a:ext cx="4114800" cy="274320"/>
          </a:xfrm>
          <a:prstGeom prst="rect">
            <a:avLst/>
          </a:prstGeom>
          <a:noFill/>
          <a:ln/>
        </p:spPr>
        <p:txBody>
          <a:bodyPr wrap="square" lIns="0" tIns="0" rIns="0" bIns="0" rtlCol="0" anchor="ctr"/>
          <a:lstStyle/>
          <a:p>
            <a:pPr algn="ctr" indent="0" marL="0">
              <a:buNone/>
            </a:pPr>
            <a:r>
              <a:rPr lang="en-US" sz="750" dirty="0">
                <a:solidFill>
                  <a:srgbClr val="5B6478"/>
                </a:solidFill>
                <a:latin typeface="Calibri" pitchFamily="34" charset="0"/>
                <a:ea typeface="Calibri" pitchFamily="34" charset="-122"/>
                <a:cs typeface="Calibri" pitchFamily="34" charset="-120"/>
              </a:rPr>
              <a:t>COMPANY PROFILE</a:t>
            </a:r>
            <a:endParaRPr lang="en-US" sz="750" dirty="0"/>
          </a:p>
        </p:txBody>
      </p:sp>
      <p:sp>
        <p:nvSpPr>
          <p:cNvPr id="33" name="Shape 31"/>
          <p:cNvSpPr/>
          <p:nvPr/>
        </p:nvSpPr>
        <p:spPr>
          <a:xfrm>
            <a:off x="11430000" y="6419088"/>
            <a:ext cx="274320" cy="274320"/>
          </a:xfrm>
          <a:prstGeom prst="ellipse">
            <a:avLst/>
          </a:prstGeom>
          <a:solidFill>
            <a:srgbClr val="1E9E3C"/>
          </a:solidFill>
          <a:ln/>
        </p:spPr>
      </p:sp>
      <p:sp>
        <p:nvSpPr>
          <p:cNvPr id="34" name="Text 32"/>
          <p:cNvSpPr/>
          <p:nvPr/>
        </p:nvSpPr>
        <p:spPr>
          <a:xfrm>
            <a:off x="11430000" y="6419088"/>
            <a:ext cx="2743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Poppins" pitchFamily="34" charset="0"/>
                <a:ea typeface="Poppins" pitchFamily="34" charset="-122"/>
                <a:cs typeface="Poppins" pitchFamily="34" charset="-120"/>
              </a:rPr>
              <a:t>02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432A"/>
        </a:solidFill>
      </p:bgPr>
    </p:bg>
    <p:spTree>
      <p:nvGrpSpPr>
        <p:cNvPr id="1" name=""/>
        <p:cNvGrpSpPr/>
        <p:nvPr/>
      </p:nvGrpSpPr>
      <p:grpSpPr>
        <a:xfrm>
          <a:off x="0" y="0"/>
          <a:ext cx="0" cy="0"/>
          <a:chOff x="0" y="0"/>
          <a:chExt cx="0" cy="0"/>
        </a:xfrm>
      </p:grpSpPr>
      <p:pic>
        <p:nvPicPr>
          <p:cNvPr id="2" name="Image 0" descr="ppt_img/about_hero_169.jpg">    </p:cNvPr>
          <p:cNvPicPr>
            <a:picLocks noChangeAspect="1"/>
          </p:cNvPicPr>
          <p:nvPr/>
        </p:nvPicPr>
        <p:blipFill>
          <a:blip r:embed="rId1"/>
          <a:stretch>
            <a:fillRect/>
          </a:stretch>
        </p:blipFill>
        <p:spPr>
          <a:xfrm>
            <a:off x="0" y="0"/>
            <a:ext cx="12188952" cy="6172200"/>
          </a:xfrm>
          <a:prstGeom prst="rect">
            <a:avLst/>
          </a:prstGeom>
        </p:spPr>
      </p:pic>
      <p:sp>
        <p:nvSpPr>
          <p:cNvPr id="3" name="Text 0"/>
          <p:cNvSpPr/>
          <p:nvPr/>
        </p:nvSpPr>
        <p:spPr>
          <a:xfrm>
            <a:off x="0" y="6172200"/>
            <a:ext cx="12188952" cy="320040"/>
          </a:xfrm>
          <a:prstGeom prst="rect">
            <a:avLst/>
          </a:prstGeom>
          <a:noFill/>
          <a:ln/>
        </p:spPr>
        <p:txBody>
          <a:bodyPr wrap="square" lIns="0" tIns="0" rIns="0" bIns="0" rtlCol="0" anchor="ctr"/>
          <a:lstStyle/>
          <a:p>
            <a:pPr algn="ctr" indent="0" marL="0">
              <a:buNone/>
            </a:pPr>
            <a:r>
              <a:rPr lang="en-US" sz="1000" i="1" dirty="0">
                <a:solidFill>
                  <a:srgbClr val="BFF0C6"/>
                </a:solidFill>
                <a:latin typeface="Calibri" pitchFamily="34" charset="0"/>
                <a:ea typeface="Calibri" pitchFamily="34" charset="-122"/>
                <a:cs typeface="Calibri" pitchFamily="34" charset="-120"/>
              </a:rPr>
              <a:t>Engineering excellence across energy, water, industry and infrastructure.</a:t>
            </a:r>
            <a:endParaRPr lang="en-US" sz="1000" dirty="0"/>
          </a:p>
        </p:txBody>
      </p:sp>
      <p:sp>
        <p:nvSpPr>
          <p:cNvPr id="4" name="Text 1"/>
          <p:cNvSpPr/>
          <p:nvPr/>
        </p:nvSpPr>
        <p:spPr>
          <a:xfrm>
            <a:off x="457200" y="6455664"/>
            <a:ext cx="4572000" cy="274320"/>
          </a:xfrm>
          <a:prstGeom prst="rect">
            <a:avLst/>
          </a:prstGeom>
          <a:noFill/>
          <a:ln/>
        </p:spPr>
        <p:txBody>
          <a:bodyPr wrap="square" lIns="0" tIns="0" rIns="0" bIns="0" rtlCol="0" anchor="ctr"/>
          <a:lstStyle/>
          <a:p>
            <a:pPr algn="l" indent="0" marL="0">
              <a:buNone/>
            </a:pPr>
            <a:r>
              <a:rPr lang="en-US" sz="750" dirty="0">
                <a:solidFill>
                  <a:srgbClr val="9FC8A8"/>
                </a:solidFill>
                <a:latin typeface="Calibri" pitchFamily="34" charset="0"/>
                <a:ea typeface="Calibri" pitchFamily="34" charset="-122"/>
                <a:cs typeface="Calibri" pitchFamily="34" charset="-120"/>
              </a:rPr>
              <a:t>NAVGROW ENGINEERING SERVICE PVT. LTD.</a:t>
            </a:r>
            <a:endParaRPr lang="en-US" sz="750" dirty="0"/>
          </a:p>
        </p:txBody>
      </p:sp>
      <p:sp>
        <p:nvSpPr>
          <p:cNvPr id="5" name="Text 2"/>
          <p:cNvSpPr/>
          <p:nvPr/>
        </p:nvSpPr>
        <p:spPr>
          <a:xfrm>
            <a:off x="4023360" y="6455664"/>
            <a:ext cx="4114800" cy="274320"/>
          </a:xfrm>
          <a:prstGeom prst="rect">
            <a:avLst/>
          </a:prstGeom>
          <a:noFill/>
          <a:ln/>
        </p:spPr>
        <p:txBody>
          <a:bodyPr wrap="square" lIns="0" tIns="0" rIns="0" bIns="0" rtlCol="0" anchor="ctr"/>
          <a:lstStyle/>
          <a:p>
            <a:pPr algn="ctr" indent="0" marL="0">
              <a:buNone/>
            </a:pPr>
            <a:r>
              <a:rPr lang="en-US" sz="750" dirty="0">
                <a:solidFill>
                  <a:srgbClr val="9FC8A8"/>
                </a:solidFill>
                <a:latin typeface="Calibri" pitchFamily="34" charset="0"/>
                <a:ea typeface="Calibri" pitchFamily="34" charset="-122"/>
                <a:cs typeface="Calibri" pitchFamily="34" charset="-120"/>
              </a:rPr>
              <a:t>COMPANY OVERVIEW</a:t>
            </a:r>
            <a:endParaRPr lang="en-US" sz="750" dirty="0"/>
          </a:p>
        </p:txBody>
      </p:sp>
      <p:sp>
        <p:nvSpPr>
          <p:cNvPr id="6" name="Shape 3"/>
          <p:cNvSpPr/>
          <p:nvPr/>
        </p:nvSpPr>
        <p:spPr>
          <a:xfrm>
            <a:off x="11430000" y="6419088"/>
            <a:ext cx="274320" cy="274320"/>
          </a:xfrm>
          <a:prstGeom prst="ellipse">
            <a:avLst/>
          </a:prstGeom>
          <a:solidFill>
            <a:srgbClr val="1E9E3C"/>
          </a:solidFill>
          <a:ln/>
        </p:spPr>
      </p:sp>
      <p:sp>
        <p:nvSpPr>
          <p:cNvPr id="7" name="Text 4"/>
          <p:cNvSpPr/>
          <p:nvPr/>
        </p:nvSpPr>
        <p:spPr>
          <a:xfrm>
            <a:off x="11430000" y="6419088"/>
            <a:ext cx="2743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Poppins" pitchFamily="34" charset="0"/>
                <a:ea typeface="Poppins" pitchFamily="34" charset="-122"/>
                <a:cs typeface="Poppins" pitchFamily="34" charset="-120"/>
              </a:rPr>
              <a:t>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E3020"/>
          </a:solidFill>
          <a:ln/>
        </p:spPr>
      </p:sp>
      <p:sp>
        <p:nvSpPr>
          <p:cNvPr id="3" name="Shape 1"/>
          <p:cNvSpPr/>
          <p:nvPr/>
        </p:nvSpPr>
        <p:spPr>
          <a:xfrm>
            <a:off x="0" y="1051560"/>
            <a:ext cx="12188952" cy="54864"/>
          </a:xfrm>
          <a:prstGeom prst="rect">
            <a:avLst/>
          </a:prstGeom>
          <a:solidFill>
            <a:srgbClr val="1E9E3C"/>
          </a:solidFill>
          <a:ln/>
        </p:spPr>
      </p:sp>
      <p:sp>
        <p:nvSpPr>
          <p:cNvPr id="4" name="Text 2"/>
          <p:cNvSpPr/>
          <p:nvPr/>
        </p:nvSpPr>
        <p:spPr>
          <a:xfrm>
            <a:off x="457200" y="164592"/>
            <a:ext cx="7315200" cy="274320"/>
          </a:xfrm>
          <a:prstGeom prst="rect">
            <a:avLst/>
          </a:prstGeom>
          <a:noFill/>
          <a:ln/>
        </p:spPr>
        <p:txBody>
          <a:bodyPr wrap="square" lIns="0" tIns="0" rIns="0" bIns="0" rtlCol="0" anchor="ctr"/>
          <a:lstStyle/>
          <a:p>
            <a:pPr indent="0" marL="0">
              <a:buNone/>
            </a:pPr>
            <a:r>
              <a:rPr lang="en-US" sz="1050" b="1" dirty="0">
                <a:solidFill>
                  <a:srgbClr val="BFF0C6"/>
                </a:solidFill>
                <a:latin typeface="Calibri" pitchFamily="34" charset="0"/>
                <a:ea typeface="Calibri" pitchFamily="34" charset="-122"/>
                <a:cs typeface="Calibri" pitchFamily="34" charset="-120"/>
              </a:rPr>
              <a:t>CAPABILITY OVERVIEW</a:t>
            </a:r>
            <a:endParaRPr lang="en-US" sz="1050" dirty="0"/>
          </a:p>
        </p:txBody>
      </p:sp>
      <p:sp>
        <p:nvSpPr>
          <p:cNvPr id="5" name="Text 3"/>
          <p:cNvSpPr/>
          <p:nvPr/>
        </p:nvSpPr>
        <p:spPr>
          <a:xfrm>
            <a:off x="457200" y="420624"/>
            <a:ext cx="9144000" cy="548640"/>
          </a:xfrm>
          <a:prstGeom prst="rect">
            <a:avLst/>
          </a:prstGeom>
          <a:noFill/>
          <a:ln/>
        </p:spPr>
        <p:txBody>
          <a:bodyPr wrap="square" lIns="0" tIns="0" rIns="0" bIns="0" rtlCol="0" anchor="ctr"/>
          <a:lstStyle/>
          <a:p>
            <a:pPr indent="0" marL="0">
              <a:buNone/>
            </a:pPr>
            <a:r>
              <a:rPr lang="en-US" sz="2500" b="1" dirty="0">
                <a:solidFill>
                  <a:srgbClr val="FFFFFF"/>
                </a:solidFill>
                <a:latin typeface="Poppins" pitchFamily="34" charset="0"/>
                <a:ea typeface="Poppins" pitchFamily="34" charset="-122"/>
                <a:cs typeface="Poppins" pitchFamily="34" charset="-120"/>
              </a:rPr>
              <a:t>Ten Service Lines. One Standard.</a:t>
            </a:r>
            <a:endParaRPr lang="en-US" sz="2500" dirty="0"/>
          </a:p>
        </p:txBody>
      </p:sp>
      <p:sp>
        <p:nvSpPr>
          <p:cNvPr id="6" name="Text 4"/>
          <p:cNvSpPr/>
          <p:nvPr/>
        </p:nvSpPr>
        <p:spPr>
          <a:xfrm>
            <a:off x="7772400" y="274320"/>
            <a:ext cx="3959352" cy="274320"/>
          </a:xfrm>
          <a:prstGeom prst="rect">
            <a:avLst/>
          </a:prstGeom>
          <a:noFill/>
          <a:ln/>
        </p:spPr>
        <p:txBody>
          <a:bodyPr wrap="square" lIns="0" tIns="0" rIns="0" bIns="0" rtlCol="0" anchor="ctr"/>
          <a:lstStyle/>
          <a:p>
            <a:pPr algn="r" indent="0" marL="0">
              <a:buNone/>
            </a:pPr>
            <a:r>
              <a:rPr lang="en-US" sz="1300" b="1" dirty="0">
                <a:solidFill>
                  <a:srgbClr val="FFFFFF"/>
                </a:solidFill>
                <a:latin typeface="Poppins" pitchFamily="34" charset="0"/>
                <a:ea typeface="Poppins" pitchFamily="34" charset="-122"/>
                <a:cs typeface="Poppins" pitchFamily="34" charset="-120"/>
              </a:rPr>
              <a:t>NAVGROW</a:t>
            </a:r>
            <a:endParaRPr lang="en-US" sz="1300" dirty="0"/>
          </a:p>
        </p:txBody>
      </p:sp>
      <p:sp>
        <p:nvSpPr>
          <p:cNvPr id="7" name="Text 5"/>
          <p:cNvSpPr/>
          <p:nvPr/>
        </p:nvSpPr>
        <p:spPr>
          <a:xfrm>
            <a:off x="7772400" y="548640"/>
            <a:ext cx="3959352" cy="228600"/>
          </a:xfrm>
          <a:prstGeom prst="rect">
            <a:avLst/>
          </a:prstGeom>
          <a:noFill/>
          <a:ln/>
        </p:spPr>
        <p:txBody>
          <a:bodyPr wrap="square" lIns="0" tIns="0" rIns="0" bIns="0" rtlCol="0" anchor="ctr"/>
          <a:lstStyle/>
          <a:p>
            <a:pPr algn="r" indent="0" marL="0">
              <a:buNone/>
            </a:pPr>
            <a:r>
              <a:rPr lang="en-US" sz="750" dirty="0">
                <a:solidFill>
                  <a:srgbClr val="CFEFD4"/>
                </a:solidFill>
                <a:latin typeface="Calibri" pitchFamily="34" charset="0"/>
                <a:ea typeface="Calibri" pitchFamily="34" charset="-122"/>
                <a:cs typeface="Calibri" pitchFamily="34" charset="-120"/>
              </a:rPr>
              <a:t>ENGINEERING SERVICE PVT. LTD.</a:t>
            </a:r>
            <a:endParaRPr lang="en-US" sz="750" dirty="0"/>
          </a:p>
        </p:txBody>
      </p:sp>
      <p:sp>
        <p:nvSpPr>
          <p:cNvPr id="8" name="Shape 6"/>
          <p:cNvSpPr/>
          <p:nvPr/>
        </p:nvSpPr>
        <p:spPr>
          <a:xfrm>
            <a:off x="457200" y="1280160"/>
            <a:ext cx="5532120" cy="932688"/>
          </a:xfrm>
          <a:prstGeom prst="roundRect">
            <a:avLst>
              <a:gd name="adj" fmla="val 5882"/>
            </a:avLst>
          </a:prstGeom>
          <a:solidFill>
            <a:srgbClr val="F3F7F3"/>
          </a:solidFill>
          <a:ln/>
        </p:spPr>
      </p:sp>
      <p:pic>
        <p:nvPicPr>
          <p:cNvPr id="9" name="Image 0" descr="assets/icon_railway-infrastructure.png">    </p:cNvPr>
          <p:cNvPicPr>
            <a:picLocks noChangeAspect="1"/>
          </p:cNvPicPr>
          <p:nvPr/>
        </p:nvPicPr>
        <p:blipFill>
          <a:blip r:embed="rId1"/>
          <a:stretch>
            <a:fillRect/>
          </a:stretch>
        </p:blipFill>
        <p:spPr>
          <a:xfrm>
            <a:off x="585216" y="1426464"/>
            <a:ext cx="640080" cy="640080"/>
          </a:xfrm>
          <a:prstGeom prst="rect">
            <a:avLst/>
          </a:prstGeom>
        </p:spPr>
      </p:pic>
      <p:sp>
        <p:nvSpPr>
          <p:cNvPr id="10" name="Text 7"/>
          <p:cNvSpPr/>
          <p:nvPr/>
        </p:nvSpPr>
        <p:spPr>
          <a:xfrm>
            <a:off x="1325880" y="1389888"/>
            <a:ext cx="4572000" cy="365760"/>
          </a:xfrm>
          <a:prstGeom prst="rect">
            <a:avLst/>
          </a:prstGeom>
          <a:noFill/>
          <a:ln/>
        </p:spPr>
        <p:txBody>
          <a:bodyPr wrap="square" lIns="0" tIns="0" rIns="0" bIns="0" rtlCol="0" anchor="t"/>
          <a:lstStyle/>
          <a:p>
            <a:pPr indent="0" marL="0">
              <a:buNone/>
            </a:pPr>
            <a:r>
              <a:rPr lang="en-US" sz="1100" b="1" dirty="0">
                <a:solidFill>
                  <a:srgbClr val="0E3020"/>
                </a:solidFill>
                <a:latin typeface="Poppins" pitchFamily="34" charset="0"/>
                <a:ea typeface="Poppins" pitchFamily="34" charset="-122"/>
                <a:cs typeface="Poppins" pitchFamily="34" charset="-120"/>
              </a:rPr>
              <a:t>Railway Infrastructure</a:t>
            </a:r>
            <a:endParaRPr lang="en-US" sz="1100" dirty="0"/>
          </a:p>
        </p:txBody>
      </p:sp>
      <p:sp>
        <p:nvSpPr>
          <p:cNvPr id="11" name="Text 8"/>
          <p:cNvSpPr/>
          <p:nvPr/>
        </p:nvSpPr>
        <p:spPr>
          <a:xfrm>
            <a:off x="1325880" y="1737360"/>
            <a:ext cx="4572000" cy="411480"/>
          </a:xfrm>
          <a:prstGeom prst="rect">
            <a:avLst/>
          </a:prstGeom>
          <a:noFill/>
          <a:ln/>
        </p:spPr>
        <p:txBody>
          <a:bodyPr wrap="square" lIns="0" tIns="0" rIns="0" bIns="0" rtlCol="0" anchor="ctr"/>
          <a:lstStyle/>
          <a:p>
            <a:pPr indent="0" marL="0">
              <a:lnSpc>
                <a:spcPct val="95000"/>
              </a:lnSpc>
              <a:buNone/>
            </a:pPr>
            <a:r>
              <a:rPr lang="en-US" sz="820" dirty="0">
                <a:solidFill>
                  <a:srgbClr val="5B6478"/>
                </a:solidFill>
                <a:latin typeface="Calibri" pitchFamily="34" charset="0"/>
                <a:ea typeface="Calibri" pitchFamily="34" charset="-122"/>
                <a:cs typeface="Calibri" pitchFamily="34" charset="-120"/>
              </a:rPr>
              <a:t>Track, ROB, electrification, signalling &amp; shed works to RDSO standards.</a:t>
            </a:r>
            <a:endParaRPr lang="en-US" sz="820" dirty="0"/>
          </a:p>
        </p:txBody>
      </p:sp>
      <p:sp>
        <p:nvSpPr>
          <p:cNvPr id="12" name="Shape 9"/>
          <p:cNvSpPr/>
          <p:nvPr/>
        </p:nvSpPr>
        <p:spPr>
          <a:xfrm>
            <a:off x="6199632" y="1280160"/>
            <a:ext cx="5532120" cy="932688"/>
          </a:xfrm>
          <a:prstGeom prst="roundRect">
            <a:avLst>
              <a:gd name="adj" fmla="val 5882"/>
            </a:avLst>
          </a:prstGeom>
          <a:solidFill>
            <a:srgbClr val="F3F7F3"/>
          </a:solidFill>
          <a:ln/>
        </p:spPr>
      </p:sp>
      <p:pic>
        <p:nvPicPr>
          <p:cNvPr id="13" name="Image 1" descr="assets/icon_industrial-engineering.png">    </p:cNvPr>
          <p:cNvPicPr>
            <a:picLocks noChangeAspect="1"/>
          </p:cNvPicPr>
          <p:nvPr/>
        </p:nvPicPr>
        <p:blipFill>
          <a:blip r:embed="rId2"/>
          <a:stretch>
            <a:fillRect/>
          </a:stretch>
        </p:blipFill>
        <p:spPr>
          <a:xfrm>
            <a:off x="6327648" y="1426464"/>
            <a:ext cx="640080" cy="640080"/>
          </a:xfrm>
          <a:prstGeom prst="rect">
            <a:avLst/>
          </a:prstGeom>
        </p:spPr>
      </p:pic>
      <p:sp>
        <p:nvSpPr>
          <p:cNvPr id="14" name="Text 10"/>
          <p:cNvSpPr/>
          <p:nvPr/>
        </p:nvSpPr>
        <p:spPr>
          <a:xfrm>
            <a:off x="7068312" y="1389888"/>
            <a:ext cx="4572000" cy="365760"/>
          </a:xfrm>
          <a:prstGeom prst="rect">
            <a:avLst/>
          </a:prstGeom>
          <a:noFill/>
          <a:ln/>
        </p:spPr>
        <p:txBody>
          <a:bodyPr wrap="square" lIns="0" tIns="0" rIns="0" bIns="0" rtlCol="0" anchor="t"/>
          <a:lstStyle/>
          <a:p>
            <a:pPr indent="0" marL="0">
              <a:buNone/>
            </a:pPr>
            <a:r>
              <a:rPr lang="en-US" sz="1100" b="1" dirty="0">
                <a:solidFill>
                  <a:srgbClr val="0E3020"/>
                </a:solidFill>
                <a:latin typeface="Poppins" pitchFamily="34" charset="0"/>
                <a:ea typeface="Poppins" pitchFamily="34" charset="-122"/>
                <a:cs typeface="Poppins" pitchFamily="34" charset="-120"/>
              </a:rPr>
              <a:t>Industrial Engineering</a:t>
            </a:r>
            <a:endParaRPr lang="en-US" sz="1100" dirty="0"/>
          </a:p>
        </p:txBody>
      </p:sp>
      <p:sp>
        <p:nvSpPr>
          <p:cNvPr id="15" name="Text 11"/>
          <p:cNvSpPr/>
          <p:nvPr/>
        </p:nvSpPr>
        <p:spPr>
          <a:xfrm>
            <a:off x="7068312" y="1737360"/>
            <a:ext cx="4572000" cy="411480"/>
          </a:xfrm>
          <a:prstGeom prst="rect">
            <a:avLst/>
          </a:prstGeom>
          <a:noFill/>
          <a:ln/>
        </p:spPr>
        <p:txBody>
          <a:bodyPr wrap="square" lIns="0" tIns="0" rIns="0" bIns="0" rtlCol="0" anchor="ctr"/>
          <a:lstStyle/>
          <a:p>
            <a:pPr indent="0" marL="0">
              <a:lnSpc>
                <a:spcPct val="95000"/>
              </a:lnSpc>
              <a:buNone/>
            </a:pPr>
            <a:r>
              <a:rPr lang="en-US" sz="820" dirty="0">
                <a:solidFill>
                  <a:srgbClr val="5B6478"/>
                </a:solidFill>
                <a:latin typeface="Calibri" pitchFamily="34" charset="0"/>
                <a:ea typeface="Calibri" pitchFamily="34" charset="-122"/>
                <a:cs typeface="Calibri" pitchFamily="34" charset="-120"/>
              </a:rPr>
              <a:t>Fabrication, plant engineering and installations for manufacturers.</a:t>
            </a:r>
            <a:endParaRPr lang="en-US" sz="820" dirty="0"/>
          </a:p>
        </p:txBody>
      </p:sp>
      <p:sp>
        <p:nvSpPr>
          <p:cNvPr id="16" name="Shape 12"/>
          <p:cNvSpPr/>
          <p:nvPr/>
        </p:nvSpPr>
        <p:spPr>
          <a:xfrm>
            <a:off x="457200" y="2313432"/>
            <a:ext cx="5532120" cy="932688"/>
          </a:xfrm>
          <a:prstGeom prst="roundRect">
            <a:avLst>
              <a:gd name="adj" fmla="val 5882"/>
            </a:avLst>
          </a:prstGeom>
          <a:solidFill>
            <a:srgbClr val="F3F7F3"/>
          </a:solidFill>
          <a:ln/>
        </p:spPr>
      </p:sp>
      <p:pic>
        <p:nvPicPr>
          <p:cNvPr id="17" name="Image 2" descr="assets/icon_civil-construction.png">    </p:cNvPr>
          <p:cNvPicPr>
            <a:picLocks noChangeAspect="1"/>
          </p:cNvPicPr>
          <p:nvPr/>
        </p:nvPicPr>
        <p:blipFill>
          <a:blip r:embed="rId3"/>
          <a:stretch>
            <a:fillRect/>
          </a:stretch>
        </p:blipFill>
        <p:spPr>
          <a:xfrm>
            <a:off x="585216" y="2459736"/>
            <a:ext cx="640080" cy="640080"/>
          </a:xfrm>
          <a:prstGeom prst="rect">
            <a:avLst/>
          </a:prstGeom>
        </p:spPr>
      </p:pic>
      <p:sp>
        <p:nvSpPr>
          <p:cNvPr id="18" name="Text 13"/>
          <p:cNvSpPr/>
          <p:nvPr/>
        </p:nvSpPr>
        <p:spPr>
          <a:xfrm>
            <a:off x="1325880" y="2423160"/>
            <a:ext cx="4572000" cy="365760"/>
          </a:xfrm>
          <a:prstGeom prst="rect">
            <a:avLst/>
          </a:prstGeom>
          <a:noFill/>
          <a:ln/>
        </p:spPr>
        <p:txBody>
          <a:bodyPr wrap="square" lIns="0" tIns="0" rIns="0" bIns="0" rtlCol="0" anchor="t"/>
          <a:lstStyle/>
          <a:p>
            <a:pPr indent="0" marL="0">
              <a:buNone/>
            </a:pPr>
            <a:r>
              <a:rPr lang="en-US" sz="1100" b="1" dirty="0">
                <a:solidFill>
                  <a:srgbClr val="0E3020"/>
                </a:solidFill>
                <a:latin typeface="Poppins" pitchFamily="34" charset="0"/>
                <a:ea typeface="Poppins" pitchFamily="34" charset="-122"/>
                <a:cs typeface="Poppins" pitchFamily="34" charset="-120"/>
              </a:rPr>
              <a:t>Civil &amp; Construction</a:t>
            </a:r>
            <a:endParaRPr lang="en-US" sz="1100" dirty="0"/>
          </a:p>
        </p:txBody>
      </p:sp>
      <p:sp>
        <p:nvSpPr>
          <p:cNvPr id="19" name="Text 14"/>
          <p:cNvSpPr/>
          <p:nvPr/>
        </p:nvSpPr>
        <p:spPr>
          <a:xfrm>
            <a:off x="1325880" y="2770632"/>
            <a:ext cx="4572000" cy="411480"/>
          </a:xfrm>
          <a:prstGeom prst="rect">
            <a:avLst/>
          </a:prstGeom>
          <a:noFill/>
          <a:ln/>
        </p:spPr>
        <p:txBody>
          <a:bodyPr wrap="square" lIns="0" tIns="0" rIns="0" bIns="0" rtlCol="0" anchor="ctr"/>
          <a:lstStyle/>
          <a:p>
            <a:pPr indent="0" marL="0">
              <a:lnSpc>
                <a:spcPct val="95000"/>
              </a:lnSpc>
              <a:buNone/>
            </a:pPr>
            <a:r>
              <a:rPr lang="en-US" sz="820" dirty="0">
                <a:solidFill>
                  <a:srgbClr val="5B6478"/>
                </a:solidFill>
                <a:latin typeface="Calibri" pitchFamily="34" charset="0"/>
                <a:ea typeface="Calibri" pitchFamily="34" charset="-122"/>
                <a:cs typeface="Calibri" pitchFamily="34" charset="-120"/>
              </a:rPr>
              <a:t>Buildings, bridges, roads and structural works — built to last.</a:t>
            </a:r>
            <a:endParaRPr lang="en-US" sz="820" dirty="0"/>
          </a:p>
        </p:txBody>
      </p:sp>
      <p:sp>
        <p:nvSpPr>
          <p:cNvPr id="20" name="Shape 15"/>
          <p:cNvSpPr/>
          <p:nvPr/>
        </p:nvSpPr>
        <p:spPr>
          <a:xfrm>
            <a:off x="6199632" y="2313432"/>
            <a:ext cx="5532120" cy="932688"/>
          </a:xfrm>
          <a:prstGeom prst="roundRect">
            <a:avLst>
              <a:gd name="adj" fmla="val 5882"/>
            </a:avLst>
          </a:prstGeom>
          <a:solidFill>
            <a:srgbClr val="F3F7F3"/>
          </a:solidFill>
          <a:ln/>
        </p:spPr>
      </p:sp>
      <p:pic>
        <p:nvPicPr>
          <p:cNvPr id="21" name="Image 3" descr="assets/icon_government-contracts.png">    </p:cNvPr>
          <p:cNvPicPr>
            <a:picLocks noChangeAspect="1"/>
          </p:cNvPicPr>
          <p:nvPr/>
        </p:nvPicPr>
        <p:blipFill>
          <a:blip r:embed="rId4"/>
          <a:stretch>
            <a:fillRect/>
          </a:stretch>
        </p:blipFill>
        <p:spPr>
          <a:xfrm>
            <a:off x="6327648" y="2459736"/>
            <a:ext cx="640080" cy="640080"/>
          </a:xfrm>
          <a:prstGeom prst="rect">
            <a:avLst/>
          </a:prstGeom>
        </p:spPr>
      </p:pic>
      <p:sp>
        <p:nvSpPr>
          <p:cNvPr id="22" name="Text 16"/>
          <p:cNvSpPr/>
          <p:nvPr/>
        </p:nvSpPr>
        <p:spPr>
          <a:xfrm>
            <a:off x="7068312" y="2423160"/>
            <a:ext cx="4572000" cy="365760"/>
          </a:xfrm>
          <a:prstGeom prst="rect">
            <a:avLst/>
          </a:prstGeom>
          <a:noFill/>
          <a:ln/>
        </p:spPr>
        <p:txBody>
          <a:bodyPr wrap="square" lIns="0" tIns="0" rIns="0" bIns="0" rtlCol="0" anchor="t"/>
          <a:lstStyle/>
          <a:p>
            <a:pPr indent="0" marL="0">
              <a:buNone/>
            </a:pPr>
            <a:r>
              <a:rPr lang="en-US" sz="1100" b="1" dirty="0">
                <a:solidFill>
                  <a:srgbClr val="0E3020"/>
                </a:solidFill>
                <a:latin typeface="Poppins" pitchFamily="34" charset="0"/>
                <a:ea typeface="Poppins" pitchFamily="34" charset="-122"/>
                <a:cs typeface="Poppins" pitchFamily="34" charset="-120"/>
              </a:rPr>
              <a:t>Government Contracts</a:t>
            </a:r>
            <a:endParaRPr lang="en-US" sz="1100" dirty="0"/>
          </a:p>
        </p:txBody>
      </p:sp>
      <p:sp>
        <p:nvSpPr>
          <p:cNvPr id="23" name="Text 17"/>
          <p:cNvSpPr/>
          <p:nvPr/>
        </p:nvSpPr>
        <p:spPr>
          <a:xfrm>
            <a:off x="7068312" y="2770632"/>
            <a:ext cx="4572000" cy="411480"/>
          </a:xfrm>
          <a:prstGeom prst="rect">
            <a:avLst/>
          </a:prstGeom>
          <a:noFill/>
          <a:ln/>
        </p:spPr>
        <p:txBody>
          <a:bodyPr wrap="square" lIns="0" tIns="0" rIns="0" bIns="0" rtlCol="0" anchor="ctr"/>
          <a:lstStyle/>
          <a:p>
            <a:pPr indent="0" marL="0">
              <a:lnSpc>
                <a:spcPct val="95000"/>
              </a:lnSpc>
              <a:buNone/>
            </a:pPr>
            <a:r>
              <a:rPr lang="en-US" sz="820" dirty="0">
                <a:solidFill>
                  <a:srgbClr val="5B6478"/>
                </a:solidFill>
                <a:latin typeface="Calibri" pitchFamily="34" charset="0"/>
                <a:ea typeface="Calibri" pitchFamily="34" charset="-122"/>
                <a:cs typeface="Calibri" pitchFamily="34" charset="-120"/>
              </a:rPr>
              <a:t>Tender-based execution via GeM &amp; IREPS with full documentation.</a:t>
            </a:r>
            <a:endParaRPr lang="en-US" sz="820" dirty="0"/>
          </a:p>
        </p:txBody>
      </p:sp>
      <p:sp>
        <p:nvSpPr>
          <p:cNvPr id="24" name="Shape 18"/>
          <p:cNvSpPr/>
          <p:nvPr/>
        </p:nvSpPr>
        <p:spPr>
          <a:xfrm>
            <a:off x="457200" y="3346704"/>
            <a:ext cx="5532120" cy="932688"/>
          </a:xfrm>
          <a:prstGeom prst="roundRect">
            <a:avLst>
              <a:gd name="adj" fmla="val 5882"/>
            </a:avLst>
          </a:prstGeom>
          <a:solidFill>
            <a:srgbClr val="F3F7F3"/>
          </a:solidFill>
          <a:ln/>
        </p:spPr>
      </p:sp>
      <p:pic>
        <p:nvPicPr>
          <p:cNvPr id="25" name="Image 4" descr="assets/icon_maintenance.png">    </p:cNvPr>
          <p:cNvPicPr>
            <a:picLocks noChangeAspect="1"/>
          </p:cNvPicPr>
          <p:nvPr/>
        </p:nvPicPr>
        <p:blipFill>
          <a:blip r:embed="rId5"/>
          <a:stretch>
            <a:fillRect/>
          </a:stretch>
        </p:blipFill>
        <p:spPr>
          <a:xfrm>
            <a:off x="585216" y="3493008"/>
            <a:ext cx="640080" cy="640080"/>
          </a:xfrm>
          <a:prstGeom prst="rect">
            <a:avLst/>
          </a:prstGeom>
        </p:spPr>
      </p:pic>
      <p:sp>
        <p:nvSpPr>
          <p:cNvPr id="26" name="Text 19"/>
          <p:cNvSpPr/>
          <p:nvPr/>
        </p:nvSpPr>
        <p:spPr>
          <a:xfrm>
            <a:off x="1325880" y="3456432"/>
            <a:ext cx="4572000" cy="365760"/>
          </a:xfrm>
          <a:prstGeom prst="rect">
            <a:avLst/>
          </a:prstGeom>
          <a:noFill/>
          <a:ln/>
        </p:spPr>
        <p:txBody>
          <a:bodyPr wrap="square" lIns="0" tIns="0" rIns="0" bIns="0" rtlCol="0" anchor="t"/>
          <a:lstStyle/>
          <a:p>
            <a:pPr indent="0" marL="0">
              <a:buNone/>
            </a:pPr>
            <a:r>
              <a:rPr lang="en-US" sz="1100" b="1" dirty="0">
                <a:solidFill>
                  <a:srgbClr val="0E3020"/>
                </a:solidFill>
                <a:latin typeface="Poppins" pitchFamily="34" charset="0"/>
                <a:ea typeface="Poppins" pitchFamily="34" charset="-122"/>
                <a:cs typeface="Poppins" pitchFamily="34" charset="-120"/>
              </a:rPr>
              <a:t>Maintenance &amp; AMC</a:t>
            </a:r>
            <a:endParaRPr lang="en-US" sz="1100" dirty="0"/>
          </a:p>
        </p:txBody>
      </p:sp>
      <p:sp>
        <p:nvSpPr>
          <p:cNvPr id="27" name="Text 20"/>
          <p:cNvSpPr/>
          <p:nvPr/>
        </p:nvSpPr>
        <p:spPr>
          <a:xfrm>
            <a:off x="1325880" y="3803904"/>
            <a:ext cx="4572000" cy="411480"/>
          </a:xfrm>
          <a:prstGeom prst="rect">
            <a:avLst/>
          </a:prstGeom>
          <a:noFill/>
          <a:ln/>
        </p:spPr>
        <p:txBody>
          <a:bodyPr wrap="square" lIns="0" tIns="0" rIns="0" bIns="0" rtlCol="0" anchor="ctr"/>
          <a:lstStyle/>
          <a:p>
            <a:pPr indent="0" marL="0">
              <a:lnSpc>
                <a:spcPct val="95000"/>
              </a:lnSpc>
              <a:buNone/>
            </a:pPr>
            <a:r>
              <a:rPr lang="en-US" sz="820" dirty="0">
                <a:solidFill>
                  <a:srgbClr val="5B6478"/>
                </a:solidFill>
                <a:latin typeface="Calibri" pitchFamily="34" charset="0"/>
                <a:ea typeface="Calibri" pitchFamily="34" charset="-122"/>
                <a:cs typeface="Calibri" pitchFamily="34" charset="-120"/>
              </a:rPr>
              <a:t>Preventive and corrective upkeep that maximises asset uptime.</a:t>
            </a:r>
            <a:endParaRPr lang="en-US" sz="820" dirty="0"/>
          </a:p>
        </p:txBody>
      </p:sp>
      <p:sp>
        <p:nvSpPr>
          <p:cNvPr id="28" name="Shape 21"/>
          <p:cNvSpPr/>
          <p:nvPr/>
        </p:nvSpPr>
        <p:spPr>
          <a:xfrm>
            <a:off x="6199632" y="3346704"/>
            <a:ext cx="5532120" cy="932688"/>
          </a:xfrm>
          <a:prstGeom prst="roundRect">
            <a:avLst>
              <a:gd name="adj" fmla="val 5882"/>
            </a:avLst>
          </a:prstGeom>
          <a:solidFill>
            <a:srgbClr val="F3F7F3"/>
          </a:solidFill>
          <a:ln/>
        </p:spPr>
      </p:sp>
      <p:pic>
        <p:nvPicPr>
          <p:cNvPr id="29" name="Image 5" descr="assets/icon_rainwater-harvesting.png">    </p:cNvPr>
          <p:cNvPicPr>
            <a:picLocks noChangeAspect="1"/>
          </p:cNvPicPr>
          <p:nvPr/>
        </p:nvPicPr>
        <p:blipFill>
          <a:blip r:embed="rId6"/>
          <a:stretch>
            <a:fillRect/>
          </a:stretch>
        </p:blipFill>
        <p:spPr>
          <a:xfrm>
            <a:off x="6327648" y="3493008"/>
            <a:ext cx="640080" cy="640080"/>
          </a:xfrm>
          <a:prstGeom prst="rect">
            <a:avLst/>
          </a:prstGeom>
        </p:spPr>
      </p:pic>
      <p:sp>
        <p:nvSpPr>
          <p:cNvPr id="30" name="Text 22"/>
          <p:cNvSpPr/>
          <p:nvPr/>
        </p:nvSpPr>
        <p:spPr>
          <a:xfrm>
            <a:off x="7068312" y="3456432"/>
            <a:ext cx="4572000" cy="365760"/>
          </a:xfrm>
          <a:prstGeom prst="rect">
            <a:avLst/>
          </a:prstGeom>
          <a:noFill/>
          <a:ln/>
        </p:spPr>
        <p:txBody>
          <a:bodyPr wrap="square" lIns="0" tIns="0" rIns="0" bIns="0" rtlCol="0" anchor="t"/>
          <a:lstStyle/>
          <a:p>
            <a:pPr indent="0" marL="0">
              <a:buNone/>
            </a:pPr>
            <a:r>
              <a:rPr lang="en-US" sz="1100" b="1" dirty="0">
                <a:solidFill>
                  <a:srgbClr val="0E3020"/>
                </a:solidFill>
                <a:latin typeface="Poppins" pitchFamily="34" charset="0"/>
                <a:ea typeface="Poppins" pitchFamily="34" charset="-122"/>
                <a:cs typeface="Poppins" pitchFamily="34" charset="-120"/>
              </a:rPr>
              <a:t>Rainwater Harvesting</a:t>
            </a:r>
            <a:endParaRPr lang="en-US" sz="1100" dirty="0"/>
          </a:p>
        </p:txBody>
      </p:sp>
      <p:sp>
        <p:nvSpPr>
          <p:cNvPr id="31" name="Text 23"/>
          <p:cNvSpPr/>
          <p:nvPr/>
        </p:nvSpPr>
        <p:spPr>
          <a:xfrm>
            <a:off x="7068312" y="3803904"/>
            <a:ext cx="4572000" cy="411480"/>
          </a:xfrm>
          <a:prstGeom prst="rect">
            <a:avLst/>
          </a:prstGeom>
          <a:noFill/>
          <a:ln/>
        </p:spPr>
        <p:txBody>
          <a:bodyPr wrap="square" lIns="0" tIns="0" rIns="0" bIns="0" rtlCol="0" anchor="ctr"/>
          <a:lstStyle/>
          <a:p>
            <a:pPr indent="0" marL="0">
              <a:lnSpc>
                <a:spcPct val="95000"/>
              </a:lnSpc>
              <a:buNone/>
            </a:pPr>
            <a:r>
              <a:rPr lang="en-US" sz="820" dirty="0">
                <a:solidFill>
                  <a:srgbClr val="5B6478"/>
                </a:solidFill>
                <a:latin typeface="Calibri" pitchFamily="34" charset="0"/>
                <a:ea typeface="Calibri" pitchFamily="34" charset="-122"/>
                <a:cs typeface="Calibri" pitchFamily="34" charset="-120"/>
              </a:rPr>
              <a:t>Catchment, recharge and storage systems for water security.</a:t>
            </a:r>
            <a:endParaRPr lang="en-US" sz="820" dirty="0"/>
          </a:p>
        </p:txBody>
      </p:sp>
      <p:sp>
        <p:nvSpPr>
          <p:cNvPr id="32" name="Shape 24"/>
          <p:cNvSpPr/>
          <p:nvPr/>
        </p:nvSpPr>
        <p:spPr>
          <a:xfrm>
            <a:off x="457200" y="4379976"/>
            <a:ext cx="5532120" cy="932688"/>
          </a:xfrm>
          <a:prstGeom prst="roundRect">
            <a:avLst>
              <a:gd name="adj" fmla="val 5882"/>
            </a:avLst>
          </a:prstGeom>
          <a:solidFill>
            <a:srgbClr val="F3F7F3"/>
          </a:solidFill>
          <a:ln/>
        </p:spPr>
      </p:sp>
      <p:pic>
        <p:nvPicPr>
          <p:cNvPr id="33" name="Image 6" descr="assets/icon_solar-solutions.png">    </p:cNvPr>
          <p:cNvPicPr>
            <a:picLocks noChangeAspect="1"/>
          </p:cNvPicPr>
          <p:nvPr/>
        </p:nvPicPr>
        <p:blipFill>
          <a:blip r:embed="rId7"/>
          <a:stretch>
            <a:fillRect/>
          </a:stretch>
        </p:blipFill>
        <p:spPr>
          <a:xfrm>
            <a:off x="585216" y="4526280"/>
            <a:ext cx="640080" cy="640080"/>
          </a:xfrm>
          <a:prstGeom prst="rect">
            <a:avLst/>
          </a:prstGeom>
        </p:spPr>
      </p:pic>
      <p:sp>
        <p:nvSpPr>
          <p:cNvPr id="34" name="Text 25"/>
          <p:cNvSpPr/>
          <p:nvPr/>
        </p:nvSpPr>
        <p:spPr>
          <a:xfrm>
            <a:off x="1325880" y="4489704"/>
            <a:ext cx="4572000" cy="365760"/>
          </a:xfrm>
          <a:prstGeom prst="rect">
            <a:avLst/>
          </a:prstGeom>
          <a:noFill/>
          <a:ln/>
        </p:spPr>
        <p:txBody>
          <a:bodyPr wrap="square" lIns="0" tIns="0" rIns="0" bIns="0" rtlCol="0" anchor="t"/>
          <a:lstStyle/>
          <a:p>
            <a:pPr indent="0" marL="0">
              <a:buNone/>
            </a:pPr>
            <a:r>
              <a:rPr lang="en-US" sz="1100" b="1" dirty="0">
                <a:solidFill>
                  <a:srgbClr val="0E3020"/>
                </a:solidFill>
                <a:latin typeface="Poppins" pitchFamily="34" charset="0"/>
                <a:ea typeface="Poppins" pitchFamily="34" charset="-122"/>
                <a:cs typeface="Poppins" pitchFamily="34" charset="-120"/>
              </a:rPr>
              <a:t>Solar Energy Solutions</a:t>
            </a:r>
            <a:endParaRPr lang="en-US" sz="1100" dirty="0"/>
          </a:p>
        </p:txBody>
      </p:sp>
      <p:sp>
        <p:nvSpPr>
          <p:cNvPr id="35" name="Text 26"/>
          <p:cNvSpPr/>
          <p:nvPr/>
        </p:nvSpPr>
        <p:spPr>
          <a:xfrm>
            <a:off x="1325880" y="4837176"/>
            <a:ext cx="4572000" cy="411480"/>
          </a:xfrm>
          <a:prstGeom prst="rect">
            <a:avLst/>
          </a:prstGeom>
          <a:noFill/>
          <a:ln/>
        </p:spPr>
        <p:txBody>
          <a:bodyPr wrap="square" lIns="0" tIns="0" rIns="0" bIns="0" rtlCol="0" anchor="ctr"/>
          <a:lstStyle/>
          <a:p>
            <a:pPr indent="0" marL="0">
              <a:lnSpc>
                <a:spcPct val="95000"/>
              </a:lnSpc>
              <a:buNone/>
            </a:pPr>
            <a:r>
              <a:rPr lang="en-US" sz="820" dirty="0">
                <a:solidFill>
                  <a:srgbClr val="5B6478"/>
                </a:solidFill>
                <a:latin typeface="Calibri" pitchFamily="34" charset="0"/>
                <a:ea typeface="Calibri" pitchFamily="34" charset="-122"/>
                <a:cs typeface="Calibri" pitchFamily="34" charset="-120"/>
              </a:rPr>
              <a:t>Rooftop and ground-mount solar for cleaner, cheaper power.</a:t>
            </a:r>
            <a:endParaRPr lang="en-US" sz="820" dirty="0"/>
          </a:p>
        </p:txBody>
      </p:sp>
      <p:sp>
        <p:nvSpPr>
          <p:cNvPr id="36" name="Shape 27"/>
          <p:cNvSpPr/>
          <p:nvPr/>
        </p:nvSpPr>
        <p:spPr>
          <a:xfrm>
            <a:off x="6199632" y="4379976"/>
            <a:ext cx="5532120" cy="932688"/>
          </a:xfrm>
          <a:prstGeom prst="roundRect">
            <a:avLst>
              <a:gd name="adj" fmla="val 5882"/>
            </a:avLst>
          </a:prstGeom>
          <a:solidFill>
            <a:srgbClr val="F3F7F3"/>
          </a:solidFill>
          <a:ln/>
        </p:spPr>
      </p:sp>
      <p:pic>
        <p:nvPicPr>
          <p:cNvPr id="37" name="Image 7" descr="assets/icon_wastewater-treatment.png">    </p:cNvPr>
          <p:cNvPicPr>
            <a:picLocks noChangeAspect="1"/>
          </p:cNvPicPr>
          <p:nvPr/>
        </p:nvPicPr>
        <p:blipFill>
          <a:blip r:embed="rId8"/>
          <a:stretch>
            <a:fillRect/>
          </a:stretch>
        </p:blipFill>
        <p:spPr>
          <a:xfrm>
            <a:off x="6327648" y="4526280"/>
            <a:ext cx="640080" cy="640080"/>
          </a:xfrm>
          <a:prstGeom prst="rect">
            <a:avLst/>
          </a:prstGeom>
        </p:spPr>
      </p:pic>
      <p:sp>
        <p:nvSpPr>
          <p:cNvPr id="38" name="Text 28"/>
          <p:cNvSpPr/>
          <p:nvPr/>
        </p:nvSpPr>
        <p:spPr>
          <a:xfrm>
            <a:off x="7068312" y="4489704"/>
            <a:ext cx="4572000" cy="365760"/>
          </a:xfrm>
          <a:prstGeom prst="rect">
            <a:avLst/>
          </a:prstGeom>
          <a:noFill/>
          <a:ln/>
        </p:spPr>
        <p:txBody>
          <a:bodyPr wrap="square" lIns="0" tIns="0" rIns="0" bIns="0" rtlCol="0" anchor="t"/>
          <a:lstStyle/>
          <a:p>
            <a:pPr indent="0" marL="0">
              <a:buNone/>
            </a:pPr>
            <a:r>
              <a:rPr lang="en-US" sz="1100" b="1" dirty="0">
                <a:solidFill>
                  <a:srgbClr val="0E3020"/>
                </a:solidFill>
                <a:latin typeface="Poppins" pitchFamily="34" charset="0"/>
                <a:ea typeface="Poppins" pitchFamily="34" charset="-122"/>
                <a:cs typeface="Poppins" pitchFamily="34" charset="-120"/>
              </a:rPr>
              <a:t>Wastewater Treatment &amp; Recycling</a:t>
            </a:r>
            <a:endParaRPr lang="en-US" sz="1100" dirty="0"/>
          </a:p>
        </p:txBody>
      </p:sp>
      <p:sp>
        <p:nvSpPr>
          <p:cNvPr id="39" name="Text 29"/>
          <p:cNvSpPr/>
          <p:nvPr/>
        </p:nvSpPr>
        <p:spPr>
          <a:xfrm>
            <a:off x="7068312" y="4837176"/>
            <a:ext cx="4572000" cy="411480"/>
          </a:xfrm>
          <a:prstGeom prst="rect">
            <a:avLst/>
          </a:prstGeom>
          <a:noFill/>
          <a:ln/>
        </p:spPr>
        <p:txBody>
          <a:bodyPr wrap="square" lIns="0" tIns="0" rIns="0" bIns="0" rtlCol="0" anchor="ctr"/>
          <a:lstStyle/>
          <a:p>
            <a:pPr indent="0" marL="0">
              <a:lnSpc>
                <a:spcPct val="95000"/>
              </a:lnSpc>
              <a:buNone/>
            </a:pPr>
            <a:r>
              <a:rPr lang="en-US" sz="820" dirty="0">
                <a:solidFill>
                  <a:srgbClr val="5B6478"/>
                </a:solidFill>
                <a:latin typeface="Calibri" pitchFamily="34" charset="0"/>
                <a:ea typeface="Calibri" pitchFamily="34" charset="-122"/>
                <a:cs typeface="Calibri" pitchFamily="34" charset="-120"/>
              </a:rPr>
              <a:t>STP/ETP, reuse and zero-liquid-discharge systems.</a:t>
            </a:r>
            <a:endParaRPr lang="en-US" sz="820" dirty="0"/>
          </a:p>
        </p:txBody>
      </p:sp>
      <p:sp>
        <p:nvSpPr>
          <p:cNvPr id="40" name="Shape 30"/>
          <p:cNvSpPr/>
          <p:nvPr/>
        </p:nvSpPr>
        <p:spPr>
          <a:xfrm>
            <a:off x="457200" y="5413248"/>
            <a:ext cx="5532120" cy="932688"/>
          </a:xfrm>
          <a:prstGeom prst="roundRect">
            <a:avLst>
              <a:gd name="adj" fmla="val 5882"/>
            </a:avLst>
          </a:prstGeom>
          <a:solidFill>
            <a:srgbClr val="F3F7F3"/>
          </a:solidFill>
          <a:ln/>
        </p:spPr>
      </p:sp>
      <p:pic>
        <p:nvPicPr>
          <p:cNvPr id="41" name="Image 8" descr="assets/icon_energy-efficiency.png">    </p:cNvPr>
          <p:cNvPicPr>
            <a:picLocks noChangeAspect="1"/>
          </p:cNvPicPr>
          <p:nvPr/>
        </p:nvPicPr>
        <p:blipFill>
          <a:blip r:embed="rId9"/>
          <a:stretch>
            <a:fillRect/>
          </a:stretch>
        </p:blipFill>
        <p:spPr>
          <a:xfrm>
            <a:off x="585216" y="5559552"/>
            <a:ext cx="640080" cy="640080"/>
          </a:xfrm>
          <a:prstGeom prst="rect">
            <a:avLst/>
          </a:prstGeom>
        </p:spPr>
      </p:pic>
      <p:sp>
        <p:nvSpPr>
          <p:cNvPr id="42" name="Text 31"/>
          <p:cNvSpPr/>
          <p:nvPr/>
        </p:nvSpPr>
        <p:spPr>
          <a:xfrm>
            <a:off x="1325880" y="5522976"/>
            <a:ext cx="4572000" cy="365760"/>
          </a:xfrm>
          <a:prstGeom prst="rect">
            <a:avLst/>
          </a:prstGeom>
          <a:noFill/>
          <a:ln/>
        </p:spPr>
        <p:txBody>
          <a:bodyPr wrap="square" lIns="0" tIns="0" rIns="0" bIns="0" rtlCol="0" anchor="t"/>
          <a:lstStyle/>
          <a:p>
            <a:pPr indent="0" marL="0">
              <a:buNone/>
            </a:pPr>
            <a:r>
              <a:rPr lang="en-US" sz="1100" b="1" dirty="0">
                <a:solidFill>
                  <a:srgbClr val="0E3020"/>
                </a:solidFill>
                <a:latin typeface="Poppins" pitchFamily="34" charset="0"/>
                <a:ea typeface="Poppins" pitchFamily="34" charset="-122"/>
                <a:cs typeface="Poppins" pitchFamily="34" charset="-120"/>
              </a:rPr>
              <a:t>Energy Efficiency &amp; Audits</a:t>
            </a:r>
            <a:endParaRPr lang="en-US" sz="1100" dirty="0"/>
          </a:p>
        </p:txBody>
      </p:sp>
      <p:sp>
        <p:nvSpPr>
          <p:cNvPr id="43" name="Text 32"/>
          <p:cNvSpPr/>
          <p:nvPr/>
        </p:nvSpPr>
        <p:spPr>
          <a:xfrm>
            <a:off x="1325880" y="5870448"/>
            <a:ext cx="4572000" cy="411480"/>
          </a:xfrm>
          <a:prstGeom prst="rect">
            <a:avLst/>
          </a:prstGeom>
          <a:noFill/>
          <a:ln/>
        </p:spPr>
        <p:txBody>
          <a:bodyPr wrap="square" lIns="0" tIns="0" rIns="0" bIns="0" rtlCol="0" anchor="ctr"/>
          <a:lstStyle/>
          <a:p>
            <a:pPr indent="0" marL="0">
              <a:lnSpc>
                <a:spcPct val="95000"/>
              </a:lnSpc>
              <a:buNone/>
            </a:pPr>
            <a:r>
              <a:rPr lang="en-US" sz="820" dirty="0">
                <a:solidFill>
                  <a:srgbClr val="5B6478"/>
                </a:solidFill>
                <a:latin typeface="Calibri" pitchFamily="34" charset="0"/>
                <a:ea typeface="Calibri" pitchFamily="34" charset="-122"/>
                <a:cs typeface="Calibri" pitchFamily="34" charset="-120"/>
              </a:rPr>
              <a:t>Audits and retrofits that cut energy cost and carbon.</a:t>
            </a:r>
            <a:endParaRPr lang="en-US" sz="820" dirty="0"/>
          </a:p>
        </p:txBody>
      </p:sp>
      <p:sp>
        <p:nvSpPr>
          <p:cNvPr id="44" name="Shape 33"/>
          <p:cNvSpPr/>
          <p:nvPr/>
        </p:nvSpPr>
        <p:spPr>
          <a:xfrm>
            <a:off x="6199632" y="5413248"/>
            <a:ext cx="5532120" cy="932688"/>
          </a:xfrm>
          <a:prstGeom prst="roundRect">
            <a:avLst>
              <a:gd name="adj" fmla="val 5882"/>
            </a:avLst>
          </a:prstGeom>
          <a:solidFill>
            <a:srgbClr val="F3F7F3"/>
          </a:solidFill>
          <a:ln/>
        </p:spPr>
      </p:sp>
      <p:pic>
        <p:nvPicPr>
          <p:cNvPr id="45" name="Image 9" descr="assets/icon_green-building.png">    </p:cNvPr>
          <p:cNvPicPr>
            <a:picLocks noChangeAspect="1"/>
          </p:cNvPicPr>
          <p:nvPr/>
        </p:nvPicPr>
        <p:blipFill>
          <a:blip r:embed="rId10"/>
          <a:stretch>
            <a:fillRect/>
          </a:stretch>
        </p:blipFill>
        <p:spPr>
          <a:xfrm>
            <a:off x="6327648" y="5559552"/>
            <a:ext cx="640080" cy="640080"/>
          </a:xfrm>
          <a:prstGeom prst="rect">
            <a:avLst/>
          </a:prstGeom>
        </p:spPr>
      </p:pic>
      <p:sp>
        <p:nvSpPr>
          <p:cNvPr id="46" name="Text 34"/>
          <p:cNvSpPr/>
          <p:nvPr/>
        </p:nvSpPr>
        <p:spPr>
          <a:xfrm>
            <a:off x="7068312" y="5522976"/>
            <a:ext cx="4572000" cy="365760"/>
          </a:xfrm>
          <a:prstGeom prst="rect">
            <a:avLst/>
          </a:prstGeom>
          <a:noFill/>
          <a:ln/>
        </p:spPr>
        <p:txBody>
          <a:bodyPr wrap="square" lIns="0" tIns="0" rIns="0" bIns="0" rtlCol="0" anchor="t"/>
          <a:lstStyle/>
          <a:p>
            <a:pPr indent="0" marL="0">
              <a:buNone/>
            </a:pPr>
            <a:r>
              <a:rPr lang="en-US" sz="1100" b="1" dirty="0">
                <a:solidFill>
                  <a:srgbClr val="0E3020"/>
                </a:solidFill>
                <a:latin typeface="Poppins" pitchFamily="34" charset="0"/>
                <a:ea typeface="Poppins" pitchFamily="34" charset="-122"/>
                <a:cs typeface="Poppins" pitchFamily="34" charset="-120"/>
              </a:rPr>
              <a:t>Green Building &amp; Sustainability</a:t>
            </a:r>
            <a:endParaRPr lang="en-US" sz="1100" dirty="0"/>
          </a:p>
        </p:txBody>
      </p:sp>
      <p:sp>
        <p:nvSpPr>
          <p:cNvPr id="47" name="Text 35"/>
          <p:cNvSpPr/>
          <p:nvPr/>
        </p:nvSpPr>
        <p:spPr>
          <a:xfrm>
            <a:off x="7068312" y="5870448"/>
            <a:ext cx="4572000" cy="411480"/>
          </a:xfrm>
          <a:prstGeom prst="rect">
            <a:avLst/>
          </a:prstGeom>
          <a:noFill/>
          <a:ln/>
        </p:spPr>
        <p:txBody>
          <a:bodyPr wrap="square" lIns="0" tIns="0" rIns="0" bIns="0" rtlCol="0" anchor="ctr"/>
          <a:lstStyle/>
          <a:p>
            <a:pPr indent="0" marL="0">
              <a:lnSpc>
                <a:spcPct val="95000"/>
              </a:lnSpc>
              <a:buNone/>
            </a:pPr>
            <a:r>
              <a:rPr lang="en-US" sz="820" dirty="0">
                <a:solidFill>
                  <a:srgbClr val="5B6478"/>
                </a:solidFill>
                <a:latin typeface="Calibri" pitchFamily="34" charset="0"/>
                <a:ea typeface="Calibri" pitchFamily="34" charset="-122"/>
                <a:cs typeface="Calibri" pitchFamily="34" charset="-120"/>
              </a:rPr>
              <a:t>Consulting for efficient, certified, low-impact buildings.</a:t>
            </a:r>
            <a:endParaRPr lang="en-US" sz="820" dirty="0"/>
          </a:p>
        </p:txBody>
      </p:sp>
      <p:sp>
        <p:nvSpPr>
          <p:cNvPr id="48" name="Text 36"/>
          <p:cNvSpPr/>
          <p:nvPr/>
        </p:nvSpPr>
        <p:spPr>
          <a:xfrm>
            <a:off x="457200" y="6455664"/>
            <a:ext cx="4572000" cy="274320"/>
          </a:xfrm>
          <a:prstGeom prst="rect">
            <a:avLst/>
          </a:prstGeom>
          <a:noFill/>
          <a:ln/>
        </p:spPr>
        <p:txBody>
          <a:bodyPr wrap="square" lIns="0" tIns="0" rIns="0" bIns="0" rtlCol="0" anchor="ctr"/>
          <a:lstStyle/>
          <a:p>
            <a:pPr algn="l" indent="0" marL="0">
              <a:buNone/>
            </a:pPr>
            <a:r>
              <a:rPr lang="en-US" sz="750" dirty="0">
                <a:solidFill>
                  <a:srgbClr val="5B6478"/>
                </a:solidFill>
                <a:latin typeface="Calibri" pitchFamily="34" charset="0"/>
                <a:ea typeface="Calibri" pitchFamily="34" charset="-122"/>
                <a:cs typeface="Calibri" pitchFamily="34" charset="-120"/>
              </a:rPr>
              <a:t>NAVGROW ENGINEERING SERVICE PVT. LTD.</a:t>
            </a:r>
            <a:endParaRPr lang="en-US" sz="750" dirty="0"/>
          </a:p>
        </p:txBody>
      </p:sp>
      <p:sp>
        <p:nvSpPr>
          <p:cNvPr id="49" name="Text 37"/>
          <p:cNvSpPr/>
          <p:nvPr/>
        </p:nvSpPr>
        <p:spPr>
          <a:xfrm>
            <a:off x="4023360" y="6455664"/>
            <a:ext cx="4114800" cy="274320"/>
          </a:xfrm>
          <a:prstGeom prst="rect">
            <a:avLst/>
          </a:prstGeom>
          <a:noFill/>
          <a:ln/>
        </p:spPr>
        <p:txBody>
          <a:bodyPr wrap="square" lIns="0" tIns="0" rIns="0" bIns="0" rtlCol="0" anchor="ctr"/>
          <a:lstStyle/>
          <a:p>
            <a:pPr algn="ctr" indent="0" marL="0">
              <a:buNone/>
            </a:pPr>
            <a:r>
              <a:rPr lang="en-US" sz="750" dirty="0">
                <a:solidFill>
                  <a:srgbClr val="5B6478"/>
                </a:solidFill>
                <a:latin typeface="Calibri" pitchFamily="34" charset="0"/>
                <a:ea typeface="Calibri" pitchFamily="34" charset="-122"/>
                <a:cs typeface="Calibri" pitchFamily="34" charset="-120"/>
              </a:rPr>
              <a:t>SERVICES</a:t>
            </a:r>
            <a:endParaRPr lang="en-US" sz="750" dirty="0"/>
          </a:p>
        </p:txBody>
      </p:sp>
      <p:sp>
        <p:nvSpPr>
          <p:cNvPr id="50" name="Shape 38"/>
          <p:cNvSpPr/>
          <p:nvPr/>
        </p:nvSpPr>
        <p:spPr>
          <a:xfrm>
            <a:off x="11430000" y="6419088"/>
            <a:ext cx="274320" cy="274320"/>
          </a:xfrm>
          <a:prstGeom prst="ellipse">
            <a:avLst/>
          </a:prstGeom>
          <a:solidFill>
            <a:srgbClr val="1E9E3C"/>
          </a:solidFill>
          <a:ln/>
        </p:spPr>
      </p:sp>
      <p:sp>
        <p:nvSpPr>
          <p:cNvPr id="51" name="Text 39"/>
          <p:cNvSpPr/>
          <p:nvPr/>
        </p:nvSpPr>
        <p:spPr>
          <a:xfrm>
            <a:off x="11430000" y="6419088"/>
            <a:ext cx="2743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Poppins" pitchFamily="34" charset="0"/>
                <a:ea typeface="Poppins" pitchFamily="34" charset="-122"/>
                <a:cs typeface="Poppins" pitchFamily="34" charset="-120"/>
              </a:rPr>
              <a:t>04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432A"/>
        </a:solidFill>
      </p:bgPr>
    </p:bg>
    <p:spTree>
      <p:nvGrpSpPr>
        <p:cNvPr id="1" name=""/>
        <p:cNvGrpSpPr/>
        <p:nvPr/>
      </p:nvGrpSpPr>
      <p:grpSpPr>
        <a:xfrm>
          <a:off x="0" y="0"/>
          <a:ext cx="0" cy="0"/>
          <a:chOff x="0" y="0"/>
          <a:chExt cx="0" cy="0"/>
        </a:xfrm>
      </p:grpSpPr>
      <p:pic>
        <p:nvPicPr>
          <p:cNvPr id="2" name="Image 0" descr="ppt_img/svc_railway.jpg">    </p:cNvPr>
          <p:cNvPicPr>
            <a:picLocks noChangeAspect="1"/>
          </p:cNvPicPr>
          <p:nvPr/>
        </p:nvPicPr>
        <p:blipFill>
          <a:blip r:embed="rId1"/>
          <a:stretch>
            <a:fillRect/>
          </a:stretch>
        </p:blipFill>
        <p:spPr>
          <a:xfrm>
            <a:off x="1362456" y="137160"/>
            <a:ext cx="9464040" cy="6309360"/>
          </a:xfrm>
          <a:prstGeom prst="rect">
            <a:avLst/>
          </a:prstGeom>
        </p:spPr>
      </p:pic>
      <p:sp>
        <p:nvSpPr>
          <p:cNvPr id="3" name="Text 0"/>
          <p:cNvSpPr/>
          <p:nvPr/>
        </p:nvSpPr>
        <p:spPr>
          <a:xfrm>
            <a:off x="457200" y="6455664"/>
            <a:ext cx="4572000" cy="274320"/>
          </a:xfrm>
          <a:prstGeom prst="rect">
            <a:avLst/>
          </a:prstGeom>
          <a:noFill/>
          <a:ln/>
        </p:spPr>
        <p:txBody>
          <a:bodyPr wrap="square" lIns="0" tIns="0" rIns="0" bIns="0" rtlCol="0" anchor="ctr"/>
          <a:lstStyle/>
          <a:p>
            <a:pPr algn="l" indent="0" marL="0">
              <a:buNone/>
            </a:pPr>
            <a:r>
              <a:rPr lang="en-US" sz="750" dirty="0">
                <a:solidFill>
                  <a:srgbClr val="9FC8A8"/>
                </a:solidFill>
                <a:latin typeface="Calibri" pitchFamily="34" charset="0"/>
                <a:ea typeface="Calibri" pitchFamily="34" charset="-122"/>
                <a:cs typeface="Calibri" pitchFamily="34" charset="-120"/>
              </a:rPr>
              <a:t>NAVGROW ENGINEERING SERVICE PVT. LTD.</a:t>
            </a:r>
            <a:endParaRPr lang="en-US" sz="750" dirty="0"/>
          </a:p>
        </p:txBody>
      </p:sp>
      <p:sp>
        <p:nvSpPr>
          <p:cNvPr id="4" name="Text 1"/>
          <p:cNvSpPr/>
          <p:nvPr/>
        </p:nvSpPr>
        <p:spPr>
          <a:xfrm>
            <a:off x="4023360" y="6455664"/>
            <a:ext cx="4114800" cy="274320"/>
          </a:xfrm>
          <a:prstGeom prst="rect">
            <a:avLst/>
          </a:prstGeom>
          <a:noFill/>
          <a:ln/>
        </p:spPr>
        <p:txBody>
          <a:bodyPr wrap="square" lIns="0" tIns="0" rIns="0" bIns="0" rtlCol="0" anchor="ctr"/>
          <a:lstStyle/>
          <a:p>
            <a:pPr algn="ctr" indent="0" marL="0">
              <a:buNone/>
            </a:pPr>
            <a:r>
              <a:rPr lang="en-US" sz="750" dirty="0">
                <a:solidFill>
                  <a:srgbClr val="9FC8A8"/>
                </a:solidFill>
                <a:latin typeface="Calibri" pitchFamily="34" charset="0"/>
                <a:ea typeface="Calibri" pitchFamily="34" charset="-122"/>
                <a:cs typeface="Calibri" pitchFamily="34" charset="-120"/>
              </a:rPr>
              <a:t>SERVICE LINE · RAILWAY INFRASTRUCTURE</a:t>
            </a:r>
            <a:endParaRPr lang="en-US" sz="750" dirty="0"/>
          </a:p>
        </p:txBody>
      </p:sp>
      <p:sp>
        <p:nvSpPr>
          <p:cNvPr id="5" name="Shape 2"/>
          <p:cNvSpPr/>
          <p:nvPr/>
        </p:nvSpPr>
        <p:spPr>
          <a:xfrm>
            <a:off x="11430000" y="6419088"/>
            <a:ext cx="274320" cy="274320"/>
          </a:xfrm>
          <a:prstGeom prst="ellipse">
            <a:avLst/>
          </a:prstGeom>
          <a:solidFill>
            <a:srgbClr val="1E9E3C"/>
          </a:solidFill>
          <a:ln/>
        </p:spPr>
      </p:sp>
      <p:sp>
        <p:nvSpPr>
          <p:cNvPr id="6" name="Text 3"/>
          <p:cNvSpPr/>
          <p:nvPr/>
        </p:nvSpPr>
        <p:spPr>
          <a:xfrm>
            <a:off x="11430000" y="6419088"/>
            <a:ext cx="2743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Poppins" pitchFamily="34" charset="0"/>
                <a:ea typeface="Poppins" pitchFamily="34" charset="-122"/>
                <a:cs typeface="Poppins" pitchFamily="34" charset="-120"/>
              </a:rPr>
              <a:t>05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432A"/>
        </a:solidFill>
      </p:bgPr>
    </p:bg>
    <p:spTree>
      <p:nvGrpSpPr>
        <p:cNvPr id="1" name=""/>
        <p:cNvGrpSpPr/>
        <p:nvPr/>
      </p:nvGrpSpPr>
      <p:grpSpPr>
        <a:xfrm>
          <a:off x="0" y="0"/>
          <a:ext cx="0" cy="0"/>
          <a:chOff x="0" y="0"/>
          <a:chExt cx="0" cy="0"/>
        </a:xfrm>
      </p:grpSpPr>
      <p:pic>
        <p:nvPicPr>
          <p:cNvPr id="2" name="Image 0" descr="ppt_img/svc_civil.jpg">    </p:cNvPr>
          <p:cNvPicPr>
            <a:picLocks noChangeAspect="1"/>
          </p:cNvPicPr>
          <p:nvPr/>
        </p:nvPicPr>
        <p:blipFill>
          <a:blip r:embed="rId1"/>
          <a:stretch>
            <a:fillRect/>
          </a:stretch>
        </p:blipFill>
        <p:spPr>
          <a:xfrm>
            <a:off x="1362456" y="137160"/>
            <a:ext cx="9464040" cy="6309360"/>
          </a:xfrm>
          <a:prstGeom prst="rect">
            <a:avLst/>
          </a:prstGeom>
        </p:spPr>
      </p:pic>
      <p:sp>
        <p:nvSpPr>
          <p:cNvPr id="3" name="Text 0"/>
          <p:cNvSpPr/>
          <p:nvPr/>
        </p:nvSpPr>
        <p:spPr>
          <a:xfrm>
            <a:off x="457200" y="6455664"/>
            <a:ext cx="4572000" cy="274320"/>
          </a:xfrm>
          <a:prstGeom prst="rect">
            <a:avLst/>
          </a:prstGeom>
          <a:noFill/>
          <a:ln/>
        </p:spPr>
        <p:txBody>
          <a:bodyPr wrap="square" lIns="0" tIns="0" rIns="0" bIns="0" rtlCol="0" anchor="ctr"/>
          <a:lstStyle/>
          <a:p>
            <a:pPr algn="l" indent="0" marL="0">
              <a:buNone/>
            </a:pPr>
            <a:r>
              <a:rPr lang="en-US" sz="750" dirty="0">
                <a:solidFill>
                  <a:srgbClr val="9FC8A8"/>
                </a:solidFill>
                <a:latin typeface="Calibri" pitchFamily="34" charset="0"/>
                <a:ea typeface="Calibri" pitchFamily="34" charset="-122"/>
                <a:cs typeface="Calibri" pitchFamily="34" charset="-120"/>
              </a:rPr>
              <a:t>NAVGROW ENGINEERING SERVICE PVT. LTD.</a:t>
            </a:r>
            <a:endParaRPr lang="en-US" sz="750" dirty="0"/>
          </a:p>
        </p:txBody>
      </p:sp>
      <p:sp>
        <p:nvSpPr>
          <p:cNvPr id="4" name="Text 1"/>
          <p:cNvSpPr/>
          <p:nvPr/>
        </p:nvSpPr>
        <p:spPr>
          <a:xfrm>
            <a:off x="4023360" y="6455664"/>
            <a:ext cx="4114800" cy="274320"/>
          </a:xfrm>
          <a:prstGeom prst="rect">
            <a:avLst/>
          </a:prstGeom>
          <a:noFill/>
          <a:ln/>
        </p:spPr>
        <p:txBody>
          <a:bodyPr wrap="square" lIns="0" tIns="0" rIns="0" bIns="0" rtlCol="0" anchor="ctr"/>
          <a:lstStyle/>
          <a:p>
            <a:pPr algn="ctr" indent="0" marL="0">
              <a:buNone/>
            </a:pPr>
            <a:r>
              <a:rPr lang="en-US" sz="750" dirty="0">
                <a:solidFill>
                  <a:srgbClr val="9FC8A8"/>
                </a:solidFill>
                <a:latin typeface="Calibri" pitchFamily="34" charset="0"/>
                <a:ea typeface="Calibri" pitchFamily="34" charset="-122"/>
                <a:cs typeface="Calibri" pitchFamily="34" charset="-120"/>
              </a:rPr>
              <a:t>SERVICE LINE · CIVIL &amp; CONSTRUCTION</a:t>
            </a:r>
            <a:endParaRPr lang="en-US" sz="750" dirty="0"/>
          </a:p>
        </p:txBody>
      </p:sp>
      <p:sp>
        <p:nvSpPr>
          <p:cNvPr id="5" name="Shape 2"/>
          <p:cNvSpPr/>
          <p:nvPr/>
        </p:nvSpPr>
        <p:spPr>
          <a:xfrm>
            <a:off x="11430000" y="6419088"/>
            <a:ext cx="274320" cy="274320"/>
          </a:xfrm>
          <a:prstGeom prst="ellipse">
            <a:avLst/>
          </a:prstGeom>
          <a:solidFill>
            <a:srgbClr val="1E9E3C"/>
          </a:solidFill>
          <a:ln/>
        </p:spPr>
      </p:sp>
      <p:sp>
        <p:nvSpPr>
          <p:cNvPr id="6" name="Text 3"/>
          <p:cNvSpPr/>
          <p:nvPr/>
        </p:nvSpPr>
        <p:spPr>
          <a:xfrm>
            <a:off x="11430000" y="6419088"/>
            <a:ext cx="2743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Poppins" pitchFamily="34" charset="0"/>
                <a:ea typeface="Poppins" pitchFamily="34" charset="-122"/>
                <a:cs typeface="Poppins" pitchFamily="34" charset="-120"/>
              </a:rPr>
              <a:t>06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432A"/>
        </a:solidFill>
      </p:bgPr>
    </p:bg>
    <p:spTree>
      <p:nvGrpSpPr>
        <p:cNvPr id="1" name=""/>
        <p:cNvGrpSpPr/>
        <p:nvPr/>
      </p:nvGrpSpPr>
      <p:grpSpPr>
        <a:xfrm>
          <a:off x="0" y="0"/>
          <a:ext cx="0" cy="0"/>
          <a:chOff x="0" y="0"/>
          <a:chExt cx="0" cy="0"/>
        </a:xfrm>
      </p:grpSpPr>
      <p:pic>
        <p:nvPicPr>
          <p:cNvPr id="2" name="Image 0" descr="ppt_img/svc_govt.jpg">    </p:cNvPr>
          <p:cNvPicPr>
            <a:picLocks noChangeAspect="1"/>
          </p:cNvPicPr>
          <p:nvPr/>
        </p:nvPicPr>
        <p:blipFill>
          <a:blip r:embed="rId1"/>
          <a:stretch>
            <a:fillRect/>
          </a:stretch>
        </p:blipFill>
        <p:spPr>
          <a:xfrm>
            <a:off x="1362456" y="137160"/>
            <a:ext cx="9464040" cy="6309360"/>
          </a:xfrm>
          <a:prstGeom prst="rect">
            <a:avLst/>
          </a:prstGeom>
        </p:spPr>
      </p:pic>
      <p:sp>
        <p:nvSpPr>
          <p:cNvPr id="3" name="Text 0"/>
          <p:cNvSpPr/>
          <p:nvPr/>
        </p:nvSpPr>
        <p:spPr>
          <a:xfrm>
            <a:off x="457200" y="6455664"/>
            <a:ext cx="4572000" cy="274320"/>
          </a:xfrm>
          <a:prstGeom prst="rect">
            <a:avLst/>
          </a:prstGeom>
          <a:noFill/>
          <a:ln/>
        </p:spPr>
        <p:txBody>
          <a:bodyPr wrap="square" lIns="0" tIns="0" rIns="0" bIns="0" rtlCol="0" anchor="ctr"/>
          <a:lstStyle/>
          <a:p>
            <a:pPr algn="l" indent="0" marL="0">
              <a:buNone/>
            </a:pPr>
            <a:r>
              <a:rPr lang="en-US" sz="750" dirty="0">
                <a:solidFill>
                  <a:srgbClr val="9FC8A8"/>
                </a:solidFill>
                <a:latin typeface="Calibri" pitchFamily="34" charset="0"/>
                <a:ea typeface="Calibri" pitchFamily="34" charset="-122"/>
                <a:cs typeface="Calibri" pitchFamily="34" charset="-120"/>
              </a:rPr>
              <a:t>NAVGROW ENGINEERING SERVICE PVT. LTD.</a:t>
            </a:r>
            <a:endParaRPr lang="en-US" sz="750" dirty="0"/>
          </a:p>
        </p:txBody>
      </p:sp>
      <p:sp>
        <p:nvSpPr>
          <p:cNvPr id="4" name="Text 1"/>
          <p:cNvSpPr/>
          <p:nvPr/>
        </p:nvSpPr>
        <p:spPr>
          <a:xfrm>
            <a:off x="4023360" y="6455664"/>
            <a:ext cx="4114800" cy="274320"/>
          </a:xfrm>
          <a:prstGeom prst="rect">
            <a:avLst/>
          </a:prstGeom>
          <a:noFill/>
          <a:ln/>
        </p:spPr>
        <p:txBody>
          <a:bodyPr wrap="square" lIns="0" tIns="0" rIns="0" bIns="0" rtlCol="0" anchor="ctr"/>
          <a:lstStyle/>
          <a:p>
            <a:pPr algn="ctr" indent="0" marL="0">
              <a:buNone/>
            </a:pPr>
            <a:r>
              <a:rPr lang="en-US" sz="750" dirty="0">
                <a:solidFill>
                  <a:srgbClr val="9FC8A8"/>
                </a:solidFill>
                <a:latin typeface="Calibri" pitchFamily="34" charset="0"/>
                <a:ea typeface="Calibri" pitchFamily="34" charset="-122"/>
                <a:cs typeface="Calibri" pitchFamily="34" charset="-120"/>
              </a:rPr>
              <a:t>SERVICE LINE · GOVERNMENT CONTRACTS</a:t>
            </a:r>
            <a:endParaRPr lang="en-US" sz="750" dirty="0"/>
          </a:p>
        </p:txBody>
      </p:sp>
      <p:sp>
        <p:nvSpPr>
          <p:cNvPr id="5" name="Shape 2"/>
          <p:cNvSpPr/>
          <p:nvPr/>
        </p:nvSpPr>
        <p:spPr>
          <a:xfrm>
            <a:off x="11430000" y="6419088"/>
            <a:ext cx="274320" cy="274320"/>
          </a:xfrm>
          <a:prstGeom prst="ellipse">
            <a:avLst/>
          </a:prstGeom>
          <a:solidFill>
            <a:srgbClr val="1E9E3C"/>
          </a:solidFill>
          <a:ln/>
        </p:spPr>
      </p:sp>
      <p:sp>
        <p:nvSpPr>
          <p:cNvPr id="6" name="Text 3"/>
          <p:cNvSpPr/>
          <p:nvPr/>
        </p:nvSpPr>
        <p:spPr>
          <a:xfrm>
            <a:off x="11430000" y="6419088"/>
            <a:ext cx="2743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Poppins" pitchFamily="34" charset="0"/>
                <a:ea typeface="Poppins" pitchFamily="34" charset="-122"/>
                <a:cs typeface="Poppins" pitchFamily="34" charset="-120"/>
              </a:rPr>
              <a:t>07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432A"/>
        </a:solidFill>
      </p:bgPr>
    </p:bg>
    <p:spTree>
      <p:nvGrpSpPr>
        <p:cNvPr id="1" name=""/>
        <p:cNvGrpSpPr/>
        <p:nvPr/>
      </p:nvGrpSpPr>
      <p:grpSpPr>
        <a:xfrm>
          <a:off x="0" y="0"/>
          <a:ext cx="0" cy="0"/>
          <a:chOff x="0" y="0"/>
          <a:chExt cx="0" cy="0"/>
        </a:xfrm>
      </p:grpSpPr>
      <p:pic>
        <p:nvPicPr>
          <p:cNvPr id="2" name="Image 0" descr="ppt_img/svc_maintenance.jpg">    </p:cNvPr>
          <p:cNvPicPr>
            <a:picLocks noChangeAspect="1"/>
          </p:cNvPicPr>
          <p:nvPr/>
        </p:nvPicPr>
        <p:blipFill>
          <a:blip r:embed="rId1"/>
          <a:stretch>
            <a:fillRect/>
          </a:stretch>
        </p:blipFill>
        <p:spPr>
          <a:xfrm>
            <a:off x="1362456" y="137160"/>
            <a:ext cx="9464040" cy="6309360"/>
          </a:xfrm>
          <a:prstGeom prst="rect">
            <a:avLst/>
          </a:prstGeom>
        </p:spPr>
      </p:pic>
      <p:sp>
        <p:nvSpPr>
          <p:cNvPr id="3" name="Text 0"/>
          <p:cNvSpPr/>
          <p:nvPr/>
        </p:nvSpPr>
        <p:spPr>
          <a:xfrm>
            <a:off x="457200" y="6455664"/>
            <a:ext cx="4572000" cy="274320"/>
          </a:xfrm>
          <a:prstGeom prst="rect">
            <a:avLst/>
          </a:prstGeom>
          <a:noFill/>
          <a:ln/>
        </p:spPr>
        <p:txBody>
          <a:bodyPr wrap="square" lIns="0" tIns="0" rIns="0" bIns="0" rtlCol="0" anchor="ctr"/>
          <a:lstStyle/>
          <a:p>
            <a:pPr algn="l" indent="0" marL="0">
              <a:buNone/>
            </a:pPr>
            <a:r>
              <a:rPr lang="en-US" sz="750" dirty="0">
                <a:solidFill>
                  <a:srgbClr val="9FC8A8"/>
                </a:solidFill>
                <a:latin typeface="Calibri" pitchFamily="34" charset="0"/>
                <a:ea typeface="Calibri" pitchFamily="34" charset="-122"/>
                <a:cs typeface="Calibri" pitchFamily="34" charset="-120"/>
              </a:rPr>
              <a:t>NAVGROW ENGINEERING SERVICE PVT. LTD.</a:t>
            </a:r>
            <a:endParaRPr lang="en-US" sz="750" dirty="0"/>
          </a:p>
        </p:txBody>
      </p:sp>
      <p:sp>
        <p:nvSpPr>
          <p:cNvPr id="4" name="Text 1"/>
          <p:cNvSpPr/>
          <p:nvPr/>
        </p:nvSpPr>
        <p:spPr>
          <a:xfrm>
            <a:off x="4023360" y="6455664"/>
            <a:ext cx="4114800" cy="274320"/>
          </a:xfrm>
          <a:prstGeom prst="rect">
            <a:avLst/>
          </a:prstGeom>
          <a:noFill/>
          <a:ln/>
        </p:spPr>
        <p:txBody>
          <a:bodyPr wrap="square" lIns="0" tIns="0" rIns="0" bIns="0" rtlCol="0" anchor="ctr"/>
          <a:lstStyle/>
          <a:p>
            <a:pPr algn="ctr" indent="0" marL="0">
              <a:buNone/>
            </a:pPr>
            <a:r>
              <a:rPr lang="en-US" sz="750" dirty="0">
                <a:solidFill>
                  <a:srgbClr val="9FC8A8"/>
                </a:solidFill>
                <a:latin typeface="Calibri" pitchFamily="34" charset="0"/>
                <a:ea typeface="Calibri" pitchFamily="34" charset="-122"/>
                <a:cs typeface="Calibri" pitchFamily="34" charset="-120"/>
              </a:rPr>
              <a:t>SERVICE LINE · MAINTENANCE &amp; AMC</a:t>
            </a:r>
            <a:endParaRPr lang="en-US" sz="750" dirty="0"/>
          </a:p>
        </p:txBody>
      </p:sp>
      <p:sp>
        <p:nvSpPr>
          <p:cNvPr id="5" name="Shape 2"/>
          <p:cNvSpPr/>
          <p:nvPr/>
        </p:nvSpPr>
        <p:spPr>
          <a:xfrm>
            <a:off x="11430000" y="6419088"/>
            <a:ext cx="274320" cy="274320"/>
          </a:xfrm>
          <a:prstGeom prst="ellipse">
            <a:avLst/>
          </a:prstGeom>
          <a:solidFill>
            <a:srgbClr val="1E9E3C"/>
          </a:solidFill>
          <a:ln/>
        </p:spPr>
      </p:sp>
      <p:sp>
        <p:nvSpPr>
          <p:cNvPr id="6" name="Text 3"/>
          <p:cNvSpPr/>
          <p:nvPr/>
        </p:nvSpPr>
        <p:spPr>
          <a:xfrm>
            <a:off x="11430000" y="6419088"/>
            <a:ext cx="2743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Poppins" pitchFamily="34" charset="0"/>
                <a:ea typeface="Poppins" pitchFamily="34" charset="-122"/>
                <a:cs typeface="Poppins" pitchFamily="34" charset="-120"/>
              </a:rPr>
              <a:t>08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432A"/>
        </a:solidFill>
      </p:bgPr>
    </p:bg>
    <p:spTree>
      <p:nvGrpSpPr>
        <p:cNvPr id="1" name=""/>
        <p:cNvGrpSpPr/>
        <p:nvPr/>
      </p:nvGrpSpPr>
      <p:grpSpPr>
        <a:xfrm>
          <a:off x="0" y="0"/>
          <a:ext cx="0" cy="0"/>
          <a:chOff x="0" y="0"/>
          <a:chExt cx="0" cy="0"/>
        </a:xfrm>
      </p:grpSpPr>
      <p:pic>
        <p:nvPicPr>
          <p:cNvPr id="2" name="Image 0" descr="ppt_img/svc_wastewater.jpg">    </p:cNvPr>
          <p:cNvPicPr>
            <a:picLocks noChangeAspect="1"/>
          </p:cNvPicPr>
          <p:nvPr/>
        </p:nvPicPr>
        <p:blipFill>
          <a:blip r:embed="rId1"/>
          <a:stretch>
            <a:fillRect/>
          </a:stretch>
        </p:blipFill>
        <p:spPr>
          <a:xfrm>
            <a:off x="1362456" y="137160"/>
            <a:ext cx="9464040" cy="6309360"/>
          </a:xfrm>
          <a:prstGeom prst="rect">
            <a:avLst/>
          </a:prstGeom>
        </p:spPr>
      </p:pic>
      <p:sp>
        <p:nvSpPr>
          <p:cNvPr id="3" name="Text 0"/>
          <p:cNvSpPr/>
          <p:nvPr/>
        </p:nvSpPr>
        <p:spPr>
          <a:xfrm>
            <a:off x="457200" y="6455664"/>
            <a:ext cx="4572000" cy="274320"/>
          </a:xfrm>
          <a:prstGeom prst="rect">
            <a:avLst/>
          </a:prstGeom>
          <a:noFill/>
          <a:ln/>
        </p:spPr>
        <p:txBody>
          <a:bodyPr wrap="square" lIns="0" tIns="0" rIns="0" bIns="0" rtlCol="0" anchor="ctr"/>
          <a:lstStyle/>
          <a:p>
            <a:pPr algn="l" indent="0" marL="0">
              <a:buNone/>
            </a:pPr>
            <a:r>
              <a:rPr lang="en-US" sz="750" dirty="0">
                <a:solidFill>
                  <a:srgbClr val="9FC8A8"/>
                </a:solidFill>
                <a:latin typeface="Calibri" pitchFamily="34" charset="0"/>
                <a:ea typeface="Calibri" pitchFamily="34" charset="-122"/>
                <a:cs typeface="Calibri" pitchFamily="34" charset="-120"/>
              </a:rPr>
              <a:t>NAVGROW ENGINEERING SERVICE PVT. LTD.</a:t>
            </a:r>
            <a:endParaRPr lang="en-US" sz="750" dirty="0"/>
          </a:p>
        </p:txBody>
      </p:sp>
      <p:sp>
        <p:nvSpPr>
          <p:cNvPr id="4" name="Text 1"/>
          <p:cNvSpPr/>
          <p:nvPr/>
        </p:nvSpPr>
        <p:spPr>
          <a:xfrm>
            <a:off x="4023360" y="6455664"/>
            <a:ext cx="4114800" cy="274320"/>
          </a:xfrm>
          <a:prstGeom prst="rect">
            <a:avLst/>
          </a:prstGeom>
          <a:noFill/>
          <a:ln/>
        </p:spPr>
        <p:txBody>
          <a:bodyPr wrap="square" lIns="0" tIns="0" rIns="0" bIns="0" rtlCol="0" anchor="ctr"/>
          <a:lstStyle/>
          <a:p>
            <a:pPr algn="ctr" indent="0" marL="0">
              <a:buNone/>
            </a:pPr>
            <a:r>
              <a:rPr lang="en-US" sz="750" dirty="0">
                <a:solidFill>
                  <a:srgbClr val="9FC8A8"/>
                </a:solidFill>
                <a:latin typeface="Calibri" pitchFamily="34" charset="0"/>
                <a:ea typeface="Calibri" pitchFamily="34" charset="-122"/>
                <a:cs typeface="Calibri" pitchFamily="34" charset="-120"/>
              </a:rPr>
              <a:t>SERVICE LINE · WASTEWATER TREATMENT &amp; RECYCLING</a:t>
            </a:r>
            <a:endParaRPr lang="en-US" sz="750" dirty="0"/>
          </a:p>
        </p:txBody>
      </p:sp>
      <p:sp>
        <p:nvSpPr>
          <p:cNvPr id="5" name="Shape 2"/>
          <p:cNvSpPr/>
          <p:nvPr/>
        </p:nvSpPr>
        <p:spPr>
          <a:xfrm>
            <a:off x="11430000" y="6419088"/>
            <a:ext cx="274320" cy="274320"/>
          </a:xfrm>
          <a:prstGeom prst="ellipse">
            <a:avLst/>
          </a:prstGeom>
          <a:solidFill>
            <a:srgbClr val="1E9E3C"/>
          </a:solidFill>
          <a:ln/>
        </p:spPr>
      </p:sp>
      <p:sp>
        <p:nvSpPr>
          <p:cNvPr id="6" name="Text 3"/>
          <p:cNvSpPr/>
          <p:nvPr/>
        </p:nvSpPr>
        <p:spPr>
          <a:xfrm>
            <a:off x="11430000" y="6419088"/>
            <a:ext cx="2743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Poppins" pitchFamily="34" charset="0"/>
                <a:ea typeface="Poppins" pitchFamily="34" charset="-122"/>
                <a:cs typeface="Poppins" pitchFamily="34" charset="-120"/>
              </a:rPr>
              <a:t>09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E3020"/>
          </a:solidFill>
          <a:ln/>
        </p:spPr>
      </p:sp>
      <p:sp>
        <p:nvSpPr>
          <p:cNvPr id="3" name="Shape 1"/>
          <p:cNvSpPr/>
          <p:nvPr/>
        </p:nvSpPr>
        <p:spPr>
          <a:xfrm>
            <a:off x="0" y="1051560"/>
            <a:ext cx="12188952" cy="54864"/>
          </a:xfrm>
          <a:prstGeom prst="rect">
            <a:avLst/>
          </a:prstGeom>
          <a:solidFill>
            <a:srgbClr val="1E9E3C"/>
          </a:solidFill>
          <a:ln/>
        </p:spPr>
      </p:sp>
      <p:sp>
        <p:nvSpPr>
          <p:cNvPr id="4" name="Text 2"/>
          <p:cNvSpPr/>
          <p:nvPr/>
        </p:nvSpPr>
        <p:spPr>
          <a:xfrm>
            <a:off x="457200" y="164592"/>
            <a:ext cx="7315200" cy="274320"/>
          </a:xfrm>
          <a:prstGeom prst="rect">
            <a:avLst/>
          </a:prstGeom>
          <a:noFill/>
          <a:ln/>
        </p:spPr>
        <p:txBody>
          <a:bodyPr wrap="square" lIns="0" tIns="0" rIns="0" bIns="0" rtlCol="0" anchor="ctr"/>
          <a:lstStyle/>
          <a:p>
            <a:pPr indent="0" marL="0">
              <a:buNone/>
            </a:pPr>
            <a:r>
              <a:rPr lang="en-US" sz="1050" b="1" dirty="0">
                <a:solidFill>
                  <a:srgbClr val="BFF0C6"/>
                </a:solidFill>
                <a:latin typeface="Calibri" pitchFamily="34" charset="0"/>
                <a:ea typeface="Calibri" pitchFamily="34" charset="-122"/>
                <a:cs typeface="Calibri" pitchFamily="34" charset="-120"/>
              </a:rPr>
              <a:t>HOW WE WORK</a:t>
            </a:r>
            <a:endParaRPr lang="en-US" sz="1050" dirty="0"/>
          </a:p>
        </p:txBody>
      </p:sp>
      <p:sp>
        <p:nvSpPr>
          <p:cNvPr id="5" name="Text 3"/>
          <p:cNvSpPr/>
          <p:nvPr/>
        </p:nvSpPr>
        <p:spPr>
          <a:xfrm>
            <a:off x="457200" y="420624"/>
            <a:ext cx="9144000" cy="548640"/>
          </a:xfrm>
          <a:prstGeom prst="rect">
            <a:avLst/>
          </a:prstGeom>
          <a:noFill/>
          <a:ln/>
        </p:spPr>
        <p:txBody>
          <a:bodyPr wrap="square" lIns="0" tIns="0" rIns="0" bIns="0" rtlCol="0" anchor="ctr"/>
          <a:lstStyle/>
          <a:p>
            <a:pPr indent="0" marL="0">
              <a:buNone/>
            </a:pPr>
            <a:r>
              <a:rPr lang="en-US" sz="2500" b="1" dirty="0">
                <a:solidFill>
                  <a:srgbClr val="FFFFFF"/>
                </a:solidFill>
                <a:latin typeface="Poppins" pitchFamily="34" charset="0"/>
                <a:ea typeface="Poppins" pitchFamily="34" charset="-122"/>
                <a:cs typeface="Poppins" pitchFamily="34" charset="-120"/>
              </a:rPr>
              <a:t>A Process Built for Approval</a:t>
            </a:r>
            <a:endParaRPr lang="en-US" sz="2500" dirty="0"/>
          </a:p>
        </p:txBody>
      </p:sp>
      <p:sp>
        <p:nvSpPr>
          <p:cNvPr id="6" name="Text 4"/>
          <p:cNvSpPr/>
          <p:nvPr/>
        </p:nvSpPr>
        <p:spPr>
          <a:xfrm>
            <a:off x="7772400" y="274320"/>
            <a:ext cx="3959352" cy="274320"/>
          </a:xfrm>
          <a:prstGeom prst="rect">
            <a:avLst/>
          </a:prstGeom>
          <a:noFill/>
          <a:ln/>
        </p:spPr>
        <p:txBody>
          <a:bodyPr wrap="square" lIns="0" tIns="0" rIns="0" bIns="0" rtlCol="0" anchor="ctr"/>
          <a:lstStyle/>
          <a:p>
            <a:pPr algn="r" indent="0" marL="0">
              <a:buNone/>
            </a:pPr>
            <a:r>
              <a:rPr lang="en-US" sz="1300" b="1" dirty="0">
                <a:solidFill>
                  <a:srgbClr val="FFFFFF"/>
                </a:solidFill>
                <a:latin typeface="Poppins" pitchFamily="34" charset="0"/>
                <a:ea typeface="Poppins" pitchFamily="34" charset="-122"/>
                <a:cs typeface="Poppins" pitchFamily="34" charset="-120"/>
              </a:rPr>
              <a:t>NAVGROW</a:t>
            </a:r>
            <a:endParaRPr lang="en-US" sz="1300" dirty="0"/>
          </a:p>
        </p:txBody>
      </p:sp>
      <p:sp>
        <p:nvSpPr>
          <p:cNvPr id="7" name="Text 5"/>
          <p:cNvSpPr/>
          <p:nvPr/>
        </p:nvSpPr>
        <p:spPr>
          <a:xfrm>
            <a:off x="7772400" y="548640"/>
            <a:ext cx="3959352" cy="228600"/>
          </a:xfrm>
          <a:prstGeom prst="rect">
            <a:avLst/>
          </a:prstGeom>
          <a:noFill/>
          <a:ln/>
        </p:spPr>
        <p:txBody>
          <a:bodyPr wrap="square" lIns="0" tIns="0" rIns="0" bIns="0" rtlCol="0" anchor="ctr"/>
          <a:lstStyle/>
          <a:p>
            <a:pPr algn="r" indent="0" marL="0">
              <a:buNone/>
            </a:pPr>
            <a:r>
              <a:rPr lang="en-US" sz="750" dirty="0">
                <a:solidFill>
                  <a:srgbClr val="CFEFD4"/>
                </a:solidFill>
                <a:latin typeface="Calibri" pitchFamily="34" charset="0"/>
                <a:ea typeface="Calibri" pitchFamily="34" charset="-122"/>
                <a:cs typeface="Calibri" pitchFamily="34" charset="-120"/>
              </a:rPr>
              <a:t>ENGINEERING SERVICE PVT. LTD.</a:t>
            </a:r>
            <a:endParaRPr lang="en-US" sz="750" dirty="0"/>
          </a:p>
        </p:txBody>
      </p:sp>
      <p:sp>
        <p:nvSpPr>
          <p:cNvPr id="8" name="Shape 6"/>
          <p:cNvSpPr/>
          <p:nvPr/>
        </p:nvSpPr>
        <p:spPr>
          <a:xfrm>
            <a:off x="457200" y="1417320"/>
            <a:ext cx="502920" cy="502920"/>
          </a:xfrm>
          <a:prstGeom prst="ellipse">
            <a:avLst/>
          </a:prstGeom>
          <a:solidFill>
            <a:srgbClr val="0E3020"/>
          </a:solidFill>
          <a:ln w="25400">
            <a:solidFill>
              <a:srgbClr val="1E9E3C"/>
            </a:solidFill>
            <a:prstDash val="solid"/>
          </a:ln>
        </p:spPr>
      </p:sp>
      <p:sp>
        <p:nvSpPr>
          <p:cNvPr id="9" name="Text 7"/>
          <p:cNvSpPr/>
          <p:nvPr/>
        </p:nvSpPr>
        <p:spPr>
          <a:xfrm>
            <a:off x="457200" y="1417320"/>
            <a:ext cx="502920" cy="502920"/>
          </a:xfrm>
          <a:prstGeom prst="rect">
            <a:avLst/>
          </a:prstGeom>
          <a:noFill/>
          <a:ln/>
        </p:spPr>
        <p:txBody>
          <a:bodyPr wrap="square" lIns="0" tIns="0" rIns="0" bIns="0" rtlCol="0" anchor="ctr"/>
          <a:lstStyle/>
          <a:p>
            <a:pPr algn="ctr" indent="0" marL="0">
              <a:buNone/>
            </a:pPr>
            <a:r>
              <a:rPr lang="en-US" sz="1300" b="1" dirty="0">
                <a:solidFill>
                  <a:srgbClr val="BFF0C6"/>
                </a:solidFill>
                <a:latin typeface="Poppins" pitchFamily="34" charset="0"/>
                <a:ea typeface="Poppins" pitchFamily="34" charset="-122"/>
                <a:cs typeface="Poppins" pitchFamily="34" charset="-120"/>
              </a:rPr>
              <a:t>01</a:t>
            </a:r>
            <a:endParaRPr lang="en-US" sz="1300" dirty="0"/>
          </a:p>
        </p:txBody>
      </p:sp>
      <p:sp>
        <p:nvSpPr>
          <p:cNvPr id="10" name="Text 8"/>
          <p:cNvSpPr/>
          <p:nvPr/>
        </p:nvSpPr>
        <p:spPr>
          <a:xfrm>
            <a:off x="1143000" y="1399032"/>
            <a:ext cx="4663440" cy="320040"/>
          </a:xfrm>
          <a:prstGeom prst="rect">
            <a:avLst/>
          </a:prstGeom>
          <a:noFill/>
          <a:ln/>
        </p:spPr>
        <p:txBody>
          <a:bodyPr wrap="square" lIns="0" tIns="0" rIns="0" bIns="0" rtlCol="0" anchor="ctr"/>
          <a:lstStyle/>
          <a:p>
            <a:pPr indent="0" marL="0">
              <a:buNone/>
            </a:pPr>
            <a:r>
              <a:rPr lang="en-US" sz="1250" b="1" dirty="0">
                <a:solidFill>
                  <a:srgbClr val="0E3020"/>
                </a:solidFill>
                <a:latin typeface="Poppins" pitchFamily="34" charset="0"/>
                <a:ea typeface="Poppins" pitchFamily="34" charset="-122"/>
                <a:cs typeface="Poppins" pitchFamily="34" charset="-120"/>
              </a:rPr>
              <a:t>Scope &amp; Specification Study</a:t>
            </a:r>
            <a:endParaRPr lang="en-US" sz="1250" dirty="0"/>
          </a:p>
        </p:txBody>
      </p:sp>
      <p:sp>
        <p:nvSpPr>
          <p:cNvPr id="11" name="Text 9"/>
          <p:cNvSpPr/>
          <p:nvPr/>
        </p:nvSpPr>
        <p:spPr>
          <a:xfrm>
            <a:off x="1143000" y="1728216"/>
            <a:ext cx="4663440" cy="640080"/>
          </a:xfrm>
          <a:prstGeom prst="rect">
            <a:avLst/>
          </a:prstGeom>
          <a:noFill/>
          <a:ln/>
        </p:spPr>
        <p:txBody>
          <a:bodyPr wrap="square" lIns="0" tIns="0" rIns="0" bIns="0" rtlCol="0" anchor="ctr"/>
          <a:lstStyle/>
          <a:p>
            <a:pPr indent="0" marL="0">
              <a:lnSpc>
                <a:spcPct val="100000"/>
              </a:lnSpc>
              <a:buNone/>
            </a:pPr>
            <a:r>
              <a:rPr lang="en-US" sz="950" dirty="0">
                <a:solidFill>
                  <a:srgbClr val="5B6478"/>
                </a:solidFill>
                <a:latin typeface="Calibri" pitchFamily="34" charset="0"/>
                <a:ea typeface="Calibri" pitchFamily="34" charset="-122"/>
                <a:cs typeface="Calibri" pitchFamily="34" charset="-120"/>
              </a:rPr>
              <a:t>Drawings, specifications and site constraints studied before work begins.</a:t>
            </a:r>
            <a:endParaRPr lang="en-US" sz="950" dirty="0"/>
          </a:p>
        </p:txBody>
      </p:sp>
      <p:sp>
        <p:nvSpPr>
          <p:cNvPr id="12" name="Shape 10"/>
          <p:cNvSpPr/>
          <p:nvPr/>
        </p:nvSpPr>
        <p:spPr>
          <a:xfrm>
            <a:off x="457200" y="2624328"/>
            <a:ext cx="502920" cy="502920"/>
          </a:xfrm>
          <a:prstGeom prst="ellipse">
            <a:avLst/>
          </a:prstGeom>
          <a:solidFill>
            <a:srgbClr val="0E3020"/>
          </a:solidFill>
          <a:ln w="25400">
            <a:solidFill>
              <a:srgbClr val="1E9E3C"/>
            </a:solidFill>
            <a:prstDash val="solid"/>
          </a:ln>
        </p:spPr>
      </p:sp>
      <p:sp>
        <p:nvSpPr>
          <p:cNvPr id="13" name="Text 11"/>
          <p:cNvSpPr/>
          <p:nvPr/>
        </p:nvSpPr>
        <p:spPr>
          <a:xfrm>
            <a:off x="457200" y="2624328"/>
            <a:ext cx="502920" cy="502920"/>
          </a:xfrm>
          <a:prstGeom prst="rect">
            <a:avLst/>
          </a:prstGeom>
          <a:noFill/>
          <a:ln/>
        </p:spPr>
        <p:txBody>
          <a:bodyPr wrap="square" lIns="0" tIns="0" rIns="0" bIns="0" rtlCol="0" anchor="ctr"/>
          <a:lstStyle/>
          <a:p>
            <a:pPr algn="ctr" indent="0" marL="0">
              <a:buNone/>
            </a:pPr>
            <a:r>
              <a:rPr lang="en-US" sz="1300" b="1" dirty="0">
                <a:solidFill>
                  <a:srgbClr val="BFF0C6"/>
                </a:solidFill>
                <a:latin typeface="Poppins" pitchFamily="34" charset="0"/>
                <a:ea typeface="Poppins" pitchFamily="34" charset="-122"/>
                <a:cs typeface="Poppins" pitchFamily="34" charset="-120"/>
              </a:rPr>
              <a:t>02</a:t>
            </a:r>
            <a:endParaRPr lang="en-US" sz="1300" dirty="0"/>
          </a:p>
        </p:txBody>
      </p:sp>
      <p:sp>
        <p:nvSpPr>
          <p:cNvPr id="14" name="Text 12"/>
          <p:cNvSpPr/>
          <p:nvPr/>
        </p:nvSpPr>
        <p:spPr>
          <a:xfrm>
            <a:off x="1143000" y="2606040"/>
            <a:ext cx="4663440" cy="320040"/>
          </a:xfrm>
          <a:prstGeom prst="rect">
            <a:avLst/>
          </a:prstGeom>
          <a:noFill/>
          <a:ln/>
        </p:spPr>
        <p:txBody>
          <a:bodyPr wrap="square" lIns="0" tIns="0" rIns="0" bIns="0" rtlCol="0" anchor="ctr"/>
          <a:lstStyle/>
          <a:p>
            <a:pPr indent="0" marL="0">
              <a:buNone/>
            </a:pPr>
            <a:r>
              <a:rPr lang="en-US" sz="1250" b="1" dirty="0">
                <a:solidFill>
                  <a:srgbClr val="0E3020"/>
                </a:solidFill>
                <a:latin typeface="Poppins" pitchFamily="34" charset="0"/>
                <a:ea typeface="Poppins" pitchFamily="34" charset="-122"/>
                <a:cs typeface="Poppins" pitchFamily="34" charset="-120"/>
              </a:rPr>
              <a:t>Method &amp; Safety Approval</a:t>
            </a:r>
            <a:endParaRPr lang="en-US" sz="1250" dirty="0"/>
          </a:p>
        </p:txBody>
      </p:sp>
      <p:sp>
        <p:nvSpPr>
          <p:cNvPr id="15" name="Text 13"/>
          <p:cNvSpPr/>
          <p:nvPr/>
        </p:nvSpPr>
        <p:spPr>
          <a:xfrm>
            <a:off x="1143000" y="2935224"/>
            <a:ext cx="4663440" cy="640080"/>
          </a:xfrm>
          <a:prstGeom prst="rect">
            <a:avLst/>
          </a:prstGeom>
          <a:noFill/>
          <a:ln/>
        </p:spPr>
        <p:txBody>
          <a:bodyPr wrap="square" lIns="0" tIns="0" rIns="0" bIns="0" rtlCol="0" anchor="ctr"/>
          <a:lstStyle/>
          <a:p>
            <a:pPr indent="0" marL="0">
              <a:lnSpc>
                <a:spcPct val="100000"/>
              </a:lnSpc>
              <a:buNone/>
            </a:pPr>
            <a:r>
              <a:rPr lang="en-US" sz="950" dirty="0">
                <a:solidFill>
                  <a:srgbClr val="5B6478"/>
                </a:solidFill>
                <a:latin typeface="Calibri" pitchFamily="34" charset="0"/>
                <a:ea typeface="Calibri" pitchFamily="34" charset="-122"/>
                <a:cs typeface="Calibri" pitchFamily="34" charset="-120"/>
              </a:rPr>
              <a:t>Method statements, safety plans and material certificates submitted for approval.</a:t>
            </a:r>
            <a:endParaRPr lang="en-US" sz="950" dirty="0"/>
          </a:p>
        </p:txBody>
      </p:sp>
      <p:sp>
        <p:nvSpPr>
          <p:cNvPr id="16" name="Shape 14"/>
          <p:cNvSpPr/>
          <p:nvPr/>
        </p:nvSpPr>
        <p:spPr>
          <a:xfrm>
            <a:off x="457200" y="3831336"/>
            <a:ext cx="502920" cy="502920"/>
          </a:xfrm>
          <a:prstGeom prst="ellipse">
            <a:avLst/>
          </a:prstGeom>
          <a:solidFill>
            <a:srgbClr val="0E3020"/>
          </a:solidFill>
          <a:ln w="25400">
            <a:solidFill>
              <a:srgbClr val="1E9E3C"/>
            </a:solidFill>
            <a:prstDash val="solid"/>
          </a:ln>
        </p:spPr>
      </p:sp>
      <p:sp>
        <p:nvSpPr>
          <p:cNvPr id="17" name="Text 15"/>
          <p:cNvSpPr/>
          <p:nvPr/>
        </p:nvSpPr>
        <p:spPr>
          <a:xfrm>
            <a:off x="457200" y="3831336"/>
            <a:ext cx="502920" cy="502920"/>
          </a:xfrm>
          <a:prstGeom prst="rect">
            <a:avLst/>
          </a:prstGeom>
          <a:noFill/>
          <a:ln/>
        </p:spPr>
        <p:txBody>
          <a:bodyPr wrap="square" lIns="0" tIns="0" rIns="0" bIns="0" rtlCol="0" anchor="ctr"/>
          <a:lstStyle/>
          <a:p>
            <a:pPr algn="ctr" indent="0" marL="0">
              <a:buNone/>
            </a:pPr>
            <a:r>
              <a:rPr lang="en-US" sz="1300" b="1" dirty="0">
                <a:solidFill>
                  <a:srgbClr val="BFF0C6"/>
                </a:solidFill>
                <a:latin typeface="Poppins" pitchFamily="34" charset="0"/>
                <a:ea typeface="Poppins" pitchFamily="34" charset="-122"/>
                <a:cs typeface="Poppins" pitchFamily="34" charset="-120"/>
              </a:rPr>
              <a:t>03</a:t>
            </a:r>
            <a:endParaRPr lang="en-US" sz="1300" dirty="0"/>
          </a:p>
        </p:txBody>
      </p:sp>
      <p:sp>
        <p:nvSpPr>
          <p:cNvPr id="18" name="Text 16"/>
          <p:cNvSpPr/>
          <p:nvPr/>
        </p:nvSpPr>
        <p:spPr>
          <a:xfrm>
            <a:off x="1143000" y="3813048"/>
            <a:ext cx="4663440" cy="320040"/>
          </a:xfrm>
          <a:prstGeom prst="rect">
            <a:avLst/>
          </a:prstGeom>
          <a:noFill/>
          <a:ln/>
        </p:spPr>
        <p:txBody>
          <a:bodyPr wrap="square" lIns="0" tIns="0" rIns="0" bIns="0" rtlCol="0" anchor="ctr"/>
          <a:lstStyle/>
          <a:p>
            <a:pPr indent="0" marL="0">
              <a:buNone/>
            </a:pPr>
            <a:r>
              <a:rPr lang="en-US" sz="1250" b="1" dirty="0">
                <a:solidFill>
                  <a:srgbClr val="0E3020"/>
                </a:solidFill>
                <a:latin typeface="Poppins" pitchFamily="34" charset="0"/>
                <a:ea typeface="Poppins" pitchFamily="34" charset="-122"/>
                <a:cs typeface="Poppins" pitchFamily="34" charset="-120"/>
              </a:rPr>
              <a:t>Execution Under Supervision</a:t>
            </a:r>
            <a:endParaRPr lang="en-US" sz="1250" dirty="0"/>
          </a:p>
        </p:txBody>
      </p:sp>
      <p:sp>
        <p:nvSpPr>
          <p:cNvPr id="19" name="Text 17"/>
          <p:cNvSpPr/>
          <p:nvPr/>
        </p:nvSpPr>
        <p:spPr>
          <a:xfrm>
            <a:off x="1143000" y="4142232"/>
            <a:ext cx="4663440" cy="640080"/>
          </a:xfrm>
          <a:prstGeom prst="rect">
            <a:avLst/>
          </a:prstGeom>
          <a:noFill/>
          <a:ln/>
        </p:spPr>
        <p:txBody>
          <a:bodyPr wrap="square" lIns="0" tIns="0" rIns="0" bIns="0" rtlCol="0" anchor="ctr"/>
          <a:lstStyle/>
          <a:p>
            <a:pPr indent="0" marL="0">
              <a:lnSpc>
                <a:spcPct val="100000"/>
              </a:lnSpc>
              <a:buNone/>
            </a:pPr>
            <a:r>
              <a:rPr lang="en-US" sz="950" dirty="0">
                <a:solidFill>
                  <a:srgbClr val="5B6478"/>
                </a:solidFill>
                <a:latin typeface="Calibri" pitchFamily="34" charset="0"/>
                <a:ea typeface="Calibri" pitchFamily="34" charset="-122"/>
                <a:cs typeface="Calibri" pitchFamily="34" charset="-120"/>
              </a:rPr>
              <a:t>Qualified supervisors on site daily; hold points respected, deviations escalated.</a:t>
            </a:r>
            <a:endParaRPr lang="en-US" sz="950" dirty="0"/>
          </a:p>
        </p:txBody>
      </p:sp>
      <p:sp>
        <p:nvSpPr>
          <p:cNvPr id="20" name="Shape 18"/>
          <p:cNvSpPr/>
          <p:nvPr/>
        </p:nvSpPr>
        <p:spPr>
          <a:xfrm>
            <a:off x="457200" y="5038344"/>
            <a:ext cx="502920" cy="502920"/>
          </a:xfrm>
          <a:prstGeom prst="ellipse">
            <a:avLst/>
          </a:prstGeom>
          <a:solidFill>
            <a:srgbClr val="0E3020"/>
          </a:solidFill>
          <a:ln w="25400">
            <a:solidFill>
              <a:srgbClr val="1E9E3C"/>
            </a:solidFill>
            <a:prstDash val="solid"/>
          </a:ln>
        </p:spPr>
      </p:sp>
      <p:sp>
        <p:nvSpPr>
          <p:cNvPr id="21" name="Text 19"/>
          <p:cNvSpPr/>
          <p:nvPr/>
        </p:nvSpPr>
        <p:spPr>
          <a:xfrm>
            <a:off x="457200" y="5038344"/>
            <a:ext cx="502920" cy="502920"/>
          </a:xfrm>
          <a:prstGeom prst="rect">
            <a:avLst/>
          </a:prstGeom>
          <a:noFill/>
          <a:ln/>
        </p:spPr>
        <p:txBody>
          <a:bodyPr wrap="square" lIns="0" tIns="0" rIns="0" bIns="0" rtlCol="0" anchor="ctr"/>
          <a:lstStyle/>
          <a:p>
            <a:pPr algn="ctr" indent="0" marL="0">
              <a:buNone/>
            </a:pPr>
            <a:r>
              <a:rPr lang="en-US" sz="1300" b="1" dirty="0">
                <a:solidFill>
                  <a:srgbClr val="BFF0C6"/>
                </a:solidFill>
                <a:latin typeface="Poppins" pitchFamily="34" charset="0"/>
                <a:ea typeface="Poppins" pitchFamily="34" charset="-122"/>
                <a:cs typeface="Poppins" pitchFamily="34" charset="-120"/>
              </a:rPr>
              <a:t>04</a:t>
            </a:r>
            <a:endParaRPr lang="en-US" sz="1300" dirty="0"/>
          </a:p>
        </p:txBody>
      </p:sp>
      <p:sp>
        <p:nvSpPr>
          <p:cNvPr id="22" name="Text 20"/>
          <p:cNvSpPr/>
          <p:nvPr/>
        </p:nvSpPr>
        <p:spPr>
          <a:xfrm>
            <a:off x="1143000" y="5020056"/>
            <a:ext cx="4663440" cy="320040"/>
          </a:xfrm>
          <a:prstGeom prst="rect">
            <a:avLst/>
          </a:prstGeom>
          <a:noFill/>
          <a:ln/>
        </p:spPr>
        <p:txBody>
          <a:bodyPr wrap="square" lIns="0" tIns="0" rIns="0" bIns="0" rtlCol="0" anchor="ctr"/>
          <a:lstStyle/>
          <a:p>
            <a:pPr indent="0" marL="0">
              <a:buNone/>
            </a:pPr>
            <a:r>
              <a:rPr lang="en-US" sz="1250" b="1" dirty="0">
                <a:solidFill>
                  <a:srgbClr val="0E3020"/>
                </a:solidFill>
                <a:latin typeface="Poppins" pitchFamily="34" charset="0"/>
                <a:ea typeface="Poppins" pitchFamily="34" charset="-122"/>
                <a:cs typeface="Poppins" pitchFamily="34" charset="-120"/>
              </a:rPr>
              <a:t>Testing &amp; Handover Dossier</a:t>
            </a:r>
            <a:endParaRPr lang="en-US" sz="1250" dirty="0"/>
          </a:p>
        </p:txBody>
      </p:sp>
      <p:sp>
        <p:nvSpPr>
          <p:cNvPr id="23" name="Text 21"/>
          <p:cNvSpPr/>
          <p:nvPr/>
        </p:nvSpPr>
        <p:spPr>
          <a:xfrm>
            <a:off x="1143000" y="5349240"/>
            <a:ext cx="4663440" cy="640080"/>
          </a:xfrm>
          <a:prstGeom prst="rect">
            <a:avLst/>
          </a:prstGeom>
          <a:noFill/>
          <a:ln/>
        </p:spPr>
        <p:txBody>
          <a:bodyPr wrap="square" lIns="0" tIns="0" rIns="0" bIns="0" rtlCol="0" anchor="ctr"/>
          <a:lstStyle/>
          <a:p>
            <a:pPr indent="0" marL="0">
              <a:lnSpc>
                <a:spcPct val="100000"/>
              </a:lnSpc>
              <a:buNone/>
            </a:pPr>
            <a:r>
              <a:rPr lang="en-US" sz="950" dirty="0">
                <a:solidFill>
                  <a:srgbClr val="5B6478"/>
                </a:solidFill>
                <a:latin typeface="Calibri" pitchFamily="34" charset="0"/>
                <a:ea typeface="Calibri" pitchFamily="34" charset="-122"/>
                <a:cs typeface="Calibri" pitchFamily="34" charset="-120"/>
              </a:rPr>
              <a:t>Stage tests, final inspection and a full handover dossier with warranty.</a:t>
            </a:r>
            <a:endParaRPr lang="en-US" sz="950" dirty="0"/>
          </a:p>
        </p:txBody>
      </p:sp>
      <p:sp>
        <p:nvSpPr>
          <p:cNvPr id="24" name="Text 22"/>
          <p:cNvSpPr/>
          <p:nvPr/>
        </p:nvSpPr>
        <p:spPr>
          <a:xfrm>
            <a:off x="6400800" y="1371600"/>
            <a:ext cx="5303520" cy="365760"/>
          </a:xfrm>
          <a:prstGeom prst="rect">
            <a:avLst/>
          </a:prstGeom>
          <a:noFill/>
          <a:ln/>
        </p:spPr>
        <p:txBody>
          <a:bodyPr wrap="square" lIns="0" tIns="0" rIns="0" bIns="0" rtlCol="0" anchor="ctr"/>
          <a:lstStyle/>
          <a:p>
            <a:pPr indent="0" marL="0">
              <a:buNone/>
            </a:pPr>
            <a:r>
              <a:rPr lang="en-US" sz="1400" b="1" dirty="0">
                <a:solidFill>
                  <a:srgbClr val="0E3020"/>
                </a:solidFill>
                <a:latin typeface="Poppins" pitchFamily="34" charset="0"/>
                <a:ea typeface="Poppins" pitchFamily="34" charset="-122"/>
                <a:cs typeface="Poppins" pitchFamily="34" charset="-120"/>
              </a:rPr>
              <a:t>The Navgrow Assurance</a:t>
            </a:r>
            <a:endParaRPr lang="en-US" sz="1400" dirty="0"/>
          </a:p>
        </p:txBody>
      </p:sp>
      <p:sp>
        <p:nvSpPr>
          <p:cNvPr id="25" name="Shape 23"/>
          <p:cNvSpPr/>
          <p:nvPr/>
        </p:nvSpPr>
        <p:spPr>
          <a:xfrm>
            <a:off x="6400800" y="1828800"/>
            <a:ext cx="5330952" cy="960120"/>
          </a:xfrm>
          <a:prstGeom prst="roundRect">
            <a:avLst>
              <a:gd name="adj" fmla="val 5714"/>
            </a:avLst>
          </a:prstGeom>
          <a:solidFill>
            <a:srgbClr val="F3F7F3"/>
          </a:solidFill>
          <a:ln/>
        </p:spPr>
      </p:sp>
      <p:sp>
        <p:nvSpPr>
          <p:cNvPr id="26" name="Shape 24"/>
          <p:cNvSpPr/>
          <p:nvPr/>
        </p:nvSpPr>
        <p:spPr>
          <a:xfrm>
            <a:off x="6400800" y="1828800"/>
            <a:ext cx="64008" cy="960120"/>
          </a:xfrm>
          <a:prstGeom prst="rect">
            <a:avLst/>
          </a:prstGeom>
          <a:solidFill>
            <a:srgbClr val="1E9E3C"/>
          </a:solidFill>
          <a:ln/>
        </p:spPr>
      </p:sp>
      <p:sp>
        <p:nvSpPr>
          <p:cNvPr id="27" name="Text 25"/>
          <p:cNvSpPr/>
          <p:nvPr/>
        </p:nvSpPr>
        <p:spPr>
          <a:xfrm>
            <a:off x="6583680" y="1938528"/>
            <a:ext cx="5056632" cy="274320"/>
          </a:xfrm>
          <a:prstGeom prst="rect">
            <a:avLst/>
          </a:prstGeom>
          <a:noFill/>
          <a:ln/>
        </p:spPr>
        <p:txBody>
          <a:bodyPr wrap="square" lIns="0" tIns="0" rIns="0" bIns="0" rtlCol="0" anchor="ctr"/>
          <a:lstStyle/>
          <a:p>
            <a:pPr indent="0" marL="0">
              <a:buNone/>
            </a:pPr>
            <a:r>
              <a:rPr lang="en-US" sz="1100" b="1" dirty="0">
                <a:solidFill>
                  <a:srgbClr val="0E3020"/>
                </a:solidFill>
                <a:latin typeface="Poppins" pitchFamily="34" charset="0"/>
                <a:ea typeface="Poppins" pitchFamily="34" charset="-122"/>
                <a:cs typeface="Poppins" pitchFamily="34" charset="-120"/>
              </a:rPr>
              <a:t>Approved-Vendor Assurance</a:t>
            </a:r>
            <a:endParaRPr lang="en-US" sz="1100" dirty="0"/>
          </a:p>
        </p:txBody>
      </p:sp>
      <p:sp>
        <p:nvSpPr>
          <p:cNvPr id="28" name="Text 26"/>
          <p:cNvSpPr/>
          <p:nvPr/>
        </p:nvSpPr>
        <p:spPr>
          <a:xfrm>
            <a:off x="6583680" y="2231136"/>
            <a:ext cx="5056632" cy="502920"/>
          </a:xfrm>
          <a:prstGeom prst="rect">
            <a:avLst/>
          </a:prstGeom>
          <a:noFill/>
          <a:ln/>
        </p:spPr>
        <p:txBody>
          <a:bodyPr wrap="square" lIns="0" tIns="0" rIns="0" bIns="0" rtlCol="0" anchor="ctr"/>
          <a:lstStyle/>
          <a:p>
            <a:pPr indent="0" marL="0">
              <a:lnSpc>
                <a:spcPct val="100000"/>
              </a:lnSpc>
              <a:buNone/>
            </a:pPr>
            <a:r>
              <a:rPr lang="en-US" sz="900" dirty="0">
                <a:solidFill>
                  <a:srgbClr val="5B6478"/>
                </a:solidFill>
                <a:latin typeface="Calibri" pitchFamily="34" charset="0"/>
                <a:ea typeface="Calibri" pitchFamily="34" charset="-122"/>
                <a:cs typeface="Calibri" pitchFamily="34" charset="-120"/>
              </a:rPr>
              <a:t>Working to Indian Railways and departmental vendor norms — documentation audit-ready.</a:t>
            </a:r>
            <a:endParaRPr lang="en-US" sz="900" dirty="0"/>
          </a:p>
        </p:txBody>
      </p:sp>
      <p:sp>
        <p:nvSpPr>
          <p:cNvPr id="29" name="Shape 27"/>
          <p:cNvSpPr/>
          <p:nvPr/>
        </p:nvSpPr>
        <p:spPr>
          <a:xfrm>
            <a:off x="6400800" y="2944368"/>
            <a:ext cx="5330952" cy="960120"/>
          </a:xfrm>
          <a:prstGeom prst="roundRect">
            <a:avLst>
              <a:gd name="adj" fmla="val 5714"/>
            </a:avLst>
          </a:prstGeom>
          <a:solidFill>
            <a:srgbClr val="F3F7F3"/>
          </a:solidFill>
          <a:ln/>
        </p:spPr>
      </p:sp>
      <p:sp>
        <p:nvSpPr>
          <p:cNvPr id="30" name="Shape 28"/>
          <p:cNvSpPr/>
          <p:nvPr/>
        </p:nvSpPr>
        <p:spPr>
          <a:xfrm>
            <a:off x="6400800" y="2944368"/>
            <a:ext cx="64008" cy="960120"/>
          </a:xfrm>
          <a:prstGeom prst="rect">
            <a:avLst/>
          </a:prstGeom>
          <a:solidFill>
            <a:srgbClr val="1E9E3C"/>
          </a:solidFill>
          <a:ln/>
        </p:spPr>
      </p:sp>
      <p:sp>
        <p:nvSpPr>
          <p:cNvPr id="31" name="Text 29"/>
          <p:cNvSpPr/>
          <p:nvPr/>
        </p:nvSpPr>
        <p:spPr>
          <a:xfrm>
            <a:off x="6583680" y="3054096"/>
            <a:ext cx="5056632" cy="274320"/>
          </a:xfrm>
          <a:prstGeom prst="rect">
            <a:avLst/>
          </a:prstGeom>
          <a:noFill/>
          <a:ln/>
        </p:spPr>
        <p:txBody>
          <a:bodyPr wrap="square" lIns="0" tIns="0" rIns="0" bIns="0" rtlCol="0" anchor="ctr"/>
          <a:lstStyle/>
          <a:p>
            <a:pPr indent="0" marL="0">
              <a:buNone/>
            </a:pPr>
            <a:r>
              <a:rPr lang="en-US" sz="1100" b="1" dirty="0">
                <a:solidFill>
                  <a:srgbClr val="0E3020"/>
                </a:solidFill>
                <a:latin typeface="Poppins" pitchFamily="34" charset="0"/>
                <a:ea typeface="Poppins" pitchFamily="34" charset="-122"/>
                <a:cs typeface="Poppins" pitchFamily="34" charset="-120"/>
              </a:rPr>
              <a:t>Zero-Surprise Compliance</a:t>
            </a:r>
            <a:endParaRPr lang="en-US" sz="1100" dirty="0"/>
          </a:p>
        </p:txBody>
      </p:sp>
      <p:sp>
        <p:nvSpPr>
          <p:cNvPr id="32" name="Text 30"/>
          <p:cNvSpPr/>
          <p:nvPr/>
        </p:nvSpPr>
        <p:spPr>
          <a:xfrm>
            <a:off x="6583680" y="3346704"/>
            <a:ext cx="5056632" cy="502920"/>
          </a:xfrm>
          <a:prstGeom prst="rect">
            <a:avLst/>
          </a:prstGeom>
          <a:noFill/>
          <a:ln/>
        </p:spPr>
        <p:txBody>
          <a:bodyPr wrap="square" lIns="0" tIns="0" rIns="0" bIns="0" rtlCol="0" anchor="ctr"/>
          <a:lstStyle/>
          <a:p>
            <a:pPr indent="0" marL="0">
              <a:lnSpc>
                <a:spcPct val="100000"/>
              </a:lnSpc>
              <a:buNone/>
            </a:pPr>
            <a:r>
              <a:rPr lang="en-US" sz="900" dirty="0">
                <a:solidFill>
                  <a:srgbClr val="5B6478"/>
                </a:solidFill>
                <a:latin typeface="Calibri" pitchFamily="34" charset="0"/>
                <a:ea typeface="Calibri" pitchFamily="34" charset="-122"/>
                <a:cs typeface="Calibri" pitchFamily="34" charset="-120"/>
              </a:rPr>
              <a:t>Statutory, safety and quality requirements engineered in from the start.</a:t>
            </a:r>
            <a:endParaRPr lang="en-US" sz="900" dirty="0"/>
          </a:p>
        </p:txBody>
      </p:sp>
      <p:sp>
        <p:nvSpPr>
          <p:cNvPr id="33" name="Shape 31"/>
          <p:cNvSpPr/>
          <p:nvPr/>
        </p:nvSpPr>
        <p:spPr>
          <a:xfrm>
            <a:off x="6400800" y="4059936"/>
            <a:ext cx="5330952" cy="960120"/>
          </a:xfrm>
          <a:prstGeom prst="roundRect">
            <a:avLst>
              <a:gd name="adj" fmla="val 5714"/>
            </a:avLst>
          </a:prstGeom>
          <a:solidFill>
            <a:srgbClr val="F3F7F3"/>
          </a:solidFill>
          <a:ln/>
        </p:spPr>
      </p:sp>
      <p:sp>
        <p:nvSpPr>
          <p:cNvPr id="34" name="Shape 32"/>
          <p:cNvSpPr/>
          <p:nvPr/>
        </p:nvSpPr>
        <p:spPr>
          <a:xfrm>
            <a:off x="6400800" y="4059936"/>
            <a:ext cx="64008" cy="960120"/>
          </a:xfrm>
          <a:prstGeom prst="rect">
            <a:avLst/>
          </a:prstGeom>
          <a:solidFill>
            <a:srgbClr val="1E9E3C"/>
          </a:solidFill>
          <a:ln/>
        </p:spPr>
      </p:sp>
      <p:sp>
        <p:nvSpPr>
          <p:cNvPr id="35" name="Text 33"/>
          <p:cNvSpPr/>
          <p:nvPr/>
        </p:nvSpPr>
        <p:spPr>
          <a:xfrm>
            <a:off x="6583680" y="4169664"/>
            <a:ext cx="5056632" cy="274320"/>
          </a:xfrm>
          <a:prstGeom prst="rect">
            <a:avLst/>
          </a:prstGeom>
          <a:noFill/>
          <a:ln/>
        </p:spPr>
        <p:txBody>
          <a:bodyPr wrap="square" lIns="0" tIns="0" rIns="0" bIns="0" rtlCol="0" anchor="ctr"/>
          <a:lstStyle/>
          <a:p>
            <a:pPr indent="0" marL="0">
              <a:buNone/>
            </a:pPr>
            <a:r>
              <a:rPr lang="en-US" sz="1100" b="1" dirty="0">
                <a:solidFill>
                  <a:srgbClr val="0E3020"/>
                </a:solidFill>
                <a:latin typeface="Poppins" pitchFamily="34" charset="0"/>
                <a:ea typeface="Poppins" pitchFamily="34" charset="-122"/>
                <a:cs typeface="Poppins" pitchFamily="34" charset="-120"/>
              </a:rPr>
              <a:t>Live-Environment Discipline</a:t>
            </a:r>
            <a:endParaRPr lang="en-US" sz="1100" dirty="0"/>
          </a:p>
        </p:txBody>
      </p:sp>
      <p:sp>
        <p:nvSpPr>
          <p:cNvPr id="36" name="Text 34"/>
          <p:cNvSpPr/>
          <p:nvPr/>
        </p:nvSpPr>
        <p:spPr>
          <a:xfrm>
            <a:off x="6583680" y="4462272"/>
            <a:ext cx="5056632" cy="502920"/>
          </a:xfrm>
          <a:prstGeom prst="rect">
            <a:avLst/>
          </a:prstGeom>
          <a:noFill/>
          <a:ln/>
        </p:spPr>
        <p:txBody>
          <a:bodyPr wrap="square" lIns="0" tIns="0" rIns="0" bIns="0" rtlCol="0" anchor="ctr"/>
          <a:lstStyle/>
          <a:p>
            <a:pPr indent="0" marL="0">
              <a:lnSpc>
                <a:spcPct val="100000"/>
              </a:lnSpc>
              <a:buNone/>
            </a:pPr>
            <a:r>
              <a:rPr lang="en-US" sz="900" dirty="0">
                <a:solidFill>
                  <a:srgbClr val="5B6478"/>
                </a:solidFill>
                <a:latin typeface="Calibri" pitchFamily="34" charset="0"/>
                <a:ea typeface="Calibri" pitchFamily="34" charset="-122"/>
                <a:cs typeface="Calibri" pitchFamily="34" charset="-120"/>
              </a:rPr>
              <a:t>Trained for block-working and operating-plant conditions where downtime is not an option.</a:t>
            </a:r>
            <a:endParaRPr lang="en-US" sz="900" dirty="0"/>
          </a:p>
        </p:txBody>
      </p:sp>
      <p:sp>
        <p:nvSpPr>
          <p:cNvPr id="37" name="Shape 35"/>
          <p:cNvSpPr/>
          <p:nvPr/>
        </p:nvSpPr>
        <p:spPr>
          <a:xfrm>
            <a:off x="6400800" y="5175504"/>
            <a:ext cx="5330952" cy="960120"/>
          </a:xfrm>
          <a:prstGeom prst="roundRect">
            <a:avLst>
              <a:gd name="adj" fmla="val 5714"/>
            </a:avLst>
          </a:prstGeom>
          <a:solidFill>
            <a:srgbClr val="F3F7F3"/>
          </a:solidFill>
          <a:ln/>
        </p:spPr>
      </p:sp>
      <p:sp>
        <p:nvSpPr>
          <p:cNvPr id="38" name="Shape 36"/>
          <p:cNvSpPr/>
          <p:nvPr/>
        </p:nvSpPr>
        <p:spPr>
          <a:xfrm>
            <a:off x="6400800" y="5175504"/>
            <a:ext cx="64008" cy="960120"/>
          </a:xfrm>
          <a:prstGeom prst="rect">
            <a:avLst/>
          </a:prstGeom>
          <a:solidFill>
            <a:srgbClr val="1E9E3C"/>
          </a:solidFill>
          <a:ln/>
        </p:spPr>
      </p:sp>
      <p:sp>
        <p:nvSpPr>
          <p:cNvPr id="39" name="Text 37"/>
          <p:cNvSpPr/>
          <p:nvPr/>
        </p:nvSpPr>
        <p:spPr>
          <a:xfrm>
            <a:off x="6583680" y="5285232"/>
            <a:ext cx="5056632" cy="274320"/>
          </a:xfrm>
          <a:prstGeom prst="rect">
            <a:avLst/>
          </a:prstGeom>
          <a:noFill/>
          <a:ln/>
        </p:spPr>
        <p:txBody>
          <a:bodyPr wrap="square" lIns="0" tIns="0" rIns="0" bIns="0" rtlCol="0" anchor="ctr"/>
          <a:lstStyle/>
          <a:p>
            <a:pPr indent="0" marL="0">
              <a:buNone/>
            </a:pPr>
            <a:r>
              <a:rPr lang="en-US" sz="1100" b="1" dirty="0">
                <a:solidFill>
                  <a:srgbClr val="0E3020"/>
                </a:solidFill>
                <a:latin typeface="Poppins" pitchFamily="34" charset="0"/>
                <a:ea typeface="Poppins" pitchFamily="34" charset="-122"/>
                <a:cs typeface="Poppins" pitchFamily="34" charset="-120"/>
              </a:rPr>
              <a:t>Audit-Ready Records</a:t>
            </a:r>
            <a:endParaRPr lang="en-US" sz="1100" dirty="0"/>
          </a:p>
        </p:txBody>
      </p:sp>
      <p:sp>
        <p:nvSpPr>
          <p:cNvPr id="40" name="Text 38"/>
          <p:cNvSpPr/>
          <p:nvPr/>
        </p:nvSpPr>
        <p:spPr>
          <a:xfrm>
            <a:off x="6583680" y="5577840"/>
            <a:ext cx="5056632" cy="502920"/>
          </a:xfrm>
          <a:prstGeom prst="rect">
            <a:avLst/>
          </a:prstGeom>
          <a:noFill/>
          <a:ln/>
        </p:spPr>
        <p:txBody>
          <a:bodyPr wrap="square" lIns="0" tIns="0" rIns="0" bIns="0" rtlCol="0" anchor="ctr"/>
          <a:lstStyle/>
          <a:p>
            <a:pPr indent="0" marL="0">
              <a:lnSpc>
                <a:spcPct val="100000"/>
              </a:lnSpc>
              <a:buNone/>
            </a:pPr>
            <a:r>
              <a:rPr lang="en-US" sz="900" dirty="0">
                <a:solidFill>
                  <a:srgbClr val="5B6478"/>
                </a:solidFill>
                <a:latin typeface="Calibri" pitchFamily="34" charset="0"/>
                <a:ea typeface="Calibri" pitchFamily="34" charset="-122"/>
                <a:cs typeface="Calibri" pitchFamily="34" charset="-120"/>
              </a:rPr>
              <a:t>Every stage documented — measurement books, certificates, photos and approvals.</a:t>
            </a:r>
            <a:endParaRPr lang="en-US" sz="900" dirty="0"/>
          </a:p>
        </p:txBody>
      </p:sp>
      <p:sp>
        <p:nvSpPr>
          <p:cNvPr id="41" name="Text 39"/>
          <p:cNvSpPr/>
          <p:nvPr/>
        </p:nvSpPr>
        <p:spPr>
          <a:xfrm>
            <a:off x="457200" y="6455664"/>
            <a:ext cx="4572000" cy="274320"/>
          </a:xfrm>
          <a:prstGeom prst="rect">
            <a:avLst/>
          </a:prstGeom>
          <a:noFill/>
          <a:ln/>
        </p:spPr>
        <p:txBody>
          <a:bodyPr wrap="square" lIns="0" tIns="0" rIns="0" bIns="0" rtlCol="0" anchor="ctr"/>
          <a:lstStyle/>
          <a:p>
            <a:pPr algn="l" indent="0" marL="0">
              <a:buNone/>
            </a:pPr>
            <a:r>
              <a:rPr lang="en-US" sz="750" dirty="0">
                <a:solidFill>
                  <a:srgbClr val="5B6478"/>
                </a:solidFill>
                <a:latin typeface="Calibri" pitchFamily="34" charset="0"/>
                <a:ea typeface="Calibri" pitchFamily="34" charset="-122"/>
                <a:cs typeface="Calibri" pitchFamily="34" charset="-120"/>
              </a:rPr>
              <a:t>NAVGROW ENGINEERING SERVICE PVT. LTD.</a:t>
            </a:r>
            <a:endParaRPr lang="en-US" sz="750" dirty="0"/>
          </a:p>
        </p:txBody>
      </p:sp>
      <p:sp>
        <p:nvSpPr>
          <p:cNvPr id="42" name="Text 40"/>
          <p:cNvSpPr/>
          <p:nvPr/>
        </p:nvSpPr>
        <p:spPr>
          <a:xfrm>
            <a:off x="4023360" y="6455664"/>
            <a:ext cx="4114800" cy="274320"/>
          </a:xfrm>
          <a:prstGeom prst="rect">
            <a:avLst/>
          </a:prstGeom>
          <a:noFill/>
          <a:ln/>
        </p:spPr>
        <p:txBody>
          <a:bodyPr wrap="square" lIns="0" tIns="0" rIns="0" bIns="0" rtlCol="0" anchor="ctr"/>
          <a:lstStyle/>
          <a:p>
            <a:pPr algn="ctr" indent="0" marL="0">
              <a:buNone/>
            </a:pPr>
            <a:r>
              <a:rPr lang="en-US" sz="750" dirty="0">
                <a:solidFill>
                  <a:srgbClr val="5B6478"/>
                </a:solidFill>
                <a:latin typeface="Calibri" pitchFamily="34" charset="0"/>
                <a:ea typeface="Calibri" pitchFamily="34" charset="-122"/>
                <a:cs typeface="Calibri" pitchFamily="34" charset="-120"/>
              </a:rPr>
              <a:t>DELIVERY PROCESS</a:t>
            </a:r>
            <a:endParaRPr lang="en-US" sz="750" dirty="0"/>
          </a:p>
        </p:txBody>
      </p:sp>
      <p:sp>
        <p:nvSpPr>
          <p:cNvPr id="43" name="Shape 41"/>
          <p:cNvSpPr/>
          <p:nvPr/>
        </p:nvSpPr>
        <p:spPr>
          <a:xfrm>
            <a:off x="11430000" y="6419088"/>
            <a:ext cx="274320" cy="274320"/>
          </a:xfrm>
          <a:prstGeom prst="ellipse">
            <a:avLst/>
          </a:prstGeom>
          <a:solidFill>
            <a:srgbClr val="1E9E3C"/>
          </a:solidFill>
          <a:ln/>
        </p:spPr>
      </p:sp>
      <p:sp>
        <p:nvSpPr>
          <p:cNvPr id="44" name="Text 42"/>
          <p:cNvSpPr/>
          <p:nvPr/>
        </p:nvSpPr>
        <p:spPr>
          <a:xfrm>
            <a:off x="11430000" y="6419088"/>
            <a:ext cx="2743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Poppins" pitchFamily="34" charset="0"/>
                <a:ea typeface="Poppins" pitchFamily="34" charset="-122"/>
                <a:cs typeface="Poppins"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E3020"/>
          </a:solidFill>
          <a:ln/>
        </p:spPr>
      </p:sp>
      <p:sp>
        <p:nvSpPr>
          <p:cNvPr id="3" name="Shape 1"/>
          <p:cNvSpPr/>
          <p:nvPr/>
        </p:nvSpPr>
        <p:spPr>
          <a:xfrm>
            <a:off x="0" y="1051560"/>
            <a:ext cx="12188952" cy="54864"/>
          </a:xfrm>
          <a:prstGeom prst="rect">
            <a:avLst/>
          </a:prstGeom>
          <a:solidFill>
            <a:srgbClr val="1E9E3C"/>
          </a:solidFill>
          <a:ln/>
        </p:spPr>
      </p:sp>
      <p:sp>
        <p:nvSpPr>
          <p:cNvPr id="4" name="Text 2"/>
          <p:cNvSpPr/>
          <p:nvPr/>
        </p:nvSpPr>
        <p:spPr>
          <a:xfrm>
            <a:off x="457200" y="164592"/>
            <a:ext cx="7315200" cy="274320"/>
          </a:xfrm>
          <a:prstGeom prst="rect">
            <a:avLst/>
          </a:prstGeom>
          <a:noFill/>
          <a:ln/>
        </p:spPr>
        <p:txBody>
          <a:bodyPr wrap="square" lIns="0" tIns="0" rIns="0" bIns="0" rtlCol="0" anchor="ctr"/>
          <a:lstStyle/>
          <a:p>
            <a:pPr indent="0" marL="0">
              <a:buNone/>
            </a:pPr>
            <a:r>
              <a:rPr lang="en-US" sz="1050" b="1" dirty="0">
                <a:solidFill>
                  <a:srgbClr val="BFF0C6"/>
                </a:solidFill>
                <a:latin typeface="Calibri" pitchFamily="34" charset="0"/>
                <a:ea typeface="Calibri" pitchFamily="34" charset="-122"/>
                <a:cs typeface="Calibri" pitchFamily="34" charset="-120"/>
              </a:rPr>
              <a:t>OUR COMMITMENT</a:t>
            </a:r>
            <a:endParaRPr lang="en-US" sz="1050" dirty="0"/>
          </a:p>
        </p:txBody>
      </p:sp>
      <p:sp>
        <p:nvSpPr>
          <p:cNvPr id="5" name="Text 3"/>
          <p:cNvSpPr/>
          <p:nvPr/>
        </p:nvSpPr>
        <p:spPr>
          <a:xfrm>
            <a:off x="457200" y="420624"/>
            <a:ext cx="9144000" cy="548640"/>
          </a:xfrm>
          <a:prstGeom prst="rect">
            <a:avLst/>
          </a:prstGeom>
          <a:noFill/>
          <a:ln/>
        </p:spPr>
        <p:txBody>
          <a:bodyPr wrap="square" lIns="0" tIns="0" rIns="0" bIns="0" rtlCol="0" anchor="ctr"/>
          <a:lstStyle/>
          <a:p>
            <a:pPr indent="0" marL="0">
              <a:buNone/>
            </a:pPr>
            <a:r>
              <a:rPr lang="en-US" sz="2500" b="1" dirty="0">
                <a:solidFill>
                  <a:srgbClr val="FFFFFF"/>
                </a:solidFill>
                <a:latin typeface="Poppins" pitchFamily="34" charset="0"/>
                <a:ea typeface="Poppins" pitchFamily="34" charset="-122"/>
                <a:cs typeface="Poppins" pitchFamily="34" charset="-120"/>
              </a:rPr>
              <a:t>Quality, Safety &amp; Compliance</a:t>
            </a:r>
            <a:endParaRPr lang="en-US" sz="2500" dirty="0"/>
          </a:p>
        </p:txBody>
      </p:sp>
      <p:sp>
        <p:nvSpPr>
          <p:cNvPr id="6" name="Text 4"/>
          <p:cNvSpPr/>
          <p:nvPr/>
        </p:nvSpPr>
        <p:spPr>
          <a:xfrm>
            <a:off x="7772400" y="274320"/>
            <a:ext cx="3959352" cy="274320"/>
          </a:xfrm>
          <a:prstGeom prst="rect">
            <a:avLst/>
          </a:prstGeom>
          <a:noFill/>
          <a:ln/>
        </p:spPr>
        <p:txBody>
          <a:bodyPr wrap="square" lIns="0" tIns="0" rIns="0" bIns="0" rtlCol="0" anchor="ctr"/>
          <a:lstStyle/>
          <a:p>
            <a:pPr algn="r" indent="0" marL="0">
              <a:buNone/>
            </a:pPr>
            <a:r>
              <a:rPr lang="en-US" sz="1300" b="1" dirty="0">
                <a:solidFill>
                  <a:srgbClr val="FFFFFF"/>
                </a:solidFill>
                <a:latin typeface="Poppins" pitchFamily="34" charset="0"/>
                <a:ea typeface="Poppins" pitchFamily="34" charset="-122"/>
                <a:cs typeface="Poppins" pitchFamily="34" charset="-120"/>
              </a:rPr>
              <a:t>NAVGROW</a:t>
            </a:r>
            <a:endParaRPr lang="en-US" sz="1300" dirty="0"/>
          </a:p>
        </p:txBody>
      </p:sp>
      <p:sp>
        <p:nvSpPr>
          <p:cNvPr id="7" name="Text 5"/>
          <p:cNvSpPr/>
          <p:nvPr/>
        </p:nvSpPr>
        <p:spPr>
          <a:xfrm>
            <a:off x="7772400" y="548640"/>
            <a:ext cx="3959352" cy="228600"/>
          </a:xfrm>
          <a:prstGeom prst="rect">
            <a:avLst/>
          </a:prstGeom>
          <a:noFill/>
          <a:ln/>
        </p:spPr>
        <p:txBody>
          <a:bodyPr wrap="square" lIns="0" tIns="0" rIns="0" bIns="0" rtlCol="0" anchor="ctr"/>
          <a:lstStyle/>
          <a:p>
            <a:pPr algn="r" indent="0" marL="0">
              <a:buNone/>
            </a:pPr>
            <a:r>
              <a:rPr lang="en-US" sz="750" dirty="0">
                <a:solidFill>
                  <a:srgbClr val="CFEFD4"/>
                </a:solidFill>
                <a:latin typeface="Calibri" pitchFamily="34" charset="0"/>
                <a:ea typeface="Calibri" pitchFamily="34" charset="-122"/>
                <a:cs typeface="Calibri" pitchFamily="34" charset="-120"/>
              </a:rPr>
              <a:t>ENGINEERING SERVICE PVT. LTD.</a:t>
            </a:r>
            <a:endParaRPr lang="en-US" sz="750" dirty="0"/>
          </a:p>
        </p:txBody>
      </p:sp>
      <p:sp>
        <p:nvSpPr>
          <p:cNvPr id="8" name="Text 6"/>
          <p:cNvSpPr/>
          <p:nvPr/>
        </p:nvSpPr>
        <p:spPr>
          <a:xfrm>
            <a:off x="457200" y="1280160"/>
            <a:ext cx="11274552" cy="640080"/>
          </a:xfrm>
          <a:prstGeom prst="rect">
            <a:avLst/>
          </a:prstGeom>
          <a:noFill/>
          <a:ln/>
        </p:spPr>
        <p:txBody>
          <a:bodyPr wrap="square" rtlCol="0" anchor="ctr"/>
          <a:lstStyle/>
          <a:p>
            <a:pPr indent="0" marL="0">
              <a:lnSpc>
                <a:spcPct val="110000"/>
              </a:lnSpc>
              <a:buNone/>
            </a:pPr>
            <a:r>
              <a:rPr lang="en-US" sz="1150" dirty="0">
                <a:solidFill>
                  <a:srgbClr val="17233B"/>
                </a:solidFill>
                <a:latin typeface="Calibri" pitchFamily="34" charset="0"/>
                <a:ea typeface="Calibri" pitchFamily="34" charset="-122"/>
                <a:cs typeface="Calibri" pitchFamily="34" charset="-120"/>
              </a:rPr>
              <a:t>Every Navgrow project is governed by three non-negotiables — the quality of what we build, the safety of how we build it, and full compliance with the standards our clients answer to. Engineered into our workflow, not inspected in at the end.</a:t>
            </a:r>
            <a:endParaRPr lang="en-US" sz="1150" dirty="0"/>
          </a:p>
        </p:txBody>
      </p:sp>
      <p:sp>
        <p:nvSpPr>
          <p:cNvPr id="9" name="Shape 7"/>
          <p:cNvSpPr/>
          <p:nvPr/>
        </p:nvSpPr>
        <p:spPr>
          <a:xfrm>
            <a:off x="457200" y="2148840"/>
            <a:ext cx="3657600" cy="3200400"/>
          </a:xfrm>
          <a:prstGeom prst="roundRect">
            <a:avLst>
              <a:gd name="adj" fmla="val 2286"/>
            </a:avLst>
          </a:prstGeom>
          <a:solidFill>
            <a:srgbClr val="F3F7F3"/>
          </a:solidFill>
          <a:ln/>
        </p:spPr>
      </p:sp>
      <p:sp>
        <p:nvSpPr>
          <p:cNvPr id="10" name="Shape 8"/>
          <p:cNvSpPr/>
          <p:nvPr/>
        </p:nvSpPr>
        <p:spPr>
          <a:xfrm>
            <a:off x="457200" y="2148840"/>
            <a:ext cx="3657600" cy="658368"/>
          </a:xfrm>
          <a:prstGeom prst="roundRect">
            <a:avLst>
              <a:gd name="adj" fmla="val 11111"/>
            </a:avLst>
          </a:prstGeom>
          <a:solidFill>
            <a:srgbClr val="0E3020"/>
          </a:solidFill>
          <a:ln/>
        </p:spPr>
      </p:sp>
      <p:sp>
        <p:nvSpPr>
          <p:cNvPr id="11" name="Shape 9"/>
          <p:cNvSpPr/>
          <p:nvPr/>
        </p:nvSpPr>
        <p:spPr>
          <a:xfrm>
            <a:off x="457200" y="2478024"/>
            <a:ext cx="3657600" cy="329184"/>
          </a:xfrm>
          <a:prstGeom prst="rect">
            <a:avLst/>
          </a:prstGeom>
          <a:solidFill>
            <a:srgbClr val="0E3020"/>
          </a:solidFill>
          <a:ln/>
        </p:spPr>
      </p:sp>
      <p:sp>
        <p:nvSpPr>
          <p:cNvPr id="12" name="Text 10"/>
          <p:cNvSpPr/>
          <p:nvPr/>
        </p:nvSpPr>
        <p:spPr>
          <a:xfrm>
            <a:off x="676656" y="2240280"/>
            <a:ext cx="3291840" cy="228600"/>
          </a:xfrm>
          <a:prstGeom prst="rect">
            <a:avLst/>
          </a:prstGeom>
          <a:noFill/>
          <a:ln/>
        </p:spPr>
        <p:txBody>
          <a:bodyPr wrap="square" lIns="0" tIns="0" rIns="0" bIns="0" rtlCol="0" anchor="ctr"/>
          <a:lstStyle/>
          <a:p>
            <a:pPr indent="0" marL="0">
              <a:buNone/>
            </a:pPr>
            <a:r>
              <a:rPr lang="en-US" sz="900" b="1" dirty="0">
                <a:solidFill>
                  <a:srgbClr val="BFF0C6"/>
                </a:solidFill>
                <a:latin typeface="Poppins" pitchFamily="34" charset="0"/>
                <a:ea typeface="Poppins" pitchFamily="34" charset="-122"/>
                <a:cs typeface="Poppins" pitchFamily="34" charset="-120"/>
              </a:rPr>
              <a:t>QUALITY</a:t>
            </a:r>
            <a:endParaRPr lang="en-US" sz="900" dirty="0"/>
          </a:p>
        </p:txBody>
      </p:sp>
      <p:sp>
        <p:nvSpPr>
          <p:cNvPr id="13" name="Text 11"/>
          <p:cNvSpPr/>
          <p:nvPr/>
        </p:nvSpPr>
        <p:spPr>
          <a:xfrm>
            <a:off x="676656" y="2459736"/>
            <a:ext cx="3291840" cy="274320"/>
          </a:xfrm>
          <a:prstGeom prst="rect">
            <a:avLst/>
          </a:prstGeom>
          <a:noFill/>
          <a:ln/>
        </p:spPr>
        <p:txBody>
          <a:bodyPr wrap="square" lIns="0" tIns="0" rIns="0" bIns="0" rtlCol="0" anchor="ctr"/>
          <a:lstStyle/>
          <a:p>
            <a:pPr indent="0" marL="0">
              <a:buNone/>
            </a:pPr>
            <a:r>
              <a:rPr lang="en-US" sz="1300" b="1" dirty="0">
                <a:solidFill>
                  <a:srgbClr val="FFFFFF"/>
                </a:solidFill>
                <a:latin typeface="Poppins" pitchFamily="34" charset="0"/>
                <a:ea typeface="Poppins" pitchFamily="34" charset="-122"/>
                <a:cs typeface="Poppins" pitchFamily="34" charset="-120"/>
              </a:rPr>
              <a:t>Built to Standard</a:t>
            </a:r>
            <a:endParaRPr lang="en-US" sz="1300" dirty="0"/>
          </a:p>
        </p:txBody>
      </p:sp>
      <p:sp>
        <p:nvSpPr>
          <p:cNvPr id="14" name="Shape 12"/>
          <p:cNvSpPr/>
          <p:nvPr/>
        </p:nvSpPr>
        <p:spPr>
          <a:xfrm>
            <a:off x="676656" y="3054096"/>
            <a:ext cx="91440" cy="91440"/>
          </a:xfrm>
          <a:prstGeom prst="ellipse">
            <a:avLst/>
          </a:prstGeom>
          <a:solidFill>
            <a:srgbClr val="1E9E3C"/>
          </a:solidFill>
          <a:ln/>
        </p:spPr>
      </p:sp>
      <p:sp>
        <p:nvSpPr>
          <p:cNvPr id="15" name="Text 13"/>
          <p:cNvSpPr/>
          <p:nvPr/>
        </p:nvSpPr>
        <p:spPr>
          <a:xfrm>
            <a:off x="841248" y="2971800"/>
            <a:ext cx="3108960" cy="457200"/>
          </a:xfrm>
          <a:prstGeom prst="rect">
            <a:avLst/>
          </a:prstGeom>
          <a:noFill/>
          <a:ln/>
        </p:spPr>
        <p:txBody>
          <a:bodyPr wrap="square" lIns="0" tIns="0" rIns="0" bIns="0" rtlCol="0" anchor="ctr"/>
          <a:lstStyle/>
          <a:p>
            <a:pPr indent="0" marL="0">
              <a:lnSpc>
                <a:spcPct val="95000"/>
              </a:lnSpc>
              <a:buNone/>
            </a:pPr>
            <a:r>
              <a:rPr lang="en-US" sz="950" dirty="0">
                <a:solidFill>
                  <a:srgbClr val="17233B"/>
                </a:solidFill>
                <a:latin typeface="Calibri" pitchFamily="34" charset="0"/>
                <a:ea typeface="Calibri" pitchFamily="34" charset="-122"/>
                <a:cs typeface="Calibri" pitchFamily="34" charset="-120"/>
              </a:rPr>
              <a:t>ISI-marked materials &amp; tested components</a:t>
            </a:r>
            <a:endParaRPr lang="en-US" sz="950" dirty="0"/>
          </a:p>
        </p:txBody>
      </p:sp>
      <p:sp>
        <p:nvSpPr>
          <p:cNvPr id="16" name="Shape 14"/>
          <p:cNvSpPr/>
          <p:nvPr/>
        </p:nvSpPr>
        <p:spPr>
          <a:xfrm>
            <a:off x="676656" y="3602736"/>
            <a:ext cx="91440" cy="91440"/>
          </a:xfrm>
          <a:prstGeom prst="ellipse">
            <a:avLst/>
          </a:prstGeom>
          <a:solidFill>
            <a:srgbClr val="1E9E3C"/>
          </a:solidFill>
          <a:ln/>
        </p:spPr>
      </p:sp>
      <p:sp>
        <p:nvSpPr>
          <p:cNvPr id="17" name="Text 15"/>
          <p:cNvSpPr/>
          <p:nvPr/>
        </p:nvSpPr>
        <p:spPr>
          <a:xfrm>
            <a:off x="841248" y="3520440"/>
            <a:ext cx="3108960" cy="457200"/>
          </a:xfrm>
          <a:prstGeom prst="rect">
            <a:avLst/>
          </a:prstGeom>
          <a:noFill/>
          <a:ln/>
        </p:spPr>
        <p:txBody>
          <a:bodyPr wrap="square" lIns="0" tIns="0" rIns="0" bIns="0" rtlCol="0" anchor="ctr"/>
          <a:lstStyle/>
          <a:p>
            <a:pPr indent="0" marL="0">
              <a:lnSpc>
                <a:spcPct val="95000"/>
              </a:lnSpc>
              <a:buNone/>
            </a:pPr>
            <a:r>
              <a:rPr lang="en-US" sz="950" dirty="0">
                <a:solidFill>
                  <a:srgbClr val="17233B"/>
                </a:solidFill>
                <a:latin typeface="Calibri" pitchFamily="34" charset="0"/>
                <a:ea typeface="Calibri" pitchFamily="34" charset="-122"/>
                <a:cs typeface="Calibri" pitchFamily="34" charset="-120"/>
              </a:rPr>
              <a:t>Material test certificates on every batch</a:t>
            </a:r>
            <a:endParaRPr lang="en-US" sz="950" dirty="0"/>
          </a:p>
        </p:txBody>
      </p:sp>
      <p:sp>
        <p:nvSpPr>
          <p:cNvPr id="18" name="Shape 16"/>
          <p:cNvSpPr/>
          <p:nvPr/>
        </p:nvSpPr>
        <p:spPr>
          <a:xfrm>
            <a:off x="676656" y="4151376"/>
            <a:ext cx="91440" cy="91440"/>
          </a:xfrm>
          <a:prstGeom prst="ellipse">
            <a:avLst/>
          </a:prstGeom>
          <a:solidFill>
            <a:srgbClr val="1E9E3C"/>
          </a:solidFill>
          <a:ln/>
        </p:spPr>
      </p:sp>
      <p:sp>
        <p:nvSpPr>
          <p:cNvPr id="19" name="Text 17"/>
          <p:cNvSpPr/>
          <p:nvPr/>
        </p:nvSpPr>
        <p:spPr>
          <a:xfrm>
            <a:off x="841248" y="4069080"/>
            <a:ext cx="3108960" cy="457200"/>
          </a:xfrm>
          <a:prstGeom prst="rect">
            <a:avLst/>
          </a:prstGeom>
          <a:noFill/>
          <a:ln/>
        </p:spPr>
        <p:txBody>
          <a:bodyPr wrap="square" lIns="0" tIns="0" rIns="0" bIns="0" rtlCol="0" anchor="ctr"/>
          <a:lstStyle/>
          <a:p>
            <a:pPr indent="0" marL="0">
              <a:lnSpc>
                <a:spcPct val="95000"/>
              </a:lnSpc>
              <a:buNone/>
            </a:pPr>
            <a:r>
              <a:rPr lang="en-US" sz="950" dirty="0">
                <a:solidFill>
                  <a:srgbClr val="17233B"/>
                </a:solidFill>
                <a:latin typeface="Calibri" pitchFamily="34" charset="0"/>
                <a:ea typeface="Calibri" pitchFamily="34" charset="-122"/>
                <a:cs typeface="Calibri" pitchFamily="34" charset="-120"/>
              </a:rPr>
              <a:t>Stage inspections with defined hold points</a:t>
            </a:r>
            <a:endParaRPr lang="en-US" sz="950" dirty="0"/>
          </a:p>
        </p:txBody>
      </p:sp>
      <p:sp>
        <p:nvSpPr>
          <p:cNvPr id="20" name="Shape 18"/>
          <p:cNvSpPr/>
          <p:nvPr/>
        </p:nvSpPr>
        <p:spPr>
          <a:xfrm>
            <a:off x="676656" y="4700016"/>
            <a:ext cx="91440" cy="91440"/>
          </a:xfrm>
          <a:prstGeom prst="ellipse">
            <a:avLst/>
          </a:prstGeom>
          <a:solidFill>
            <a:srgbClr val="1E9E3C"/>
          </a:solidFill>
          <a:ln/>
        </p:spPr>
      </p:sp>
      <p:sp>
        <p:nvSpPr>
          <p:cNvPr id="21" name="Text 19"/>
          <p:cNvSpPr/>
          <p:nvPr/>
        </p:nvSpPr>
        <p:spPr>
          <a:xfrm>
            <a:off x="841248" y="4617720"/>
            <a:ext cx="3108960" cy="457200"/>
          </a:xfrm>
          <a:prstGeom prst="rect">
            <a:avLst/>
          </a:prstGeom>
          <a:noFill/>
          <a:ln/>
        </p:spPr>
        <p:txBody>
          <a:bodyPr wrap="square" lIns="0" tIns="0" rIns="0" bIns="0" rtlCol="0" anchor="ctr"/>
          <a:lstStyle/>
          <a:p>
            <a:pPr indent="0" marL="0">
              <a:lnSpc>
                <a:spcPct val="95000"/>
              </a:lnSpc>
              <a:buNone/>
            </a:pPr>
            <a:r>
              <a:rPr lang="en-US" sz="950" dirty="0">
                <a:solidFill>
                  <a:srgbClr val="17233B"/>
                </a:solidFill>
                <a:latin typeface="Calibri" pitchFamily="34" charset="0"/>
                <a:ea typeface="Calibri" pitchFamily="34" charset="-122"/>
                <a:cs typeface="Calibri" pitchFamily="34" charset="-120"/>
              </a:rPr>
              <a:t>Handover dossier: drawings, MTCs &amp; reports</a:t>
            </a:r>
            <a:endParaRPr lang="en-US" sz="950" dirty="0"/>
          </a:p>
        </p:txBody>
      </p:sp>
      <p:sp>
        <p:nvSpPr>
          <p:cNvPr id="22" name="Shape 20"/>
          <p:cNvSpPr/>
          <p:nvPr/>
        </p:nvSpPr>
        <p:spPr>
          <a:xfrm>
            <a:off x="4261104" y="2148840"/>
            <a:ext cx="3657600" cy="3200400"/>
          </a:xfrm>
          <a:prstGeom prst="roundRect">
            <a:avLst>
              <a:gd name="adj" fmla="val 2286"/>
            </a:avLst>
          </a:prstGeom>
          <a:solidFill>
            <a:srgbClr val="F3F7F3"/>
          </a:solidFill>
          <a:ln/>
        </p:spPr>
      </p:sp>
      <p:sp>
        <p:nvSpPr>
          <p:cNvPr id="23" name="Shape 21"/>
          <p:cNvSpPr/>
          <p:nvPr/>
        </p:nvSpPr>
        <p:spPr>
          <a:xfrm>
            <a:off x="4261104" y="2148840"/>
            <a:ext cx="3657600" cy="658368"/>
          </a:xfrm>
          <a:prstGeom prst="roundRect">
            <a:avLst>
              <a:gd name="adj" fmla="val 11111"/>
            </a:avLst>
          </a:prstGeom>
          <a:solidFill>
            <a:srgbClr val="0E3020"/>
          </a:solidFill>
          <a:ln/>
        </p:spPr>
      </p:sp>
      <p:sp>
        <p:nvSpPr>
          <p:cNvPr id="24" name="Shape 22"/>
          <p:cNvSpPr/>
          <p:nvPr/>
        </p:nvSpPr>
        <p:spPr>
          <a:xfrm>
            <a:off x="4261104" y="2478024"/>
            <a:ext cx="3657600" cy="329184"/>
          </a:xfrm>
          <a:prstGeom prst="rect">
            <a:avLst/>
          </a:prstGeom>
          <a:solidFill>
            <a:srgbClr val="0E3020"/>
          </a:solidFill>
          <a:ln/>
        </p:spPr>
      </p:sp>
      <p:sp>
        <p:nvSpPr>
          <p:cNvPr id="25" name="Text 23"/>
          <p:cNvSpPr/>
          <p:nvPr/>
        </p:nvSpPr>
        <p:spPr>
          <a:xfrm>
            <a:off x="4480560" y="2240280"/>
            <a:ext cx="3291840" cy="228600"/>
          </a:xfrm>
          <a:prstGeom prst="rect">
            <a:avLst/>
          </a:prstGeom>
          <a:noFill/>
          <a:ln/>
        </p:spPr>
        <p:txBody>
          <a:bodyPr wrap="square" lIns="0" tIns="0" rIns="0" bIns="0" rtlCol="0" anchor="ctr"/>
          <a:lstStyle/>
          <a:p>
            <a:pPr indent="0" marL="0">
              <a:buNone/>
            </a:pPr>
            <a:r>
              <a:rPr lang="en-US" sz="900" b="1" dirty="0">
                <a:solidFill>
                  <a:srgbClr val="BFF0C6"/>
                </a:solidFill>
                <a:latin typeface="Poppins" pitchFamily="34" charset="0"/>
                <a:ea typeface="Poppins" pitchFamily="34" charset="-122"/>
                <a:cs typeface="Poppins" pitchFamily="34" charset="-120"/>
              </a:rPr>
              <a:t>SAFETY</a:t>
            </a:r>
            <a:endParaRPr lang="en-US" sz="900" dirty="0"/>
          </a:p>
        </p:txBody>
      </p:sp>
      <p:sp>
        <p:nvSpPr>
          <p:cNvPr id="26" name="Text 24"/>
          <p:cNvSpPr/>
          <p:nvPr/>
        </p:nvSpPr>
        <p:spPr>
          <a:xfrm>
            <a:off x="4480560" y="2459736"/>
            <a:ext cx="3291840" cy="274320"/>
          </a:xfrm>
          <a:prstGeom prst="rect">
            <a:avLst/>
          </a:prstGeom>
          <a:noFill/>
          <a:ln/>
        </p:spPr>
        <p:txBody>
          <a:bodyPr wrap="square" lIns="0" tIns="0" rIns="0" bIns="0" rtlCol="0" anchor="ctr"/>
          <a:lstStyle/>
          <a:p>
            <a:pPr indent="0" marL="0">
              <a:buNone/>
            </a:pPr>
            <a:r>
              <a:rPr lang="en-US" sz="1300" b="1" dirty="0">
                <a:solidFill>
                  <a:srgbClr val="FFFFFF"/>
                </a:solidFill>
                <a:latin typeface="Poppins" pitchFamily="34" charset="0"/>
                <a:ea typeface="Poppins" pitchFamily="34" charset="-122"/>
                <a:cs typeface="Poppins" pitchFamily="34" charset="-120"/>
              </a:rPr>
              <a:t>Zero-Harm Mindset</a:t>
            </a:r>
            <a:endParaRPr lang="en-US" sz="1300" dirty="0"/>
          </a:p>
        </p:txBody>
      </p:sp>
      <p:sp>
        <p:nvSpPr>
          <p:cNvPr id="27" name="Shape 25"/>
          <p:cNvSpPr/>
          <p:nvPr/>
        </p:nvSpPr>
        <p:spPr>
          <a:xfrm>
            <a:off x="4480560" y="3054096"/>
            <a:ext cx="91440" cy="91440"/>
          </a:xfrm>
          <a:prstGeom prst="ellipse">
            <a:avLst/>
          </a:prstGeom>
          <a:solidFill>
            <a:srgbClr val="1E9E3C"/>
          </a:solidFill>
          <a:ln/>
        </p:spPr>
      </p:sp>
      <p:sp>
        <p:nvSpPr>
          <p:cNvPr id="28" name="Text 26"/>
          <p:cNvSpPr/>
          <p:nvPr/>
        </p:nvSpPr>
        <p:spPr>
          <a:xfrm>
            <a:off x="4645152" y="2971800"/>
            <a:ext cx="3108960" cy="457200"/>
          </a:xfrm>
          <a:prstGeom prst="rect">
            <a:avLst/>
          </a:prstGeom>
          <a:noFill/>
          <a:ln/>
        </p:spPr>
        <p:txBody>
          <a:bodyPr wrap="square" lIns="0" tIns="0" rIns="0" bIns="0" rtlCol="0" anchor="ctr"/>
          <a:lstStyle/>
          <a:p>
            <a:pPr indent="0" marL="0">
              <a:lnSpc>
                <a:spcPct val="95000"/>
              </a:lnSpc>
              <a:buNone/>
            </a:pPr>
            <a:r>
              <a:rPr lang="en-US" sz="950" dirty="0">
                <a:solidFill>
                  <a:srgbClr val="17233B"/>
                </a:solidFill>
                <a:latin typeface="Calibri" pitchFamily="34" charset="0"/>
                <a:ea typeface="Calibri" pitchFamily="34" charset="-122"/>
                <a:cs typeface="Calibri" pitchFamily="34" charset="-120"/>
              </a:rPr>
              <a:t>Method statements &amp; job safety analysis</a:t>
            </a:r>
            <a:endParaRPr lang="en-US" sz="950" dirty="0"/>
          </a:p>
        </p:txBody>
      </p:sp>
      <p:sp>
        <p:nvSpPr>
          <p:cNvPr id="29" name="Shape 27"/>
          <p:cNvSpPr/>
          <p:nvPr/>
        </p:nvSpPr>
        <p:spPr>
          <a:xfrm>
            <a:off x="4480560" y="3602736"/>
            <a:ext cx="91440" cy="91440"/>
          </a:xfrm>
          <a:prstGeom prst="ellipse">
            <a:avLst/>
          </a:prstGeom>
          <a:solidFill>
            <a:srgbClr val="1E9E3C"/>
          </a:solidFill>
          <a:ln/>
        </p:spPr>
      </p:sp>
      <p:sp>
        <p:nvSpPr>
          <p:cNvPr id="30" name="Text 28"/>
          <p:cNvSpPr/>
          <p:nvPr/>
        </p:nvSpPr>
        <p:spPr>
          <a:xfrm>
            <a:off x="4645152" y="3520440"/>
            <a:ext cx="3108960" cy="457200"/>
          </a:xfrm>
          <a:prstGeom prst="rect">
            <a:avLst/>
          </a:prstGeom>
          <a:noFill/>
          <a:ln/>
        </p:spPr>
        <p:txBody>
          <a:bodyPr wrap="square" lIns="0" tIns="0" rIns="0" bIns="0" rtlCol="0" anchor="ctr"/>
          <a:lstStyle/>
          <a:p>
            <a:pPr indent="0" marL="0">
              <a:lnSpc>
                <a:spcPct val="95000"/>
              </a:lnSpc>
              <a:buNone/>
            </a:pPr>
            <a:r>
              <a:rPr lang="en-US" sz="950" dirty="0">
                <a:solidFill>
                  <a:srgbClr val="17233B"/>
                </a:solidFill>
                <a:latin typeface="Calibri" pitchFamily="34" charset="0"/>
                <a:ea typeface="Calibri" pitchFamily="34" charset="-122"/>
                <a:cs typeface="Calibri" pitchFamily="34" charset="-120"/>
              </a:rPr>
              <a:t>Trained crews for block &amp; live-plant work</a:t>
            </a:r>
            <a:endParaRPr lang="en-US" sz="950" dirty="0"/>
          </a:p>
        </p:txBody>
      </p:sp>
      <p:sp>
        <p:nvSpPr>
          <p:cNvPr id="31" name="Shape 29"/>
          <p:cNvSpPr/>
          <p:nvPr/>
        </p:nvSpPr>
        <p:spPr>
          <a:xfrm>
            <a:off x="4480560" y="4151376"/>
            <a:ext cx="91440" cy="91440"/>
          </a:xfrm>
          <a:prstGeom prst="ellipse">
            <a:avLst/>
          </a:prstGeom>
          <a:solidFill>
            <a:srgbClr val="1E9E3C"/>
          </a:solidFill>
          <a:ln/>
        </p:spPr>
      </p:sp>
      <p:sp>
        <p:nvSpPr>
          <p:cNvPr id="32" name="Text 30"/>
          <p:cNvSpPr/>
          <p:nvPr/>
        </p:nvSpPr>
        <p:spPr>
          <a:xfrm>
            <a:off x="4645152" y="4069080"/>
            <a:ext cx="3108960" cy="457200"/>
          </a:xfrm>
          <a:prstGeom prst="rect">
            <a:avLst/>
          </a:prstGeom>
          <a:noFill/>
          <a:ln/>
        </p:spPr>
        <p:txBody>
          <a:bodyPr wrap="square" lIns="0" tIns="0" rIns="0" bIns="0" rtlCol="0" anchor="ctr"/>
          <a:lstStyle/>
          <a:p>
            <a:pPr indent="0" marL="0">
              <a:lnSpc>
                <a:spcPct val="95000"/>
              </a:lnSpc>
              <a:buNone/>
            </a:pPr>
            <a:r>
              <a:rPr lang="en-US" sz="950" dirty="0">
                <a:solidFill>
                  <a:srgbClr val="17233B"/>
                </a:solidFill>
                <a:latin typeface="Calibri" pitchFamily="34" charset="0"/>
                <a:ea typeface="Calibri" pitchFamily="34" charset="-122"/>
                <a:cs typeface="Calibri" pitchFamily="34" charset="-120"/>
              </a:rPr>
              <a:t>PPE compliance and site safety supervision</a:t>
            </a:r>
            <a:endParaRPr lang="en-US" sz="950" dirty="0"/>
          </a:p>
        </p:txBody>
      </p:sp>
      <p:sp>
        <p:nvSpPr>
          <p:cNvPr id="33" name="Shape 31"/>
          <p:cNvSpPr/>
          <p:nvPr/>
        </p:nvSpPr>
        <p:spPr>
          <a:xfrm>
            <a:off x="4480560" y="4700016"/>
            <a:ext cx="91440" cy="91440"/>
          </a:xfrm>
          <a:prstGeom prst="ellipse">
            <a:avLst/>
          </a:prstGeom>
          <a:solidFill>
            <a:srgbClr val="1E9E3C"/>
          </a:solidFill>
          <a:ln/>
        </p:spPr>
      </p:sp>
      <p:sp>
        <p:nvSpPr>
          <p:cNvPr id="34" name="Text 32"/>
          <p:cNvSpPr/>
          <p:nvPr/>
        </p:nvSpPr>
        <p:spPr>
          <a:xfrm>
            <a:off x="4645152" y="4617720"/>
            <a:ext cx="3108960" cy="457200"/>
          </a:xfrm>
          <a:prstGeom prst="rect">
            <a:avLst/>
          </a:prstGeom>
          <a:noFill/>
          <a:ln/>
        </p:spPr>
        <p:txBody>
          <a:bodyPr wrap="square" lIns="0" tIns="0" rIns="0" bIns="0" rtlCol="0" anchor="ctr"/>
          <a:lstStyle/>
          <a:p>
            <a:pPr indent="0" marL="0">
              <a:lnSpc>
                <a:spcPct val="95000"/>
              </a:lnSpc>
              <a:buNone/>
            </a:pPr>
            <a:r>
              <a:rPr lang="en-US" sz="950" dirty="0">
                <a:solidFill>
                  <a:srgbClr val="17233B"/>
                </a:solidFill>
                <a:latin typeface="Calibri" pitchFamily="34" charset="0"/>
                <a:ea typeface="Calibri" pitchFamily="34" charset="-122"/>
                <a:cs typeface="Calibri" pitchFamily="34" charset="-120"/>
              </a:rPr>
              <a:t>Incident reporting and corrective action</a:t>
            </a:r>
            <a:endParaRPr lang="en-US" sz="950" dirty="0"/>
          </a:p>
        </p:txBody>
      </p:sp>
      <p:sp>
        <p:nvSpPr>
          <p:cNvPr id="35" name="Shape 33"/>
          <p:cNvSpPr/>
          <p:nvPr/>
        </p:nvSpPr>
        <p:spPr>
          <a:xfrm>
            <a:off x="8065008" y="2148840"/>
            <a:ext cx="3657600" cy="3200400"/>
          </a:xfrm>
          <a:prstGeom prst="roundRect">
            <a:avLst>
              <a:gd name="adj" fmla="val 2286"/>
            </a:avLst>
          </a:prstGeom>
          <a:solidFill>
            <a:srgbClr val="F3F7F3"/>
          </a:solidFill>
          <a:ln/>
        </p:spPr>
      </p:sp>
      <p:sp>
        <p:nvSpPr>
          <p:cNvPr id="36" name="Shape 34"/>
          <p:cNvSpPr/>
          <p:nvPr/>
        </p:nvSpPr>
        <p:spPr>
          <a:xfrm>
            <a:off x="8065008" y="2148840"/>
            <a:ext cx="3657600" cy="658368"/>
          </a:xfrm>
          <a:prstGeom prst="roundRect">
            <a:avLst>
              <a:gd name="adj" fmla="val 11111"/>
            </a:avLst>
          </a:prstGeom>
          <a:solidFill>
            <a:srgbClr val="0E3020"/>
          </a:solidFill>
          <a:ln/>
        </p:spPr>
      </p:sp>
      <p:sp>
        <p:nvSpPr>
          <p:cNvPr id="37" name="Shape 35"/>
          <p:cNvSpPr/>
          <p:nvPr/>
        </p:nvSpPr>
        <p:spPr>
          <a:xfrm>
            <a:off x="8065008" y="2478024"/>
            <a:ext cx="3657600" cy="329184"/>
          </a:xfrm>
          <a:prstGeom prst="rect">
            <a:avLst/>
          </a:prstGeom>
          <a:solidFill>
            <a:srgbClr val="0E3020"/>
          </a:solidFill>
          <a:ln/>
        </p:spPr>
      </p:sp>
      <p:sp>
        <p:nvSpPr>
          <p:cNvPr id="38" name="Text 36"/>
          <p:cNvSpPr/>
          <p:nvPr/>
        </p:nvSpPr>
        <p:spPr>
          <a:xfrm>
            <a:off x="8284464" y="2240280"/>
            <a:ext cx="3291840" cy="228600"/>
          </a:xfrm>
          <a:prstGeom prst="rect">
            <a:avLst/>
          </a:prstGeom>
          <a:noFill/>
          <a:ln/>
        </p:spPr>
        <p:txBody>
          <a:bodyPr wrap="square" lIns="0" tIns="0" rIns="0" bIns="0" rtlCol="0" anchor="ctr"/>
          <a:lstStyle/>
          <a:p>
            <a:pPr indent="0" marL="0">
              <a:buNone/>
            </a:pPr>
            <a:r>
              <a:rPr lang="en-US" sz="900" b="1" dirty="0">
                <a:solidFill>
                  <a:srgbClr val="BFF0C6"/>
                </a:solidFill>
                <a:latin typeface="Poppins" pitchFamily="34" charset="0"/>
                <a:ea typeface="Poppins" pitchFamily="34" charset="-122"/>
                <a:cs typeface="Poppins" pitchFamily="34" charset="-120"/>
              </a:rPr>
              <a:t>COMPLIANCE</a:t>
            </a:r>
            <a:endParaRPr lang="en-US" sz="900" dirty="0"/>
          </a:p>
        </p:txBody>
      </p:sp>
      <p:sp>
        <p:nvSpPr>
          <p:cNvPr id="39" name="Text 37"/>
          <p:cNvSpPr/>
          <p:nvPr/>
        </p:nvSpPr>
        <p:spPr>
          <a:xfrm>
            <a:off x="8284464" y="2459736"/>
            <a:ext cx="3291840" cy="274320"/>
          </a:xfrm>
          <a:prstGeom prst="rect">
            <a:avLst/>
          </a:prstGeom>
          <a:noFill/>
          <a:ln/>
        </p:spPr>
        <p:txBody>
          <a:bodyPr wrap="square" lIns="0" tIns="0" rIns="0" bIns="0" rtlCol="0" anchor="ctr"/>
          <a:lstStyle/>
          <a:p>
            <a:pPr indent="0" marL="0">
              <a:buNone/>
            </a:pPr>
            <a:r>
              <a:rPr lang="en-US" sz="1300" b="1" dirty="0">
                <a:solidFill>
                  <a:srgbClr val="FFFFFF"/>
                </a:solidFill>
                <a:latin typeface="Poppins" pitchFamily="34" charset="0"/>
                <a:ea typeface="Poppins" pitchFamily="34" charset="-122"/>
                <a:cs typeface="Poppins" pitchFamily="34" charset="-120"/>
              </a:rPr>
              <a:t>Audit-Ready Always</a:t>
            </a:r>
            <a:endParaRPr lang="en-US" sz="1300" dirty="0"/>
          </a:p>
        </p:txBody>
      </p:sp>
      <p:sp>
        <p:nvSpPr>
          <p:cNvPr id="40" name="Shape 38"/>
          <p:cNvSpPr/>
          <p:nvPr/>
        </p:nvSpPr>
        <p:spPr>
          <a:xfrm>
            <a:off x="8284464" y="3054096"/>
            <a:ext cx="91440" cy="91440"/>
          </a:xfrm>
          <a:prstGeom prst="ellipse">
            <a:avLst/>
          </a:prstGeom>
          <a:solidFill>
            <a:srgbClr val="1E9E3C"/>
          </a:solidFill>
          <a:ln/>
        </p:spPr>
      </p:sp>
      <p:sp>
        <p:nvSpPr>
          <p:cNvPr id="41" name="Text 39"/>
          <p:cNvSpPr/>
          <p:nvPr/>
        </p:nvSpPr>
        <p:spPr>
          <a:xfrm>
            <a:off x="8449056" y="2971800"/>
            <a:ext cx="3108960" cy="457200"/>
          </a:xfrm>
          <a:prstGeom prst="rect">
            <a:avLst/>
          </a:prstGeom>
          <a:noFill/>
          <a:ln/>
        </p:spPr>
        <p:txBody>
          <a:bodyPr wrap="square" lIns="0" tIns="0" rIns="0" bIns="0" rtlCol="0" anchor="ctr"/>
          <a:lstStyle/>
          <a:p>
            <a:pPr indent="0" marL="0">
              <a:lnSpc>
                <a:spcPct val="95000"/>
              </a:lnSpc>
              <a:buNone/>
            </a:pPr>
            <a:r>
              <a:rPr lang="en-US" sz="950" dirty="0">
                <a:solidFill>
                  <a:srgbClr val="17233B"/>
                </a:solidFill>
                <a:latin typeface="Calibri" pitchFamily="34" charset="0"/>
                <a:ea typeface="Calibri" pitchFamily="34" charset="-122"/>
                <a:cs typeface="Calibri" pitchFamily="34" charset="-120"/>
              </a:rPr>
              <a:t>Indian Railways / departmental vendor norms</a:t>
            </a:r>
            <a:endParaRPr lang="en-US" sz="950" dirty="0"/>
          </a:p>
        </p:txBody>
      </p:sp>
      <p:sp>
        <p:nvSpPr>
          <p:cNvPr id="42" name="Shape 40"/>
          <p:cNvSpPr/>
          <p:nvPr/>
        </p:nvSpPr>
        <p:spPr>
          <a:xfrm>
            <a:off x="8284464" y="3602736"/>
            <a:ext cx="91440" cy="91440"/>
          </a:xfrm>
          <a:prstGeom prst="ellipse">
            <a:avLst/>
          </a:prstGeom>
          <a:solidFill>
            <a:srgbClr val="1E9E3C"/>
          </a:solidFill>
          <a:ln/>
        </p:spPr>
      </p:sp>
      <p:sp>
        <p:nvSpPr>
          <p:cNvPr id="43" name="Text 41"/>
          <p:cNvSpPr/>
          <p:nvPr/>
        </p:nvSpPr>
        <p:spPr>
          <a:xfrm>
            <a:off x="8449056" y="3520440"/>
            <a:ext cx="3108960" cy="457200"/>
          </a:xfrm>
          <a:prstGeom prst="rect">
            <a:avLst/>
          </a:prstGeom>
          <a:noFill/>
          <a:ln/>
        </p:spPr>
        <p:txBody>
          <a:bodyPr wrap="square" lIns="0" tIns="0" rIns="0" bIns="0" rtlCol="0" anchor="ctr"/>
          <a:lstStyle/>
          <a:p>
            <a:pPr indent="0" marL="0">
              <a:lnSpc>
                <a:spcPct val="95000"/>
              </a:lnSpc>
              <a:buNone/>
            </a:pPr>
            <a:r>
              <a:rPr lang="en-US" sz="950" dirty="0">
                <a:solidFill>
                  <a:srgbClr val="17233B"/>
                </a:solidFill>
                <a:latin typeface="Calibri" pitchFamily="34" charset="0"/>
                <a:ea typeface="Calibri" pitchFamily="34" charset="-122"/>
                <a:cs typeface="Calibri" pitchFamily="34" charset="-120"/>
              </a:rPr>
              <a:t>Statutory &amp; regulatory conformance</a:t>
            </a:r>
            <a:endParaRPr lang="en-US" sz="950" dirty="0"/>
          </a:p>
        </p:txBody>
      </p:sp>
      <p:sp>
        <p:nvSpPr>
          <p:cNvPr id="44" name="Shape 42"/>
          <p:cNvSpPr/>
          <p:nvPr/>
        </p:nvSpPr>
        <p:spPr>
          <a:xfrm>
            <a:off x="8284464" y="4151376"/>
            <a:ext cx="91440" cy="91440"/>
          </a:xfrm>
          <a:prstGeom prst="ellipse">
            <a:avLst/>
          </a:prstGeom>
          <a:solidFill>
            <a:srgbClr val="1E9E3C"/>
          </a:solidFill>
          <a:ln/>
        </p:spPr>
      </p:sp>
      <p:sp>
        <p:nvSpPr>
          <p:cNvPr id="45" name="Text 43"/>
          <p:cNvSpPr/>
          <p:nvPr/>
        </p:nvSpPr>
        <p:spPr>
          <a:xfrm>
            <a:off x="8449056" y="4069080"/>
            <a:ext cx="3108960" cy="457200"/>
          </a:xfrm>
          <a:prstGeom prst="rect">
            <a:avLst/>
          </a:prstGeom>
          <a:noFill/>
          <a:ln/>
        </p:spPr>
        <p:txBody>
          <a:bodyPr wrap="square" lIns="0" tIns="0" rIns="0" bIns="0" rtlCol="0" anchor="ctr"/>
          <a:lstStyle/>
          <a:p>
            <a:pPr indent="0" marL="0">
              <a:lnSpc>
                <a:spcPct val="95000"/>
              </a:lnSpc>
              <a:buNone/>
            </a:pPr>
            <a:r>
              <a:rPr lang="en-US" sz="950" dirty="0">
                <a:solidFill>
                  <a:srgbClr val="17233B"/>
                </a:solidFill>
                <a:latin typeface="Calibri" pitchFamily="34" charset="0"/>
                <a:ea typeface="Calibri" pitchFamily="34" charset="-122"/>
                <a:cs typeface="Calibri" pitchFamily="34" charset="-120"/>
              </a:rPr>
              <a:t>GST-compliant billing &amp; documentation</a:t>
            </a:r>
            <a:endParaRPr lang="en-US" sz="950" dirty="0"/>
          </a:p>
        </p:txBody>
      </p:sp>
      <p:sp>
        <p:nvSpPr>
          <p:cNvPr id="46" name="Shape 44"/>
          <p:cNvSpPr/>
          <p:nvPr/>
        </p:nvSpPr>
        <p:spPr>
          <a:xfrm>
            <a:off x="8284464" y="4700016"/>
            <a:ext cx="91440" cy="91440"/>
          </a:xfrm>
          <a:prstGeom prst="ellipse">
            <a:avLst/>
          </a:prstGeom>
          <a:solidFill>
            <a:srgbClr val="1E9E3C"/>
          </a:solidFill>
          <a:ln/>
        </p:spPr>
      </p:sp>
      <p:sp>
        <p:nvSpPr>
          <p:cNvPr id="47" name="Text 45"/>
          <p:cNvSpPr/>
          <p:nvPr/>
        </p:nvSpPr>
        <p:spPr>
          <a:xfrm>
            <a:off x="8449056" y="4617720"/>
            <a:ext cx="3108960" cy="457200"/>
          </a:xfrm>
          <a:prstGeom prst="rect">
            <a:avLst/>
          </a:prstGeom>
          <a:noFill/>
          <a:ln/>
        </p:spPr>
        <p:txBody>
          <a:bodyPr wrap="square" lIns="0" tIns="0" rIns="0" bIns="0" rtlCol="0" anchor="ctr"/>
          <a:lstStyle/>
          <a:p>
            <a:pPr indent="0" marL="0">
              <a:lnSpc>
                <a:spcPct val="95000"/>
              </a:lnSpc>
              <a:buNone/>
            </a:pPr>
            <a:r>
              <a:rPr lang="en-US" sz="950" dirty="0">
                <a:solidFill>
                  <a:srgbClr val="17233B"/>
                </a:solidFill>
                <a:latin typeface="Calibri" pitchFamily="34" charset="0"/>
                <a:ea typeface="Calibri" pitchFamily="34" charset="-122"/>
                <a:cs typeface="Calibri" pitchFamily="34" charset="-120"/>
              </a:rPr>
              <a:t>Traceable measurement books &amp; approvals</a:t>
            </a:r>
            <a:endParaRPr lang="en-US" sz="950" dirty="0"/>
          </a:p>
        </p:txBody>
      </p:sp>
      <p:sp>
        <p:nvSpPr>
          <p:cNvPr id="48" name="Shape 46"/>
          <p:cNvSpPr/>
          <p:nvPr/>
        </p:nvSpPr>
        <p:spPr>
          <a:xfrm>
            <a:off x="457200" y="5577840"/>
            <a:ext cx="11274552" cy="868680"/>
          </a:xfrm>
          <a:prstGeom prst="roundRect">
            <a:avLst>
              <a:gd name="adj" fmla="val 10526"/>
            </a:avLst>
          </a:prstGeom>
          <a:solidFill>
            <a:srgbClr val="0E3020"/>
          </a:solidFill>
          <a:ln/>
        </p:spPr>
      </p:sp>
      <p:sp>
        <p:nvSpPr>
          <p:cNvPr id="49" name="Text 47"/>
          <p:cNvSpPr/>
          <p:nvPr/>
        </p:nvSpPr>
        <p:spPr>
          <a:xfrm>
            <a:off x="731520" y="5742432"/>
            <a:ext cx="5486400" cy="274320"/>
          </a:xfrm>
          <a:prstGeom prst="rect">
            <a:avLst/>
          </a:prstGeom>
          <a:noFill/>
          <a:ln/>
        </p:spPr>
        <p:txBody>
          <a:bodyPr wrap="square" lIns="0" tIns="0" rIns="0" bIns="0" rtlCol="0" anchor="ctr"/>
          <a:lstStyle/>
          <a:p>
            <a:pPr indent="0" marL="0">
              <a:buNone/>
            </a:pPr>
            <a:r>
              <a:rPr lang="en-US" sz="1000" b="1" dirty="0">
                <a:solidFill>
                  <a:srgbClr val="BFF0C6"/>
                </a:solidFill>
                <a:latin typeface="Poppins" pitchFamily="34" charset="0"/>
                <a:ea typeface="Poppins" pitchFamily="34" charset="-122"/>
                <a:cs typeface="Poppins" pitchFamily="34" charset="-120"/>
              </a:rPr>
              <a:t>OUR COMMITMENT</a:t>
            </a:r>
            <a:endParaRPr lang="en-US" sz="1000" dirty="0"/>
          </a:p>
        </p:txBody>
      </p:sp>
      <p:sp>
        <p:nvSpPr>
          <p:cNvPr id="50" name="Text 48"/>
          <p:cNvSpPr/>
          <p:nvPr/>
        </p:nvSpPr>
        <p:spPr>
          <a:xfrm>
            <a:off x="731520" y="6035040"/>
            <a:ext cx="10607040" cy="365760"/>
          </a:xfrm>
          <a:prstGeom prst="rect">
            <a:avLst/>
          </a:prstGeom>
          <a:noFill/>
          <a:ln/>
        </p:spPr>
        <p:txBody>
          <a:bodyPr wrap="square" lIns="0" tIns="0" rIns="0" bIns="0"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“We deliver work that is safe to build, built to last, and ready for audit — on every single project.”</a:t>
            </a:r>
            <a:endParaRPr lang="en-US" sz="1200" dirty="0"/>
          </a:p>
        </p:txBody>
      </p:sp>
      <p:sp>
        <p:nvSpPr>
          <p:cNvPr id="51" name="Text 49"/>
          <p:cNvSpPr/>
          <p:nvPr/>
        </p:nvSpPr>
        <p:spPr>
          <a:xfrm>
            <a:off x="457200" y="6455664"/>
            <a:ext cx="4572000" cy="274320"/>
          </a:xfrm>
          <a:prstGeom prst="rect">
            <a:avLst/>
          </a:prstGeom>
          <a:noFill/>
          <a:ln/>
        </p:spPr>
        <p:txBody>
          <a:bodyPr wrap="square" lIns="0" tIns="0" rIns="0" bIns="0" rtlCol="0" anchor="ctr"/>
          <a:lstStyle/>
          <a:p>
            <a:pPr algn="l" indent="0" marL="0">
              <a:buNone/>
            </a:pPr>
            <a:r>
              <a:rPr lang="en-US" sz="750" dirty="0">
                <a:solidFill>
                  <a:srgbClr val="5B6478"/>
                </a:solidFill>
                <a:latin typeface="Calibri" pitchFamily="34" charset="0"/>
                <a:ea typeface="Calibri" pitchFamily="34" charset="-122"/>
                <a:cs typeface="Calibri" pitchFamily="34" charset="-120"/>
              </a:rPr>
              <a:t>NAVGROW ENGINEERING SERVICE PVT. LTD.</a:t>
            </a:r>
            <a:endParaRPr lang="en-US" sz="750" dirty="0"/>
          </a:p>
        </p:txBody>
      </p:sp>
      <p:sp>
        <p:nvSpPr>
          <p:cNvPr id="52" name="Text 50"/>
          <p:cNvSpPr/>
          <p:nvPr/>
        </p:nvSpPr>
        <p:spPr>
          <a:xfrm>
            <a:off x="4023360" y="6455664"/>
            <a:ext cx="4114800" cy="274320"/>
          </a:xfrm>
          <a:prstGeom prst="rect">
            <a:avLst/>
          </a:prstGeom>
          <a:noFill/>
          <a:ln/>
        </p:spPr>
        <p:txBody>
          <a:bodyPr wrap="square" lIns="0" tIns="0" rIns="0" bIns="0" rtlCol="0" anchor="ctr"/>
          <a:lstStyle/>
          <a:p>
            <a:pPr algn="ctr" indent="0" marL="0">
              <a:buNone/>
            </a:pPr>
            <a:r>
              <a:rPr lang="en-US" sz="750" dirty="0">
                <a:solidFill>
                  <a:srgbClr val="5B6478"/>
                </a:solidFill>
                <a:latin typeface="Calibri" pitchFamily="34" charset="0"/>
                <a:ea typeface="Calibri" pitchFamily="34" charset="-122"/>
                <a:cs typeface="Calibri" pitchFamily="34" charset="-120"/>
              </a:rPr>
              <a:t>QUALITY &amp; SAFETY</a:t>
            </a:r>
            <a:endParaRPr lang="en-US" sz="750" dirty="0"/>
          </a:p>
        </p:txBody>
      </p:sp>
      <p:sp>
        <p:nvSpPr>
          <p:cNvPr id="53" name="Shape 51"/>
          <p:cNvSpPr/>
          <p:nvPr/>
        </p:nvSpPr>
        <p:spPr>
          <a:xfrm>
            <a:off x="11430000" y="6419088"/>
            <a:ext cx="274320" cy="274320"/>
          </a:xfrm>
          <a:prstGeom prst="ellipse">
            <a:avLst/>
          </a:prstGeom>
          <a:solidFill>
            <a:srgbClr val="1E9E3C"/>
          </a:solidFill>
          <a:ln/>
        </p:spPr>
      </p:sp>
      <p:sp>
        <p:nvSpPr>
          <p:cNvPr id="54" name="Text 52"/>
          <p:cNvSpPr/>
          <p:nvPr/>
        </p:nvSpPr>
        <p:spPr>
          <a:xfrm>
            <a:off x="11430000" y="6419088"/>
            <a:ext cx="2743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Poppins" pitchFamily="34" charset="0"/>
                <a:ea typeface="Poppins" pitchFamily="34" charset="-122"/>
                <a:cs typeface="Poppins"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E3020"/>
          </a:solidFill>
          <a:ln/>
        </p:spPr>
      </p:sp>
      <p:sp>
        <p:nvSpPr>
          <p:cNvPr id="3" name="Shape 1"/>
          <p:cNvSpPr/>
          <p:nvPr/>
        </p:nvSpPr>
        <p:spPr>
          <a:xfrm>
            <a:off x="0" y="1051560"/>
            <a:ext cx="12188952" cy="54864"/>
          </a:xfrm>
          <a:prstGeom prst="rect">
            <a:avLst/>
          </a:prstGeom>
          <a:solidFill>
            <a:srgbClr val="1E9E3C"/>
          </a:solidFill>
          <a:ln/>
        </p:spPr>
      </p:sp>
      <p:sp>
        <p:nvSpPr>
          <p:cNvPr id="4" name="Text 2"/>
          <p:cNvSpPr/>
          <p:nvPr/>
        </p:nvSpPr>
        <p:spPr>
          <a:xfrm>
            <a:off x="457200" y="164592"/>
            <a:ext cx="7315200" cy="274320"/>
          </a:xfrm>
          <a:prstGeom prst="rect">
            <a:avLst/>
          </a:prstGeom>
          <a:noFill/>
          <a:ln/>
        </p:spPr>
        <p:txBody>
          <a:bodyPr wrap="square" lIns="0" tIns="0" rIns="0" bIns="0" rtlCol="0" anchor="ctr"/>
          <a:lstStyle/>
          <a:p>
            <a:pPr indent="0" marL="0">
              <a:buNone/>
            </a:pPr>
            <a:r>
              <a:rPr lang="en-US" sz="1050" b="1" dirty="0">
                <a:solidFill>
                  <a:srgbClr val="BFF0C6"/>
                </a:solidFill>
                <a:latin typeface="Calibri" pitchFamily="34" charset="0"/>
                <a:ea typeface="Calibri" pitchFamily="34" charset="-122"/>
                <a:cs typeface="Calibri" pitchFamily="34" charset="-120"/>
              </a:rPr>
              <a:t>WHY NAVGROW</a:t>
            </a:r>
            <a:endParaRPr lang="en-US" sz="1050" dirty="0"/>
          </a:p>
        </p:txBody>
      </p:sp>
      <p:sp>
        <p:nvSpPr>
          <p:cNvPr id="5" name="Text 3"/>
          <p:cNvSpPr/>
          <p:nvPr/>
        </p:nvSpPr>
        <p:spPr>
          <a:xfrm>
            <a:off x="457200" y="420624"/>
            <a:ext cx="9144000" cy="548640"/>
          </a:xfrm>
          <a:prstGeom prst="rect">
            <a:avLst/>
          </a:prstGeom>
          <a:noFill/>
          <a:ln/>
        </p:spPr>
        <p:txBody>
          <a:bodyPr wrap="square" lIns="0" tIns="0" rIns="0" bIns="0" rtlCol="0" anchor="ctr"/>
          <a:lstStyle/>
          <a:p>
            <a:pPr indent="0" marL="0">
              <a:buNone/>
            </a:pPr>
            <a:r>
              <a:rPr lang="en-US" sz="2500" b="1" dirty="0">
                <a:solidFill>
                  <a:srgbClr val="FFFFFF"/>
                </a:solidFill>
                <a:latin typeface="Poppins" pitchFamily="34" charset="0"/>
                <a:ea typeface="Poppins" pitchFamily="34" charset="-122"/>
                <a:cs typeface="Poppins" pitchFamily="34" charset="-120"/>
              </a:rPr>
              <a:t>Built on Trust. Proven by Delivery.</a:t>
            </a:r>
            <a:endParaRPr lang="en-US" sz="2500" dirty="0"/>
          </a:p>
        </p:txBody>
      </p:sp>
      <p:sp>
        <p:nvSpPr>
          <p:cNvPr id="6" name="Text 4"/>
          <p:cNvSpPr/>
          <p:nvPr/>
        </p:nvSpPr>
        <p:spPr>
          <a:xfrm>
            <a:off x="7772400" y="274320"/>
            <a:ext cx="3959352" cy="274320"/>
          </a:xfrm>
          <a:prstGeom prst="rect">
            <a:avLst/>
          </a:prstGeom>
          <a:noFill/>
          <a:ln/>
        </p:spPr>
        <p:txBody>
          <a:bodyPr wrap="square" lIns="0" tIns="0" rIns="0" bIns="0" rtlCol="0" anchor="ctr"/>
          <a:lstStyle/>
          <a:p>
            <a:pPr algn="r" indent="0" marL="0">
              <a:buNone/>
            </a:pPr>
            <a:r>
              <a:rPr lang="en-US" sz="1300" b="1" dirty="0">
                <a:solidFill>
                  <a:srgbClr val="FFFFFF"/>
                </a:solidFill>
                <a:latin typeface="Poppins" pitchFamily="34" charset="0"/>
                <a:ea typeface="Poppins" pitchFamily="34" charset="-122"/>
                <a:cs typeface="Poppins" pitchFamily="34" charset="-120"/>
              </a:rPr>
              <a:t>NAVGROW</a:t>
            </a:r>
            <a:endParaRPr lang="en-US" sz="1300" dirty="0"/>
          </a:p>
        </p:txBody>
      </p:sp>
      <p:sp>
        <p:nvSpPr>
          <p:cNvPr id="7" name="Text 5"/>
          <p:cNvSpPr/>
          <p:nvPr/>
        </p:nvSpPr>
        <p:spPr>
          <a:xfrm>
            <a:off x="7772400" y="548640"/>
            <a:ext cx="3959352" cy="228600"/>
          </a:xfrm>
          <a:prstGeom prst="rect">
            <a:avLst/>
          </a:prstGeom>
          <a:noFill/>
          <a:ln/>
        </p:spPr>
        <p:txBody>
          <a:bodyPr wrap="square" lIns="0" tIns="0" rIns="0" bIns="0" rtlCol="0" anchor="ctr"/>
          <a:lstStyle/>
          <a:p>
            <a:pPr algn="r" indent="0" marL="0">
              <a:buNone/>
            </a:pPr>
            <a:r>
              <a:rPr lang="en-US" sz="750" dirty="0">
                <a:solidFill>
                  <a:srgbClr val="CFEFD4"/>
                </a:solidFill>
                <a:latin typeface="Calibri" pitchFamily="34" charset="0"/>
                <a:ea typeface="Calibri" pitchFamily="34" charset="-122"/>
                <a:cs typeface="Calibri" pitchFamily="34" charset="-120"/>
              </a:rPr>
              <a:t>ENGINEERING SERVICE PVT. LTD.</a:t>
            </a:r>
            <a:endParaRPr lang="en-US" sz="750" dirty="0"/>
          </a:p>
        </p:txBody>
      </p:sp>
      <p:sp>
        <p:nvSpPr>
          <p:cNvPr id="8" name="Text 6"/>
          <p:cNvSpPr/>
          <p:nvPr/>
        </p:nvSpPr>
        <p:spPr>
          <a:xfrm>
            <a:off x="457200" y="1280160"/>
            <a:ext cx="5486400" cy="320040"/>
          </a:xfrm>
          <a:prstGeom prst="rect">
            <a:avLst/>
          </a:prstGeom>
          <a:noFill/>
          <a:ln/>
        </p:spPr>
        <p:txBody>
          <a:bodyPr wrap="square" lIns="0" tIns="0" rIns="0" bIns="0" rtlCol="0" anchor="ctr"/>
          <a:lstStyle/>
          <a:p>
            <a:pPr indent="0" marL="0">
              <a:buNone/>
            </a:pPr>
            <a:r>
              <a:rPr lang="en-US" sz="1400" b="1" dirty="0">
                <a:solidFill>
                  <a:srgbClr val="0E3020"/>
                </a:solidFill>
                <a:latin typeface="Poppins" pitchFamily="34" charset="0"/>
                <a:ea typeface="Poppins" pitchFamily="34" charset="-122"/>
                <a:cs typeface="Poppins" pitchFamily="34" charset="-120"/>
              </a:rPr>
              <a:t>What Sets Us Apart</a:t>
            </a:r>
            <a:endParaRPr lang="en-US" sz="1400" dirty="0"/>
          </a:p>
        </p:txBody>
      </p:sp>
      <p:sp>
        <p:nvSpPr>
          <p:cNvPr id="9" name="Shape 7"/>
          <p:cNvSpPr/>
          <p:nvPr/>
        </p:nvSpPr>
        <p:spPr>
          <a:xfrm>
            <a:off x="457200" y="1709928"/>
            <a:ext cx="310896" cy="310896"/>
          </a:xfrm>
          <a:prstGeom prst="ellipse">
            <a:avLst/>
          </a:prstGeom>
          <a:solidFill>
            <a:srgbClr val="1E9E3C"/>
          </a:solidFill>
          <a:ln/>
        </p:spPr>
      </p:sp>
      <p:sp>
        <p:nvSpPr>
          <p:cNvPr id="10" name="Text 8"/>
          <p:cNvSpPr/>
          <p:nvPr/>
        </p:nvSpPr>
        <p:spPr>
          <a:xfrm>
            <a:off x="457200" y="170992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Poppins" pitchFamily="34" charset="0"/>
                <a:ea typeface="Poppins" pitchFamily="34" charset="-122"/>
                <a:cs typeface="Poppins" pitchFamily="34" charset="-120"/>
              </a:rPr>
              <a:t>✓</a:t>
            </a:r>
            <a:endParaRPr lang="en-US" sz="1300" dirty="0"/>
          </a:p>
        </p:txBody>
      </p:sp>
      <p:sp>
        <p:nvSpPr>
          <p:cNvPr id="11" name="Text 9"/>
          <p:cNvSpPr/>
          <p:nvPr/>
        </p:nvSpPr>
        <p:spPr>
          <a:xfrm>
            <a:off x="896112" y="1655064"/>
            <a:ext cx="5852160" cy="310896"/>
          </a:xfrm>
          <a:prstGeom prst="rect">
            <a:avLst/>
          </a:prstGeom>
          <a:noFill/>
          <a:ln/>
        </p:spPr>
        <p:txBody>
          <a:bodyPr wrap="square" lIns="0" tIns="0" rIns="0" bIns="0" rtlCol="0" anchor="ctr"/>
          <a:lstStyle/>
          <a:p>
            <a:pPr indent="0" marL="0">
              <a:buNone/>
            </a:pPr>
            <a:r>
              <a:rPr lang="en-US" sz="1200" b="1" dirty="0">
                <a:solidFill>
                  <a:srgbClr val="17233B"/>
                </a:solidFill>
                <a:latin typeface="Poppins" pitchFamily="34" charset="0"/>
                <a:ea typeface="Poppins" pitchFamily="34" charset="-122"/>
                <a:cs typeface="Poppins" pitchFamily="34" charset="-120"/>
              </a:rPr>
              <a:t>Quality-First, Every Time</a:t>
            </a:r>
            <a:endParaRPr lang="en-US" sz="1200" dirty="0"/>
          </a:p>
        </p:txBody>
      </p:sp>
      <p:sp>
        <p:nvSpPr>
          <p:cNvPr id="12" name="Text 10"/>
          <p:cNvSpPr/>
          <p:nvPr/>
        </p:nvSpPr>
        <p:spPr>
          <a:xfrm>
            <a:off x="896112" y="1965960"/>
            <a:ext cx="5943600" cy="548640"/>
          </a:xfrm>
          <a:prstGeom prst="rect">
            <a:avLst/>
          </a:prstGeom>
          <a:noFill/>
          <a:ln/>
        </p:spPr>
        <p:txBody>
          <a:bodyPr wrap="square" lIns="0" tIns="0" rIns="0" bIns="0" rtlCol="0" anchor="ctr"/>
          <a:lstStyle/>
          <a:p>
            <a:pPr indent="0" marL="0">
              <a:lnSpc>
                <a:spcPct val="100000"/>
              </a:lnSpc>
              <a:buNone/>
            </a:pPr>
            <a:r>
              <a:rPr lang="en-US" sz="950" dirty="0">
                <a:solidFill>
                  <a:srgbClr val="5B6478"/>
                </a:solidFill>
                <a:latin typeface="Calibri" pitchFamily="34" charset="0"/>
                <a:ea typeface="Calibri" pitchFamily="34" charset="-122"/>
                <a:cs typeface="Calibri" pitchFamily="34" charset="-120"/>
              </a:rPr>
              <a:t>ISI-marked materials, tested components and documentation ready for audit on every job.</a:t>
            </a:r>
            <a:endParaRPr lang="en-US" sz="950" dirty="0"/>
          </a:p>
        </p:txBody>
      </p:sp>
      <p:sp>
        <p:nvSpPr>
          <p:cNvPr id="13" name="Shape 11"/>
          <p:cNvSpPr/>
          <p:nvPr/>
        </p:nvSpPr>
        <p:spPr>
          <a:xfrm>
            <a:off x="457200" y="2642616"/>
            <a:ext cx="310896" cy="310896"/>
          </a:xfrm>
          <a:prstGeom prst="ellipse">
            <a:avLst/>
          </a:prstGeom>
          <a:solidFill>
            <a:srgbClr val="1E9E3C"/>
          </a:solidFill>
          <a:ln/>
        </p:spPr>
      </p:sp>
      <p:sp>
        <p:nvSpPr>
          <p:cNvPr id="14" name="Text 12"/>
          <p:cNvSpPr/>
          <p:nvPr/>
        </p:nvSpPr>
        <p:spPr>
          <a:xfrm>
            <a:off x="457200" y="264261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Poppins" pitchFamily="34" charset="0"/>
                <a:ea typeface="Poppins" pitchFamily="34" charset="-122"/>
                <a:cs typeface="Poppins" pitchFamily="34" charset="-120"/>
              </a:rPr>
              <a:t>✓</a:t>
            </a:r>
            <a:endParaRPr lang="en-US" sz="1300" dirty="0"/>
          </a:p>
        </p:txBody>
      </p:sp>
      <p:sp>
        <p:nvSpPr>
          <p:cNvPr id="15" name="Text 13"/>
          <p:cNvSpPr/>
          <p:nvPr/>
        </p:nvSpPr>
        <p:spPr>
          <a:xfrm>
            <a:off x="896112" y="2587752"/>
            <a:ext cx="5852160" cy="310896"/>
          </a:xfrm>
          <a:prstGeom prst="rect">
            <a:avLst/>
          </a:prstGeom>
          <a:noFill/>
          <a:ln/>
        </p:spPr>
        <p:txBody>
          <a:bodyPr wrap="square" lIns="0" tIns="0" rIns="0" bIns="0" rtlCol="0" anchor="ctr"/>
          <a:lstStyle/>
          <a:p>
            <a:pPr indent="0" marL="0">
              <a:buNone/>
            </a:pPr>
            <a:r>
              <a:rPr lang="en-US" sz="1200" b="1" dirty="0">
                <a:solidFill>
                  <a:srgbClr val="17233B"/>
                </a:solidFill>
                <a:latin typeface="Poppins" pitchFamily="34" charset="0"/>
                <a:ea typeface="Poppins" pitchFamily="34" charset="-122"/>
                <a:cs typeface="Poppins" pitchFamily="34" charset="-120"/>
              </a:rPr>
              <a:t>Approved-Vendor Discipline</a:t>
            </a:r>
            <a:endParaRPr lang="en-US" sz="1200" dirty="0"/>
          </a:p>
        </p:txBody>
      </p:sp>
      <p:sp>
        <p:nvSpPr>
          <p:cNvPr id="16" name="Text 14"/>
          <p:cNvSpPr/>
          <p:nvPr/>
        </p:nvSpPr>
        <p:spPr>
          <a:xfrm>
            <a:off x="896112" y="2898648"/>
            <a:ext cx="5943600" cy="548640"/>
          </a:xfrm>
          <a:prstGeom prst="rect">
            <a:avLst/>
          </a:prstGeom>
          <a:noFill/>
          <a:ln/>
        </p:spPr>
        <p:txBody>
          <a:bodyPr wrap="square" lIns="0" tIns="0" rIns="0" bIns="0" rtlCol="0" anchor="ctr"/>
          <a:lstStyle/>
          <a:p>
            <a:pPr indent="0" marL="0">
              <a:lnSpc>
                <a:spcPct val="100000"/>
              </a:lnSpc>
              <a:buNone/>
            </a:pPr>
            <a:r>
              <a:rPr lang="en-US" sz="950" dirty="0">
                <a:solidFill>
                  <a:srgbClr val="5B6478"/>
                </a:solidFill>
                <a:latin typeface="Calibri" pitchFamily="34" charset="0"/>
                <a:ea typeface="Calibri" pitchFamily="34" charset="-122"/>
                <a:cs typeface="Calibri" pitchFamily="34" charset="-120"/>
              </a:rPr>
              <a:t>Working to Indian Railways and departmental norms — trained for block-working and live-plant conditions.</a:t>
            </a:r>
            <a:endParaRPr lang="en-US" sz="950" dirty="0"/>
          </a:p>
        </p:txBody>
      </p:sp>
      <p:sp>
        <p:nvSpPr>
          <p:cNvPr id="17" name="Shape 15"/>
          <p:cNvSpPr/>
          <p:nvPr/>
        </p:nvSpPr>
        <p:spPr>
          <a:xfrm>
            <a:off x="457200" y="3575304"/>
            <a:ext cx="310896" cy="310896"/>
          </a:xfrm>
          <a:prstGeom prst="ellipse">
            <a:avLst/>
          </a:prstGeom>
          <a:solidFill>
            <a:srgbClr val="1E9E3C"/>
          </a:solidFill>
          <a:ln/>
        </p:spPr>
      </p:sp>
      <p:sp>
        <p:nvSpPr>
          <p:cNvPr id="18" name="Text 16"/>
          <p:cNvSpPr/>
          <p:nvPr/>
        </p:nvSpPr>
        <p:spPr>
          <a:xfrm>
            <a:off x="457200" y="357530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Poppins" pitchFamily="34" charset="0"/>
                <a:ea typeface="Poppins" pitchFamily="34" charset="-122"/>
                <a:cs typeface="Poppins" pitchFamily="34" charset="-120"/>
              </a:rPr>
              <a:t>✓</a:t>
            </a:r>
            <a:endParaRPr lang="en-US" sz="1300" dirty="0"/>
          </a:p>
        </p:txBody>
      </p:sp>
      <p:sp>
        <p:nvSpPr>
          <p:cNvPr id="19" name="Text 17"/>
          <p:cNvSpPr/>
          <p:nvPr/>
        </p:nvSpPr>
        <p:spPr>
          <a:xfrm>
            <a:off x="896112" y="3520440"/>
            <a:ext cx="5852160" cy="310896"/>
          </a:xfrm>
          <a:prstGeom prst="rect">
            <a:avLst/>
          </a:prstGeom>
          <a:noFill/>
          <a:ln/>
        </p:spPr>
        <p:txBody>
          <a:bodyPr wrap="square" lIns="0" tIns="0" rIns="0" bIns="0" rtlCol="0" anchor="ctr"/>
          <a:lstStyle/>
          <a:p>
            <a:pPr indent="0" marL="0">
              <a:buNone/>
            </a:pPr>
            <a:r>
              <a:rPr lang="en-US" sz="1200" b="1" dirty="0">
                <a:solidFill>
                  <a:srgbClr val="17233B"/>
                </a:solidFill>
                <a:latin typeface="Poppins" pitchFamily="34" charset="0"/>
                <a:ea typeface="Poppins" pitchFamily="34" charset="-122"/>
                <a:cs typeface="Poppins" pitchFamily="34" charset="-120"/>
              </a:rPr>
              <a:t>One Accountable Partner</a:t>
            </a:r>
            <a:endParaRPr lang="en-US" sz="1200" dirty="0"/>
          </a:p>
        </p:txBody>
      </p:sp>
      <p:sp>
        <p:nvSpPr>
          <p:cNvPr id="20" name="Text 18"/>
          <p:cNvSpPr/>
          <p:nvPr/>
        </p:nvSpPr>
        <p:spPr>
          <a:xfrm>
            <a:off x="896112" y="3831336"/>
            <a:ext cx="5943600" cy="548640"/>
          </a:xfrm>
          <a:prstGeom prst="rect">
            <a:avLst/>
          </a:prstGeom>
          <a:noFill/>
          <a:ln/>
        </p:spPr>
        <p:txBody>
          <a:bodyPr wrap="square" lIns="0" tIns="0" rIns="0" bIns="0" rtlCol="0" anchor="ctr"/>
          <a:lstStyle/>
          <a:p>
            <a:pPr indent="0" marL="0">
              <a:lnSpc>
                <a:spcPct val="100000"/>
              </a:lnSpc>
              <a:buNone/>
            </a:pPr>
            <a:r>
              <a:rPr lang="en-US" sz="950" dirty="0">
                <a:solidFill>
                  <a:srgbClr val="5B6478"/>
                </a:solidFill>
                <a:latin typeface="Calibri" pitchFamily="34" charset="0"/>
                <a:ea typeface="Calibri" pitchFamily="34" charset="-122"/>
                <a:cs typeface="Calibri" pitchFamily="34" charset="-120"/>
              </a:rPr>
              <a:t>Design, supply, execution and maintenance under a single, named point of responsibility.</a:t>
            </a:r>
            <a:endParaRPr lang="en-US" sz="950" dirty="0"/>
          </a:p>
        </p:txBody>
      </p:sp>
      <p:sp>
        <p:nvSpPr>
          <p:cNvPr id="21" name="Shape 19"/>
          <p:cNvSpPr/>
          <p:nvPr/>
        </p:nvSpPr>
        <p:spPr>
          <a:xfrm>
            <a:off x="457200" y="4507992"/>
            <a:ext cx="310896" cy="310896"/>
          </a:xfrm>
          <a:prstGeom prst="ellipse">
            <a:avLst/>
          </a:prstGeom>
          <a:solidFill>
            <a:srgbClr val="1E9E3C"/>
          </a:solidFill>
          <a:ln/>
        </p:spPr>
      </p:sp>
      <p:sp>
        <p:nvSpPr>
          <p:cNvPr id="22" name="Text 20"/>
          <p:cNvSpPr/>
          <p:nvPr/>
        </p:nvSpPr>
        <p:spPr>
          <a:xfrm>
            <a:off x="457200" y="450799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Poppins" pitchFamily="34" charset="0"/>
                <a:ea typeface="Poppins" pitchFamily="34" charset="-122"/>
                <a:cs typeface="Poppins" pitchFamily="34" charset="-120"/>
              </a:rPr>
              <a:t>✓</a:t>
            </a:r>
            <a:endParaRPr lang="en-US" sz="1300" dirty="0"/>
          </a:p>
        </p:txBody>
      </p:sp>
      <p:sp>
        <p:nvSpPr>
          <p:cNvPr id="23" name="Text 21"/>
          <p:cNvSpPr/>
          <p:nvPr/>
        </p:nvSpPr>
        <p:spPr>
          <a:xfrm>
            <a:off x="896112" y="4453128"/>
            <a:ext cx="5852160" cy="310896"/>
          </a:xfrm>
          <a:prstGeom prst="rect">
            <a:avLst/>
          </a:prstGeom>
          <a:noFill/>
          <a:ln/>
        </p:spPr>
        <p:txBody>
          <a:bodyPr wrap="square" lIns="0" tIns="0" rIns="0" bIns="0" rtlCol="0" anchor="ctr"/>
          <a:lstStyle/>
          <a:p>
            <a:pPr indent="0" marL="0">
              <a:buNone/>
            </a:pPr>
            <a:r>
              <a:rPr lang="en-US" sz="1200" b="1" dirty="0">
                <a:solidFill>
                  <a:srgbClr val="17233B"/>
                </a:solidFill>
                <a:latin typeface="Poppins" pitchFamily="34" charset="0"/>
                <a:ea typeface="Poppins" pitchFamily="34" charset="-122"/>
                <a:cs typeface="Poppins" pitchFamily="34" charset="-120"/>
              </a:rPr>
              <a:t>On-Time, On-Budget</a:t>
            </a:r>
            <a:endParaRPr lang="en-US" sz="1200" dirty="0"/>
          </a:p>
        </p:txBody>
      </p:sp>
      <p:sp>
        <p:nvSpPr>
          <p:cNvPr id="24" name="Text 22"/>
          <p:cNvSpPr/>
          <p:nvPr/>
        </p:nvSpPr>
        <p:spPr>
          <a:xfrm>
            <a:off x="896112" y="4764024"/>
            <a:ext cx="5943600" cy="548640"/>
          </a:xfrm>
          <a:prstGeom prst="rect">
            <a:avLst/>
          </a:prstGeom>
          <a:noFill/>
          <a:ln/>
        </p:spPr>
        <p:txBody>
          <a:bodyPr wrap="square" lIns="0" tIns="0" rIns="0" bIns="0" rtlCol="0" anchor="ctr"/>
          <a:lstStyle/>
          <a:p>
            <a:pPr indent="0" marL="0">
              <a:lnSpc>
                <a:spcPct val="100000"/>
              </a:lnSpc>
              <a:buNone/>
            </a:pPr>
            <a:r>
              <a:rPr lang="en-US" sz="950" dirty="0">
                <a:solidFill>
                  <a:srgbClr val="5B6478"/>
                </a:solidFill>
                <a:latin typeface="Calibri" pitchFamily="34" charset="0"/>
                <a:ea typeface="Calibri" pitchFamily="34" charset="-122"/>
                <a:cs typeface="Calibri" pitchFamily="34" charset="-120"/>
              </a:rPr>
              <a:t>Method-approved planning and financial discipline that keep projects predictable end to end.</a:t>
            </a:r>
            <a:endParaRPr lang="en-US" sz="950" dirty="0"/>
          </a:p>
        </p:txBody>
      </p:sp>
      <p:sp>
        <p:nvSpPr>
          <p:cNvPr id="25" name="Shape 23"/>
          <p:cNvSpPr/>
          <p:nvPr/>
        </p:nvSpPr>
        <p:spPr>
          <a:xfrm>
            <a:off x="457200" y="5440680"/>
            <a:ext cx="310896" cy="310896"/>
          </a:xfrm>
          <a:prstGeom prst="ellipse">
            <a:avLst/>
          </a:prstGeom>
          <a:solidFill>
            <a:srgbClr val="1E9E3C"/>
          </a:solidFill>
          <a:ln/>
        </p:spPr>
      </p:sp>
      <p:sp>
        <p:nvSpPr>
          <p:cNvPr id="26" name="Text 24"/>
          <p:cNvSpPr/>
          <p:nvPr/>
        </p:nvSpPr>
        <p:spPr>
          <a:xfrm>
            <a:off x="457200" y="544068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Poppins" pitchFamily="34" charset="0"/>
                <a:ea typeface="Poppins" pitchFamily="34" charset="-122"/>
                <a:cs typeface="Poppins" pitchFamily="34" charset="-120"/>
              </a:rPr>
              <a:t>✓</a:t>
            </a:r>
            <a:endParaRPr lang="en-US" sz="1300" dirty="0"/>
          </a:p>
        </p:txBody>
      </p:sp>
      <p:sp>
        <p:nvSpPr>
          <p:cNvPr id="27" name="Text 25"/>
          <p:cNvSpPr/>
          <p:nvPr/>
        </p:nvSpPr>
        <p:spPr>
          <a:xfrm>
            <a:off x="896112" y="5385816"/>
            <a:ext cx="5852160" cy="310896"/>
          </a:xfrm>
          <a:prstGeom prst="rect">
            <a:avLst/>
          </a:prstGeom>
          <a:noFill/>
          <a:ln/>
        </p:spPr>
        <p:txBody>
          <a:bodyPr wrap="square" lIns="0" tIns="0" rIns="0" bIns="0" rtlCol="0" anchor="ctr"/>
          <a:lstStyle/>
          <a:p>
            <a:pPr indent="0" marL="0">
              <a:buNone/>
            </a:pPr>
            <a:r>
              <a:rPr lang="en-US" sz="1200" b="1" dirty="0">
                <a:solidFill>
                  <a:srgbClr val="17233B"/>
                </a:solidFill>
                <a:latin typeface="Poppins" pitchFamily="34" charset="0"/>
                <a:ea typeface="Poppins" pitchFamily="34" charset="-122"/>
                <a:cs typeface="Poppins" pitchFamily="34" charset="-120"/>
              </a:rPr>
              <a:t>Sustainability Built In</a:t>
            </a:r>
            <a:endParaRPr lang="en-US" sz="1200" dirty="0"/>
          </a:p>
        </p:txBody>
      </p:sp>
      <p:sp>
        <p:nvSpPr>
          <p:cNvPr id="28" name="Text 26"/>
          <p:cNvSpPr/>
          <p:nvPr/>
        </p:nvSpPr>
        <p:spPr>
          <a:xfrm>
            <a:off x="896112" y="5696712"/>
            <a:ext cx="5943600" cy="548640"/>
          </a:xfrm>
          <a:prstGeom prst="rect">
            <a:avLst/>
          </a:prstGeom>
          <a:noFill/>
          <a:ln/>
        </p:spPr>
        <p:txBody>
          <a:bodyPr wrap="square" lIns="0" tIns="0" rIns="0" bIns="0" rtlCol="0" anchor="ctr"/>
          <a:lstStyle/>
          <a:p>
            <a:pPr indent="0" marL="0">
              <a:lnSpc>
                <a:spcPct val="100000"/>
              </a:lnSpc>
              <a:buNone/>
            </a:pPr>
            <a:r>
              <a:rPr lang="en-US" sz="950" dirty="0">
                <a:solidFill>
                  <a:srgbClr val="5B6478"/>
                </a:solidFill>
                <a:latin typeface="Calibri" pitchFamily="34" charset="0"/>
                <a:ea typeface="Calibri" pitchFamily="34" charset="-122"/>
                <a:cs typeface="Calibri" pitchFamily="34" charset="-120"/>
              </a:rPr>
              <a:t>Solar, water-recycling and energy-efficiency expertise woven through our engineering.</a:t>
            </a:r>
            <a:endParaRPr lang="en-US" sz="950" dirty="0"/>
          </a:p>
        </p:txBody>
      </p:sp>
      <p:sp>
        <p:nvSpPr>
          <p:cNvPr id="29" name="Shape 27"/>
          <p:cNvSpPr/>
          <p:nvPr/>
        </p:nvSpPr>
        <p:spPr>
          <a:xfrm>
            <a:off x="7406640" y="1280160"/>
            <a:ext cx="4325112" cy="5120640"/>
          </a:xfrm>
          <a:prstGeom prst="roundRect">
            <a:avLst>
              <a:gd name="adj" fmla="val 2537"/>
            </a:avLst>
          </a:prstGeom>
          <a:solidFill>
            <a:srgbClr val="0E3020"/>
          </a:solidFill>
          <a:ln/>
        </p:spPr>
      </p:sp>
      <p:sp>
        <p:nvSpPr>
          <p:cNvPr id="30" name="Text 28"/>
          <p:cNvSpPr/>
          <p:nvPr/>
        </p:nvSpPr>
        <p:spPr>
          <a:xfrm>
            <a:off x="7680960" y="1508760"/>
            <a:ext cx="3867912" cy="274320"/>
          </a:xfrm>
          <a:prstGeom prst="rect">
            <a:avLst/>
          </a:prstGeom>
          <a:noFill/>
          <a:ln/>
        </p:spPr>
        <p:txBody>
          <a:bodyPr wrap="square" lIns="0" tIns="0" rIns="0" bIns="0" rtlCol="0" anchor="ctr"/>
          <a:lstStyle/>
          <a:p>
            <a:pPr indent="0" marL="0">
              <a:buNone/>
            </a:pPr>
            <a:r>
              <a:rPr lang="en-US" sz="1200" b="1" dirty="0">
                <a:solidFill>
                  <a:srgbClr val="BFF0C6"/>
                </a:solidFill>
                <a:latin typeface="Poppins" pitchFamily="34" charset="0"/>
                <a:ea typeface="Poppins" pitchFamily="34" charset="-122"/>
                <a:cs typeface="Poppins" pitchFamily="34" charset="-120"/>
              </a:rPr>
              <a:t>BY THE NUMBERS</a:t>
            </a:r>
            <a:endParaRPr lang="en-US" sz="1200" dirty="0"/>
          </a:p>
        </p:txBody>
      </p:sp>
      <p:sp>
        <p:nvSpPr>
          <p:cNvPr id="31" name="Text 29"/>
          <p:cNvSpPr/>
          <p:nvPr/>
        </p:nvSpPr>
        <p:spPr>
          <a:xfrm>
            <a:off x="7680960" y="2057400"/>
            <a:ext cx="3776472" cy="365760"/>
          </a:xfrm>
          <a:prstGeom prst="rect">
            <a:avLst/>
          </a:prstGeom>
          <a:noFill/>
          <a:ln/>
        </p:spPr>
        <p:txBody>
          <a:bodyPr wrap="square" lIns="0" tIns="0" rIns="0" bIns="0" rtlCol="0" anchor="ctr"/>
          <a:lstStyle/>
          <a:p>
            <a:pPr indent="0" marL="0">
              <a:buNone/>
            </a:pPr>
            <a:r>
              <a:rPr lang="en-US" sz="2200" b="1" dirty="0">
                <a:solidFill>
                  <a:srgbClr val="FFFFFF"/>
                </a:solidFill>
                <a:latin typeface="Poppins" pitchFamily="34" charset="0"/>
                <a:ea typeface="Poppins" pitchFamily="34" charset="-122"/>
                <a:cs typeface="Poppins" pitchFamily="34" charset="-120"/>
              </a:rPr>
              <a:t>2022</a:t>
            </a:r>
            <a:endParaRPr lang="en-US" sz="2200" dirty="0"/>
          </a:p>
        </p:txBody>
      </p:sp>
      <p:sp>
        <p:nvSpPr>
          <p:cNvPr id="32" name="Text 30"/>
          <p:cNvSpPr/>
          <p:nvPr/>
        </p:nvSpPr>
        <p:spPr>
          <a:xfrm>
            <a:off x="7680960" y="2423160"/>
            <a:ext cx="3776472" cy="274320"/>
          </a:xfrm>
          <a:prstGeom prst="rect">
            <a:avLst/>
          </a:prstGeom>
          <a:noFill/>
          <a:ln/>
        </p:spPr>
        <p:txBody>
          <a:bodyPr wrap="square" lIns="0" tIns="0" rIns="0" bIns="0" rtlCol="0" anchor="ctr"/>
          <a:lstStyle/>
          <a:p>
            <a:pPr indent="0" marL="0">
              <a:buNone/>
            </a:pPr>
            <a:r>
              <a:rPr lang="en-US" sz="950" dirty="0">
                <a:solidFill>
                  <a:srgbClr val="CFEFD4"/>
                </a:solidFill>
                <a:latin typeface="Calibri" pitchFamily="34" charset="0"/>
                <a:ea typeface="Calibri" pitchFamily="34" charset="-122"/>
                <a:cs typeface="Calibri" pitchFamily="34" charset="-120"/>
              </a:rPr>
              <a:t>Incorporated in Siliguri</a:t>
            </a:r>
            <a:endParaRPr lang="en-US" sz="950" dirty="0"/>
          </a:p>
        </p:txBody>
      </p:sp>
      <p:sp>
        <p:nvSpPr>
          <p:cNvPr id="33" name="Shape 31"/>
          <p:cNvSpPr/>
          <p:nvPr/>
        </p:nvSpPr>
        <p:spPr>
          <a:xfrm>
            <a:off x="7680960" y="2770632"/>
            <a:ext cx="3776472" cy="0"/>
          </a:xfrm>
          <a:prstGeom prst="line">
            <a:avLst/>
          </a:prstGeom>
          <a:noFill/>
          <a:ln w="6350">
            <a:solidFill>
              <a:srgbClr val="FFFFFF">
                <a:alpha val="18000"/>
              </a:srgbClr>
            </a:solidFill>
            <a:prstDash val="solid"/>
          </a:ln>
        </p:spPr>
      </p:sp>
      <p:sp>
        <p:nvSpPr>
          <p:cNvPr id="34" name="Text 32"/>
          <p:cNvSpPr/>
          <p:nvPr/>
        </p:nvSpPr>
        <p:spPr>
          <a:xfrm>
            <a:off x="7680960" y="3051810"/>
            <a:ext cx="3776472" cy="365760"/>
          </a:xfrm>
          <a:prstGeom prst="rect">
            <a:avLst/>
          </a:prstGeom>
          <a:noFill/>
          <a:ln/>
        </p:spPr>
        <p:txBody>
          <a:bodyPr wrap="square" lIns="0" tIns="0" rIns="0" bIns="0" rtlCol="0" anchor="ctr"/>
          <a:lstStyle/>
          <a:p>
            <a:pPr indent="0" marL="0">
              <a:buNone/>
            </a:pPr>
            <a:r>
              <a:rPr lang="en-US" sz="2200" b="1" dirty="0">
                <a:solidFill>
                  <a:srgbClr val="FFFFFF"/>
                </a:solidFill>
                <a:latin typeface="Poppins" pitchFamily="34" charset="0"/>
                <a:ea typeface="Poppins" pitchFamily="34" charset="-122"/>
                <a:cs typeface="Poppins" pitchFamily="34" charset="-120"/>
              </a:rPr>
              <a:t>10</a:t>
            </a:r>
            <a:endParaRPr lang="en-US" sz="2200" dirty="0"/>
          </a:p>
        </p:txBody>
      </p:sp>
      <p:sp>
        <p:nvSpPr>
          <p:cNvPr id="35" name="Text 33"/>
          <p:cNvSpPr/>
          <p:nvPr/>
        </p:nvSpPr>
        <p:spPr>
          <a:xfrm>
            <a:off x="7680960" y="3417570"/>
            <a:ext cx="3776472" cy="274320"/>
          </a:xfrm>
          <a:prstGeom prst="rect">
            <a:avLst/>
          </a:prstGeom>
          <a:noFill/>
          <a:ln/>
        </p:spPr>
        <p:txBody>
          <a:bodyPr wrap="square" lIns="0" tIns="0" rIns="0" bIns="0" rtlCol="0" anchor="ctr"/>
          <a:lstStyle/>
          <a:p>
            <a:pPr indent="0" marL="0">
              <a:buNone/>
            </a:pPr>
            <a:r>
              <a:rPr lang="en-US" sz="950" dirty="0">
                <a:solidFill>
                  <a:srgbClr val="CFEFD4"/>
                </a:solidFill>
                <a:latin typeface="Calibri" pitchFamily="34" charset="0"/>
                <a:ea typeface="Calibri" pitchFamily="34" charset="-122"/>
                <a:cs typeface="Calibri" pitchFamily="34" charset="-120"/>
              </a:rPr>
              <a:t>Engineering service lines</a:t>
            </a:r>
            <a:endParaRPr lang="en-US" sz="950" dirty="0"/>
          </a:p>
        </p:txBody>
      </p:sp>
      <p:sp>
        <p:nvSpPr>
          <p:cNvPr id="36" name="Shape 34"/>
          <p:cNvSpPr/>
          <p:nvPr/>
        </p:nvSpPr>
        <p:spPr>
          <a:xfrm>
            <a:off x="7680960" y="3765042"/>
            <a:ext cx="3776472" cy="0"/>
          </a:xfrm>
          <a:prstGeom prst="line">
            <a:avLst/>
          </a:prstGeom>
          <a:noFill/>
          <a:ln w="6350">
            <a:solidFill>
              <a:srgbClr val="FFFFFF">
                <a:alpha val="18000"/>
              </a:srgbClr>
            </a:solidFill>
            <a:prstDash val="solid"/>
          </a:ln>
        </p:spPr>
      </p:sp>
      <p:sp>
        <p:nvSpPr>
          <p:cNvPr id="37" name="Text 35"/>
          <p:cNvSpPr/>
          <p:nvPr/>
        </p:nvSpPr>
        <p:spPr>
          <a:xfrm>
            <a:off x="7680960" y="4046220"/>
            <a:ext cx="3776472" cy="365760"/>
          </a:xfrm>
          <a:prstGeom prst="rect">
            <a:avLst/>
          </a:prstGeom>
          <a:noFill/>
          <a:ln/>
        </p:spPr>
        <p:txBody>
          <a:bodyPr wrap="square" lIns="0" tIns="0" rIns="0" bIns="0" rtlCol="0" anchor="ctr"/>
          <a:lstStyle/>
          <a:p>
            <a:pPr indent="0" marL="0">
              <a:buNone/>
            </a:pPr>
            <a:r>
              <a:rPr lang="en-US" sz="2200" b="1" dirty="0">
                <a:solidFill>
                  <a:srgbClr val="FFFFFF"/>
                </a:solidFill>
                <a:latin typeface="Poppins" pitchFamily="34" charset="0"/>
                <a:ea typeface="Poppins" pitchFamily="34" charset="-122"/>
                <a:cs typeface="Poppins" pitchFamily="34" charset="-120"/>
              </a:rPr>
              <a:t>100%</a:t>
            </a:r>
            <a:endParaRPr lang="en-US" sz="2200" dirty="0"/>
          </a:p>
        </p:txBody>
      </p:sp>
      <p:sp>
        <p:nvSpPr>
          <p:cNvPr id="38" name="Text 36"/>
          <p:cNvSpPr/>
          <p:nvPr/>
        </p:nvSpPr>
        <p:spPr>
          <a:xfrm>
            <a:off x="7680960" y="4411980"/>
            <a:ext cx="3776472" cy="274320"/>
          </a:xfrm>
          <a:prstGeom prst="rect">
            <a:avLst/>
          </a:prstGeom>
          <a:noFill/>
          <a:ln/>
        </p:spPr>
        <p:txBody>
          <a:bodyPr wrap="square" lIns="0" tIns="0" rIns="0" bIns="0" rtlCol="0" anchor="ctr"/>
          <a:lstStyle/>
          <a:p>
            <a:pPr indent="0" marL="0">
              <a:buNone/>
            </a:pPr>
            <a:r>
              <a:rPr lang="en-US" sz="950" dirty="0">
                <a:solidFill>
                  <a:srgbClr val="CFEFD4"/>
                </a:solidFill>
                <a:latin typeface="Calibri" pitchFamily="34" charset="0"/>
                <a:ea typeface="Calibri" pitchFamily="34" charset="-122"/>
                <a:cs typeface="Calibri" pitchFamily="34" charset="-120"/>
              </a:rPr>
              <a:t>On-time project delivery</a:t>
            </a:r>
            <a:endParaRPr lang="en-US" sz="950" dirty="0"/>
          </a:p>
        </p:txBody>
      </p:sp>
      <p:sp>
        <p:nvSpPr>
          <p:cNvPr id="39" name="Shape 37"/>
          <p:cNvSpPr/>
          <p:nvPr/>
        </p:nvSpPr>
        <p:spPr>
          <a:xfrm>
            <a:off x="7680960" y="4759452"/>
            <a:ext cx="3776472" cy="0"/>
          </a:xfrm>
          <a:prstGeom prst="line">
            <a:avLst/>
          </a:prstGeom>
          <a:noFill/>
          <a:ln w="6350">
            <a:solidFill>
              <a:srgbClr val="FFFFFF">
                <a:alpha val="18000"/>
              </a:srgbClr>
            </a:solidFill>
            <a:prstDash val="solid"/>
          </a:ln>
        </p:spPr>
      </p:sp>
      <p:sp>
        <p:nvSpPr>
          <p:cNvPr id="40" name="Text 38"/>
          <p:cNvSpPr/>
          <p:nvPr/>
        </p:nvSpPr>
        <p:spPr>
          <a:xfrm>
            <a:off x="7680960" y="5040630"/>
            <a:ext cx="3776472" cy="365760"/>
          </a:xfrm>
          <a:prstGeom prst="rect">
            <a:avLst/>
          </a:prstGeom>
          <a:noFill/>
          <a:ln/>
        </p:spPr>
        <p:txBody>
          <a:bodyPr wrap="square" lIns="0" tIns="0" rIns="0" bIns="0" rtlCol="0" anchor="ctr"/>
          <a:lstStyle/>
          <a:p>
            <a:pPr indent="0" marL="0">
              <a:buNone/>
            </a:pPr>
            <a:r>
              <a:rPr lang="en-US" sz="2200" b="1" dirty="0">
                <a:solidFill>
                  <a:srgbClr val="FFFFFF"/>
                </a:solidFill>
                <a:latin typeface="Poppins" pitchFamily="34" charset="0"/>
                <a:ea typeface="Poppins" pitchFamily="34" charset="-122"/>
                <a:cs typeface="Poppins" pitchFamily="34" charset="-120"/>
              </a:rPr>
              <a:t>3</a:t>
            </a:r>
            <a:endParaRPr lang="en-US" sz="2200" dirty="0"/>
          </a:p>
        </p:txBody>
      </p:sp>
      <p:sp>
        <p:nvSpPr>
          <p:cNvPr id="41" name="Text 39"/>
          <p:cNvSpPr/>
          <p:nvPr/>
        </p:nvSpPr>
        <p:spPr>
          <a:xfrm>
            <a:off x="7680960" y="5406390"/>
            <a:ext cx="3776472" cy="274320"/>
          </a:xfrm>
          <a:prstGeom prst="rect">
            <a:avLst/>
          </a:prstGeom>
          <a:noFill/>
          <a:ln/>
        </p:spPr>
        <p:txBody>
          <a:bodyPr wrap="square" lIns="0" tIns="0" rIns="0" bIns="0" rtlCol="0" anchor="ctr"/>
          <a:lstStyle/>
          <a:p>
            <a:pPr indent="0" marL="0">
              <a:buNone/>
            </a:pPr>
            <a:r>
              <a:rPr lang="en-US" sz="950" dirty="0">
                <a:solidFill>
                  <a:srgbClr val="CFEFD4"/>
                </a:solidFill>
                <a:latin typeface="Calibri" pitchFamily="34" charset="0"/>
                <a:ea typeface="Calibri" pitchFamily="34" charset="-122"/>
                <a:cs typeface="Calibri" pitchFamily="34" charset="-120"/>
              </a:rPr>
              <a:t>Government recognitions</a:t>
            </a:r>
            <a:endParaRPr lang="en-US" sz="950" dirty="0"/>
          </a:p>
        </p:txBody>
      </p:sp>
      <p:sp>
        <p:nvSpPr>
          <p:cNvPr id="42" name="Shape 40"/>
          <p:cNvSpPr/>
          <p:nvPr/>
        </p:nvSpPr>
        <p:spPr>
          <a:xfrm>
            <a:off x="7680960" y="5753862"/>
            <a:ext cx="3776472" cy="0"/>
          </a:xfrm>
          <a:prstGeom prst="line">
            <a:avLst/>
          </a:prstGeom>
          <a:noFill/>
          <a:ln w="6350">
            <a:solidFill>
              <a:srgbClr val="FFFFFF">
                <a:alpha val="18000"/>
              </a:srgbClr>
            </a:solidFill>
            <a:prstDash val="solid"/>
          </a:ln>
        </p:spPr>
      </p:sp>
      <p:sp>
        <p:nvSpPr>
          <p:cNvPr id="43" name="Text 41"/>
          <p:cNvSpPr/>
          <p:nvPr/>
        </p:nvSpPr>
        <p:spPr>
          <a:xfrm>
            <a:off x="7680960" y="6035040"/>
            <a:ext cx="3776472" cy="365760"/>
          </a:xfrm>
          <a:prstGeom prst="rect">
            <a:avLst/>
          </a:prstGeom>
          <a:noFill/>
          <a:ln/>
        </p:spPr>
        <p:txBody>
          <a:bodyPr wrap="square" lIns="0" tIns="0" rIns="0" bIns="0" rtlCol="0" anchor="ctr"/>
          <a:lstStyle/>
          <a:p>
            <a:pPr indent="0" marL="0">
              <a:buNone/>
            </a:pPr>
            <a:r>
              <a:rPr lang="en-US" sz="2200" b="1" dirty="0">
                <a:solidFill>
                  <a:srgbClr val="FFFFFF"/>
                </a:solidFill>
                <a:latin typeface="Poppins" pitchFamily="34" charset="0"/>
                <a:ea typeface="Poppins" pitchFamily="34" charset="-122"/>
                <a:cs typeface="Poppins" pitchFamily="34" charset="-120"/>
              </a:rPr>
              <a:t>24 hrs</a:t>
            </a:r>
            <a:endParaRPr lang="en-US" sz="2200" dirty="0"/>
          </a:p>
        </p:txBody>
      </p:sp>
      <p:sp>
        <p:nvSpPr>
          <p:cNvPr id="44" name="Text 42"/>
          <p:cNvSpPr/>
          <p:nvPr/>
        </p:nvSpPr>
        <p:spPr>
          <a:xfrm>
            <a:off x="7680960" y="6400800"/>
            <a:ext cx="3776472" cy="274320"/>
          </a:xfrm>
          <a:prstGeom prst="rect">
            <a:avLst/>
          </a:prstGeom>
          <a:noFill/>
          <a:ln/>
        </p:spPr>
        <p:txBody>
          <a:bodyPr wrap="square" lIns="0" tIns="0" rIns="0" bIns="0" rtlCol="0" anchor="ctr"/>
          <a:lstStyle/>
          <a:p>
            <a:pPr indent="0" marL="0">
              <a:buNone/>
            </a:pPr>
            <a:r>
              <a:rPr lang="en-US" sz="950" dirty="0">
                <a:solidFill>
                  <a:srgbClr val="CFEFD4"/>
                </a:solidFill>
                <a:latin typeface="Calibri" pitchFamily="34" charset="0"/>
                <a:ea typeface="Calibri" pitchFamily="34" charset="-122"/>
                <a:cs typeface="Calibri" pitchFamily="34" charset="-120"/>
              </a:rPr>
              <a:t>Typical quotation turnaround</a:t>
            </a:r>
            <a:endParaRPr lang="en-US" sz="950" dirty="0"/>
          </a:p>
        </p:txBody>
      </p:sp>
      <p:sp>
        <p:nvSpPr>
          <p:cNvPr id="45" name="Text 43"/>
          <p:cNvSpPr/>
          <p:nvPr/>
        </p:nvSpPr>
        <p:spPr>
          <a:xfrm>
            <a:off x="457200" y="6455664"/>
            <a:ext cx="4572000" cy="274320"/>
          </a:xfrm>
          <a:prstGeom prst="rect">
            <a:avLst/>
          </a:prstGeom>
          <a:noFill/>
          <a:ln/>
        </p:spPr>
        <p:txBody>
          <a:bodyPr wrap="square" lIns="0" tIns="0" rIns="0" bIns="0" rtlCol="0" anchor="ctr"/>
          <a:lstStyle/>
          <a:p>
            <a:pPr algn="l" indent="0" marL="0">
              <a:buNone/>
            </a:pPr>
            <a:r>
              <a:rPr lang="en-US" sz="750" dirty="0">
                <a:solidFill>
                  <a:srgbClr val="5B6478"/>
                </a:solidFill>
                <a:latin typeface="Calibri" pitchFamily="34" charset="0"/>
                <a:ea typeface="Calibri" pitchFamily="34" charset="-122"/>
                <a:cs typeface="Calibri" pitchFamily="34" charset="-120"/>
              </a:rPr>
              <a:t>NAVGROW ENGINEERING SERVICE PVT. LTD.</a:t>
            </a:r>
            <a:endParaRPr lang="en-US" sz="750" dirty="0"/>
          </a:p>
        </p:txBody>
      </p:sp>
      <p:sp>
        <p:nvSpPr>
          <p:cNvPr id="46" name="Text 44"/>
          <p:cNvSpPr/>
          <p:nvPr/>
        </p:nvSpPr>
        <p:spPr>
          <a:xfrm>
            <a:off x="4023360" y="6455664"/>
            <a:ext cx="4114800" cy="274320"/>
          </a:xfrm>
          <a:prstGeom prst="rect">
            <a:avLst/>
          </a:prstGeom>
          <a:noFill/>
          <a:ln/>
        </p:spPr>
        <p:txBody>
          <a:bodyPr wrap="square" lIns="0" tIns="0" rIns="0" bIns="0" rtlCol="0" anchor="ctr"/>
          <a:lstStyle/>
          <a:p>
            <a:pPr algn="ctr" indent="0" marL="0">
              <a:buNone/>
            </a:pPr>
            <a:r>
              <a:rPr lang="en-US" sz="750" dirty="0">
                <a:solidFill>
                  <a:srgbClr val="5B6478"/>
                </a:solidFill>
                <a:latin typeface="Calibri" pitchFamily="34" charset="0"/>
                <a:ea typeface="Calibri" pitchFamily="34" charset="-122"/>
                <a:cs typeface="Calibri" pitchFamily="34" charset="-120"/>
              </a:rPr>
              <a:t>WHY NAVGROW</a:t>
            </a:r>
            <a:endParaRPr lang="en-US" sz="750" dirty="0"/>
          </a:p>
        </p:txBody>
      </p:sp>
      <p:sp>
        <p:nvSpPr>
          <p:cNvPr id="47" name="Shape 45"/>
          <p:cNvSpPr/>
          <p:nvPr/>
        </p:nvSpPr>
        <p:spPr>
          <a:xfrm>
            <a:off x="11430000" y="6419088"/>
            <a:ext cx="274320" cy="274320"/>
          </a:xfrm>
          <a:prstGeom prst="ellipse">
            <a:avLst/>
          </a:prstGeom>
          <a:solidFill>
            <a:srgbClr val="1E9E3C"/>
          </a:solidFill>
          <a:ln/>
        </p:spPr>
      </p:sp>
      <p:sp>
        <p:nvSpPr>
          <p:cNvPr id="48" name="Text 46"/>
          <p:cNvSpPr/>
          <p:nvPr/>
        </p:nvSpPr>
        <p:spPr>
          <a:xfrm>
            <a:off x="11430000" y="6419088"/>
            <a:ext cx="2743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Poppins" pitchFamily="34" charset="0"/>
                <a:ea typeface="Poppins" pitchFamily="34" charset="-122"/>
                <a:cs typeface="Poppins"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E3020"/>
          </a:solidFill>
          <a:ln/>
        </p:spPr>
      </p:sp>
      <p:sp>
        <p:nvSpPr>
          <p:cNvPr id="3" name="Shape 1"/>
          <p:cNvSpPr/>
          <p:nvPr/>
        </p:nvSpPr>
        <p:spPr>
          <a:xfrm>
            <a:off x="0" y="1051560"/>
            <a:ext cx="12188952" cy="54864"/>
          </a:xfrm>
          <a:prstGeom prst="rect">
            <a:avLst/>
          </a:prstGeom>
          <a:solidFill>
            <a:srgbClr val="1E9E3C"/>
          </a:solidFill>
          <a:ln/>
        </p:spPr>
      </p:sp>
      <p:sp>
        <p:nvSpPr>
          <p:cNvPr id="4" name="Text 2"/>
          <p:cNvSpPr/>
          <p:nvPr/>
        </p:nvSpPr>
        <p:spPr>
          <a:xfrm>
            <a:off x="457200" y="164592"/>
            <a:ext cx="7315200" cy="274320"/>
          </a:xfrm>
          <a:prstGeom prst="rect">
            <a:avLst/>
          </a:prstGeom>
          <a:noFill/>
          <a:ln/>
        </p:spPr>
        <p:txBody>
          <a:bodyPr wrap="square" lIns="0" tIns="0" rIns="0" bIns="0" rtlCol="0" anchor="ctr"/>
          <a:lstStyle/>
          <a:p>
            <a:pPr indent="0" marL="0">
              <a:buNone/>
            </a:pPr>
            <a:r>
              <a:rPr lang="en-US" sz="1050" b="1" dirty="0">
                <a:solidFill>
                  <a:srgbClr val="BFF0C6"/>
                </a:solidFill>
                <a:latin typeface="Calibri" pitchFamily="34" charset="0"/>
                <a:ea typeface="Calibri" pitchFamily="34" charset="-122"/>
                <a:cs typeface="Calibri" pitchFamily="34" charset="-120"/>
              </a:rPr>
              <a:t>WORKING WITH US</a:t>
            </a:r>
            <a:endParaRPr lang="en-US" sz="1050" dirty="0"/>
          </a:p>
        </p:txBody>
      </p:sp>
      <p:sp>
        <p:nvSpPr>
          <p:cNvPr id="5" name="Text 3"/>
          <p:cNvSpPr/>
          <p:nvPr/>
        </p:nvSpPr>
        <p:spPr>
          <a:xfrm>
            <a:off x="457200" y="420624"/>
            <a:ext cx="9144000" cy="548640"/>
          </a:xfrm>
          <a:prstGeom prst="rect">
            <a:avLst/>
          </a:prstGeom>
          <a:noFill/>
          <a:ln/>
        </p:spPr>
        <p:txBody>
          <a:bodyPr wrap="square" lIns="0" tIns="0" rIns="0" bIns="0" rtlCol="0" anchor="ctr"/>
          <a:lstStyle/>
          <a:p>
            <a:pPr indent="0" marL="0">
              <a:buNone/>
            </a:pPr>
            <a:r>
              <a:rPr lang="en-US" sz="2500" b="1" dirty="0">
                <a:solidFill>
                  <a:srgbClr val="FFFFFF"/>
                </a:solidFill>
                <a:latin typeface="Poppins" pitchFamily="34" charset="0"/>
                <a:ea typeface="Poppins" pitchFamily="34" charset="-122"/>
                <a:cs typeface="Poppins" pitchFamily="34" charset="-120"/>
              </a:rPr>
              <a:t>From Enquiry to Handover</a:t>
            </a:r>
            <a:endParaRPr lang="en-US" sz="2500" dirty="0"/>
          </a:p>
        </p:txBody>
      </p:sp>
      <p:sp>
        <p:nvSpPr>
          <p:cNvPr id="6" name="Text 4"/>
          <p:cNvSpPr/>
          <p:nvPr/>
        </p:nvSpPr>
        <p:spPr>
          <a:xfrm>
            <a:off x="7772400" y="274320"/>
            <a:ext cx="3959352" cy="274320"/>
          </a:xfrm>
          <a:prstGeom prst="rect">
            <a:avLst/>
          </a:prstGeom>
          <a:noFill/>
          <a:ln/>
        </p:spPr>
        <p:txBody>
          <a:bodyPr wrap="square" lIns="0" tIns="0" rIns="0" bIns="0" rtlCol="0" anchor="ctr"/>
          <a:lstStyle/>
          <a:p>
            <a:pPr algn="r" indent="0" marL="0">
              <a:buNone/>
            </a:pPr>
            <a:r>
              <a:rPr lang="en-US" sz="1300" b="1" dirty="0">
                <a:solidFill>
                  <a:srgbClr val="FFFFFF"/>
                </a:solidFill>
                <a:latin typeface="Poppins" pitchFamily="34" charset="0"/>
                <a:ea typeface="Poppins" pitchFamily="34" charset="-122"/>
                <a:cs typeface="Poppins" pitchFamily="34" charset="-120"/>
              </a:rPr>
              <a:t>NAVGROW</a:t>
            </a:r>
            <a:endParaRPr lang="en-US" sz="1300" dirty="0"/>
          </a:p>
        </p:txBody>
      </p:sp>
      <p:sp>
        <p:nvSpPr>
          <p:cNvPr id="7" name="Text 5"/>
          <p:cNvSpPr/>
          <p:nvPr/>
        </p:nvSpPr>
        <p:spPr>
          <a:xfrm>
            <a:off x="7772400" y="548640"/>
            <a:ext cx="3959352" cy="228600"/>
          </a:xfrm>
          <a:prstGeom prst="rect">
            <a:avLst/>
          </a:prstGeom>
          <a:noFill/>
          <a:ln/>
        </p:spPr>
        <p:txBody>
          <a:bodyPr wrap="square" lIns="0" tIns="0" rIns="0" bIns="0" rtlCol="0" anchor="ctr"/>
          <a:lstStyle/>
          <a:p>
            <a:pPr algn="r" indent="0" marL="0">
              <a:buNone/>
            </a:pPr>
            <a:r>
              <a:rPr lang="en-US" sz="750" dirty="0">
                <a:solidFill>
                  <a:srgbClr val="CFEFD4"/>
                </a:solidFill>
                <a:latin typeface="Calibri" pitchFamily="34" charset="0"/>
                <a:ea typeface="Calibri" pitchFamily="34" charset="-122"/>
                <a:cs typeface="Calibri" pitchFamily="34" charset="-120"/>
              </a:rPr>
              <a:t>ENGINEERING SERVICE PVT. LTD.</a:t>
            </a:r>
            <a:endParaRPr lang="en-US" sz="750" dirty="0"/>
          </a:p>
        </p:txBody>
      </p:sp>
      <p:sp>
        <p:nvSpPr>
          <p:cNvPr id="8" name="Shape 6"/>
          <p:cNvSpPr/>
          <p:nvPr/>
        </p:nvSpPr>
        <p:spPr>
          <a:xfrm>
            <a:off x="457200" y="1371600"/>
            <a:ext cx="11274552" cy="777240"/>
          </a:xfrm>
          <a:prstGeom prst="roundRect">
            <a:avLst>
              <a:gd name="adj" fmla="val 7059"/>
            </a:avLst>
          </a:prstGeom>
          <a:solidFill>
            <a:srgbClr val="FFFFFF"/>
          </a:solidFill>
          <a:ln w="12700">
            <a:solidFill>
              <a:srgbClr val="E2E8E2"/>
            </a:solidFill>
            <a:prstDash val="solid"/>
          </a:ln>
        </p:spPr>
      </p:sp>
      <p:sp>
        <p:nvSpPr>
          <p:cNvPr id="9" name="Shape 7"/>
          <p:cNvSpPr/>
          <p:nvPr/>
        </p:nvSpPr>
        <p:spPr>
          <a:xfrm>
            <a:off x="685800" y="1536192"/>
            <a:ext cx="457200" cy="457200"/>
          </a:xfrm>
          <a:prstGeom prst="ellipse">
            <a:avLst/>
          </a:prstGeom>
          <a:solidFill>
            <a:srgbClr val="0E3020"/>
          </a:solidFill>
          <a:ln/>
        </p:spPr>
      </p:sp>
      <p:sp>
        <p:nvSpPr>
          <p:cNvPr id="10" name="Text 8"/>
          <p:cNvSpPr/>
          <p:nvPr/>
        </p:nvSpPr>
        <p:spPr>
          <a:xfrm>
            <a:off x="685800" y="1536192"/>
            <a:ext cx="457200" cy="457200"/>
          </a:xfrm>
          <a:prstGeom prst="rect">
            <a:avLst/>
          </a:prstGeom>
          <a:noFill/>
          <a:ln/>
        </p:spPr>
        <p:txBody>
          <a:bodyPr wrap="square" lIns="0" tIns="0" rIns="0" bIns="0" rtlCol="0" anchor="ctr"/>
          <a:lstStyle/>
          <a:p>
            <a:pPr algn="ctr" indent="0" marL="0">
              <a:buNone/>
            </a:pPr>
            <a:r>
              <a:rPr lang="en-US" sz="1400" b="1" dirty="0">
                <a:solidFill>
                  <a:srgbClr val="BFF0C6"/>
                </a:solidFill>
                <a:latin typeface="Poppins" pitchFamily="34" charset="0"/>
                <a:ea typeface="Poppins" pitchFamily="34" charset="-122"/>
                <a:cs typeface="Poppins" pitchFamily="34" charset="-120"/>
              </a:rPr>
              <a:t>1</a:t>
            </a:r>
            <a:endParaRPr lang="en-US" sz="1400" dirty="0"/>
          </a:p>
        </p:txBody>
      </p:sp>
      <p:sp>
        <p:nvSpPr>
          <p:cNvPr id="11" name="Text 9"/>
          <p:cNvSpPr/>
          <p:nvPr/>
        </p:nvSpPr>
        <p:spPr>
          <a:xfrm>
            <a:off x="1325880" y="1463040"/>
            <a:ext cx="10058400" cy="320040"/>
          </a:xfrm>
          <a:prstGeom prst="rect">
            <a:avLst/>
          </a:prstGeom>
          <a:noFill/>
          <a:ln/>
        </p:spPr>
        <p:txBody>
          <a:bodyPr wrap="square" lIns="0" tIns="0" rIns="0" bIns="0" rtlCol="0" anchor="ctr"/>
          <a:lstStyle/>
          <a:p>
            <a:pPr indent="0" marL="0">
              <a:buNone/>
            </a:pPr>
            <a:r>
              <a:rPr lang="en-US" sz="1250" b="1" dirty="0">
                <a:solidFill>
                  <a:srgbClr val="0E3020"/>
                </a:solidFill>
                <a:latin typeface="Poppins" pitchFamily="34" charset="0"/>
                <a:ea typeface="Poppins" pitchFamily="34" charset="-122"/>
                <a:cs typeface="Poppins" pitchFamily="34" charset="-120"/>
              </a:rPr>
              <a:t>Share Your Requirement</a:t>
            </a:r>
            <a:endParaRPr lang="en-US" sz="1250" dirty="0"/>
          </a:p>
        </p:txBody>
      </p:sp>
      <p:sp>
        <p:nvSpPr>
          <p:cNvPr id="12" name="Text 10"/>
          <p:cNvSpPr/>
          <p:nvPr/>
        </p:nvSpPr>
        <p:spPr>
          <a:xfrm>
            <a:off x="1325880" y="1755648"/>
            <a:ext cx="10149840" cy="365760"/>
          </a:xfrm>
          <a:prstGeom prst="rect">
            <a:avLst/>
          </a:prstGeom>
          <a:noFill/>
          <a:ln/>
        </p:spPr>
        <p:txBody>
          <a:bodyPr wrap="square" lIns="0" tIns="0" rIns="0" bIns="0" rtlCol="0" anchor="ctr"/>
          <a:lstStyle/>
          <a:p>
            <a:pPr indent="0" marL="0">
              <a:buNone/>
            </a:pPr>
            <a:r>
              <a:rPr lang="en-US" sz="950" dirty="0">
                <a:solidFill>
                  <a:srgbClr val="5B6478"/>
                </a:solidFill>
                <a:latin typeface="Calibri" pitchFamily="34" charset="0"/>
                <a:ea typeface="Calibri" pitchFamily="34" charset="-122"/>
                <a:cs typeface="Calibri" pitchFamily="34" charset="-120"/>
              </a:rPr>
              <a:t>Send drawings, BOQs or a simple description — by email, phone or the online quote calculator at navgrow.org.</a:t>
            </a:r>
            <a:endParaRPr lang="en-US" sz="950" dirty="0"/>
          </a:p>
        </p:txBody>
      </p:sp>
      <p:sp>
        <p:nvSpPr>
          <p:cNvPr id="13" name="Shape 11"/>
          <p:cNvSpPr/>
          <p:nvPr/>
        </p:nvSpPr>
        <p:spPr>
          <a:xfrm>
            <a:off x="457200" y="2286000"/>
            <a:ext cx="11274552" cy="777240"/>
          </a:xfrm>
          <a:prstGeom prst="roundRect">
            <a:avLst>
              <a:gd name="adj" fmla="val 7059"/>
            </a:avLst>
          </a:prstGeom>
          <a:solidFill>
            <a:srgbClr val="FFFFFF"/>
          </a:solidFill>
          <a:ln w="12700">
            <a:solidFill>
              <a:srgbClr val="E2E8E2"/>
            </a:solidFill>
            <a:prstDash val="solid"/>
          </a:ln>
        </p:spPr>
      </p:sp>
      <p:sp>
        <p:nvSpPr>
          <p:cNvPr id="14" name="Shape 12"/>
          <p:cNvSpPr/>
          <p:nvPr/>
        </p:nvSpPr>
        <p:spPr>
          <a:xfrm>
            <a:off x="685800" y="2450592"/>
            <a:ext cx="457200" cy="457200"/>
          </a:xfrm>
          <a:prstGeom prst="ellipse">
            <a:avLst/>
          </a:prstGeom>
          <a:solidFill>
            <a:srgbClr val="0E3020"/>
          </a:solidFill>
          <a:ln/>
        </p:spPr>
      </p:sp>
      <p:sp>
        <p:nvSpPr>
          <p:cNvPr id="15" name="Text 13"/>
          <p:cNvSpPr/>
          <p:nvPr/>
        </p:nvSpPr>
        <p:spPr>
          <a:xfrm>
            <a:off x="685800" y="2450592"/>
            <a:ext cx="457200" cy="457200"/>
          </a:xfrm>
          <a:prstGeom prst="rect">
            <a:avLst/>
          </a:prstGeom>
          <a:noFill/>
          <a:ln/>
        </p:spPr>
        <p:txBody>
          <a:bodyPr wrap="square" lIns="0" tIns="0" rIns="0" bIns="0" rtlCol="0" anchor="ctr"/>
          <a:lstStyle/>
          <a:p>
            <a:pPr algn="ctr" indent="0" marL="0">
              <a:buNone/>
            </a:pPr>
            <a:r>
              <a:rPr lang="en-US" sz="1400" b="1" dirty="0">
                <a:solidFill>
                  <a:srgbClr val="BFF0C6"/>
                </a:solidFill>
                <a:latin typeface="Poppins" pitchFamily="34" charset="0"/>
                <a:ea typeface="Poppins" pitchFamily="34" charset="-122"/>
                <a:cs typeface="Poppins" pitchFamily="34" charset="-120"/>
              </a:rPr>
              <a:t>2</a:t>
            </a:r>
            <a:endParaRPr lang="en-US" sz="1400" dirty="0"/>
          </a:p>
        </p:txBody>
      </p:sp>
      <p:sp>
        <p:nvSpPr>
          <p:cNvPr id="16" name="Text 14"/>
          <p:cNvSpPr/>
          <p:nvPr/>
        </p:nvSpPr>
        <p:spPr>
          <a:xfrm>
            <a:off x="1325880" y="2377440"/>
            <a:ext cx="10058400" cy="320040"/>
          </a:xfrm>
          <a:prstGeom prst="rect">
            <a:avLst/>
          </a:prstGeom>
          <a:noFill/>
          <a:ln/>
        </p:spPr>
        <p:txBody>
          <a:bodyPr wrap="square" lIns="0" tIns="0" rIns="0" bIns="0" rtlCol="0" anchor="ctr"/>
          <a:lstStyle/>
          <a:p>
            <a:pPr indent="0" marL="0">
              <a:buNone/>
            </a:pPr>
            <a:r>
              <a:rPr lang="en-US" sz="1250" b="1" dirty="0">
                <a:solidFill>
                  <a:srgbClr val="0E3020"/>
                </a:solidFill>
                <a:latin typeface="Poppins" pitchFamily="34" charset="0"/>
                <a:ea typeface="Poppins" pitchFamily="34" charset="-122"/>
                <a:cs typeface="Poppins" pitchFamily="34" charset="-120"/>
              </a:rPr>
              <a:t>Receive a Formal Quotation</a:t>
            </a:r>
            <a:endParaRPr lang="en-US" sz="1250" dirty="0"/>
          </a:p>
        </p:txBody>
      </p:sp>
      <p:sp>
        <p:nvSpPr>
          <p:cNvPr id="17" name="Text 15"/>
          <p:cNvSpPr/>
          <p:nvPr/>
        </p:nvSpPr>
        <p:spPr>
          <a:xfrm>
            <a:off x="1325880" y="2670048"/>
            <a:ext cx="10149840" cy="365760"/>
          </a:xfrm>
          <a:prstGeom prst="rect">
            <a:avLst/>
          </a:prstGeom>
          <a:noFill/>
          <a:ln/>
        </p:spPr>
        <p:txBody>
          <a:bodyPr wrap="square" lIns="0" tIns="0" rIns="0" bIns="0" rtlCol="0" anchor="ctr"/>
          <a:lstStyle/>
          <a:p>
            <a:pPr indent="0" marL="0">
              <a:buNone/>
            </a:pPr>
            <a:r>
              <a:rPr lang="en-US" sz="950" dirty="0">
                <a:solidFill>
                  <a:srgbClr val="5B6478"/>
                </a:solidFill>
                <a:latin typeface="Calibri" pitchFamily="34" charset="0"/>
                <a:ea typeface="Calibri" pitchFamily="34" charset="-122"/>
                <a:cs typeface="Calibri" pitchFamily="34" charset="-120"/>
              </a:rPr>
              <a:t>Detailed, GST-compliant quotation with scope, timeline and terms — typically within 24 hours.</a:t>
            </a:r>
            <a:endParaRPr lang="en-US" sz="950" dirty="0"/>
          </a:p>
        </p:txBody>
      </p:sp>
      <p:sp>
        <p:nvSpPr>
          <p:cNvPr id="18" name="Shape 16"/>
          <p:cNvSpPr/>
          <p:nvPr/>
        </p:nvSpPr>
        <p:spPr>
          <a:xfrm>
            <a:off x="457200" y="3200400"/>
            <a:ext cx="11274552" cy="777240"/>
          </a:xfrm>
          <a:prstGeom prst="roundRect">
            <a:avLst>
              <a:gd name="adj" fmla="val 7059"/>
            </a:avLst>
          </a:prstGeom>
          <a:solidFill>
            <a:srgbClr val="FFFFFF"/>
          </a:solidFill>
          <a:ln w="12700">
            <a:solidFill>
              <a:srgbClr val="E2E8E2"/>
            </a:solidFill>
            <a:prstDash val="solid"/>
          </a:ln>
        </p:spPr>
      </p:sp>
      <p:sp>
        <p:nvSpPr>
          <p:cNvPr id="19" name="Shape 17"/>
          <p:cNvSpPr/>
          <p:nvPr/>
        </p:nvSpPr>
        <p:spPr>
          <a:xfrm>
            <a:off x="685800" y="3364992"/>
            <a:ext cx="457200" cy="457200"/>
          </a:xfrm>
          <a:prstGeom prst="ellipse">
            <a:avLst/>
          </a:prstGeom>
          <a:solidFill>
            <a:srgbClr val="0E3020"/>
          </a:solidFill>
          <a:ln/>
        </p:spPr>
      </p:sp>
      <p:sp>
        <p:nvSpPr>
          <p:cNvPr id="20" name="Text 18"/>
          <p:cNvSpPr/>
          <p:nvPr/>
        </p:nvSpPr>
        <p:spPr>
          <a:xfrm>
            <a:off x="685800" y="3364992"/>
            <a:ext cx="457200" cy="457200"/>
          </a:xfrm>
          <a:prstGeom prst="rect">
            <a:avLst/>
          </a:prstGeom>
          <a:noFill/>
          <a:ln/>
        </p:spPr>
        <p:txBody>
          <a:bodyPr wrap="square" lIns="0" tIns="0" rIns="0" bIns="0" rtlCol="0" anchor="ctr"/>
          <a:lstStyle/>
          <a:p>
            <a:pPr algn="ctr" indent="0" marL="0">
              <a:buNone/>
            </a:pPr>
            <a:r>
              <a:rPr lang="en-US" sz="1400" b="1" dirty="0">
                <a:solidFill>
                  <a:srgbClr val="BFF0C6"/>
                </a:solidFill>
                <a:latin typeface="Poppins" pitchFamily="34" charset="0"/>
                <a:ea typeface="Poppins" pitchFamily="34" charset="-122"/>
                <a:cs typeface="Poppins" pitchFamily="34" charset="-120"/>
              </a:rPr>
              <a:t>3</a:t>
            </a:r>
            <a:endParaRPr lang="en-US" sz="1400" dirty="0"/>
          </a:p>
        </p:txBody>
      </p:sp>
      <p:sp>
        <p:nvSpPr>
          <p:cNvPr id="21" name="Text 19"/>
          <p:cNvSpPr/>
          <p:nvPr/>
        </p:nvSpPr>
        <p:spPr>
          <a:xfrm>
            <a:off x="1325880" y="3291840"/>
            <a:ext cx="10058400" cy="320040"/>
          </a:xfrm>
          <a:prstGeom prst="rect">
            <a:avLst/>
          </a:prstGeom>
          <a:noFill/>
          <a:ln/>
        </p:spPr>
        <p:txBody>
          <a:bodyPr wrap="square" lIns="0" tIns="0" rIns="0" bIns="0" rtlCol="0" anchor="ctr"/>
          <a:lstStyle/>
          <a:p>
            <a:pPr indent="0" marL="0">
              <a:buNone/>
            </a:pPr>
            <a:r>
              <a:rPr lang="en-US" sz="1250" b="1" dirty="0">
                <a:solidFill>
                  <a:srgbClr val="0E3020"/>
                </a:solidFill>
                <a:latin typeface="Poppins" pitchFamily="34" charset="0"/>
                <a:ea typeface="Poppins" pitchFamily="34" charset="-122"/>
                <a:cs typeface="Poppins" pitchFamily="34" charset="-120"/>
              </a:rPr>
              <a:t>Execution &amp; Updates</a:t>
            </a:r>
            <a:endParaRPr lang="en-US" sz="1250" dirty="0"/>
          </a:p>
        </p:txBody>
      </p:sp>
      <p:sp>
        <p:nvSpPr>
          <p:cNvPr id="22" name="Text 20"/>
          <p:cNvSpPr/>
          <p:nvPr/>
        </p:nvSpPr>
        <p:spPr>
          <a:xfrm>
            <a:off x="1325880" y="3584448"/>
            <a:ext cx="10149840" cy="365760"/>
          </a:xfrm>
          <a:prstGeom prst="rect">
            <a:avLst/>
          </a:prstGeom>
          <a:noFill/>
          <a:ln/>
        </p:spPr>
        <p:txBody>
          <a:bodyPr wrap="square" lIns="0" tIns="0" rIns="0" bIns="0" rtlCol="0" anchor="ctr"/>
          <a:lstStyle/>
          <a:p>
            <a:pPr indent="0" marL="0">
              <a:buNone/>
            </a:pPr>
            <a:r>
              <a:rPr lang="en-US" sz="950" dirty="0">
                <a:solidFill>
                  <a:srgbClr val="5B6478"/>
                </a:solidFill>
                <a:latin typeface="Calibri" pitchFamily="34" charset="0"/>
                <a:ea typeface="Calibri" pitchFamily="34" charset="-122"/>
                <a:cs typeface="Calibri" pitchFamily="34" charset="-120"/>
              </a:rPr>
              <a:t>A named supervisor, agreed milestones and photographic progress records throughout the job.</a:t>
            </a:r>
            <a:endParaRPr lang="en-US" sz="950" dirty="0"/>
          </a:p>
        </p:txBody>
      </p:sp>
      <p:sp>
        <p:nvSpPr>
          <p:cNvPr id="23" name="Shape 21"/>
          <p:cNvSpPr/>
          <p:nvPr/>
        </p:nvSpPr>
        <p:spPr>
          <a:xfrm>
            <a:off x="457200" y="4114800"/>
            <a:ext cx="11274552" cy="777240"/>
          </a:xfrm>
          <a:prstGeom prst="roundRect">
            <a:avLst>
              <a:gd name="adj" fmla="val 7059"/>
            </a:avLst>
          </a:prstGeom>
          <a:solidFill>
            <a:srgbClr val="FFFFFF"/>
          </a:solidFill>
          <a:ln w="12700">
            <a:solidFill>
              <a:srgbClr val="E2E8E2"/>
            </a:solidFill>
            <a:prstDash val="solid"/>
          </a:ln>
        </p:spPr>
      </p:sp>
      <p:sp>
        <p:nvSpPr>
          <p:cNvPr id="24" name="Shape 22"/>
          <p:cNvSpPr/>
          <p:nvPr/>
        </p:nvSpPr>
        <p:spPr>
          <a:xfrm>
            <a:off x="685800" y="4279392"/>
            <a:ext cx="457200" cy="457200"/>
          </a:xfrm>
          <a:prstGeom prst="ellipse">
            <a:avLst/>
          </a:prstGeom>
          <a:solidFill>
            <a:srgbClr val="0E3020"/>
          </a:solidFill>
          <a:ln/>
        </p:spPr>
      </p:sp>
      <p:sp>
        <p:nvSpPr>
          <p:cNvPr id="25" name="Text 23"/>
          <p:cNvSpPr/>
          <p:nvPr/>
        </p:nvSpPr>
        <p:spPr>
          <a:xfrm>
            <a:off x="685800" y="4279392"/>
            <a:ext cx="457200" cy="457200"/>
          </a:xfrm>
          <a:prstGeom prst="rect">
            <a:avLst/>
          </a:prstGeom>
          <a:noFill/>
          <a:ln/>
        </p:spPr>
        <p:txBody>
          <a:bodyPr wrap="square" lIns="0" tIns="0" rIns="0" bIns="0" rtlCol="0" anchor="ctr"/>
          <a:lstStyle/>
          <a:p>
            <a:pPr algn="ctr" indent="0" marL="0">
              <a:buNone/>
            </a:pPr>
            <a:r>
              <a:rPr lang="en-US" sz="1400" b="1" dirty="0">
                <a:solidFill>
                  <a:srgbClr val="BFF0C6"/>
                </a:solidFill>
                <a:latin typeface="Poppins" pitchFamily="34" charset="0"/>
                <a:ea typeface="Poppins" pitchFamily="34" charset="-122"/>
                <a:cs typeface="Poppins" pitchFamily="34" charset="-120"/>
              </a:rPr>
              <a:t>4</a:t>
            </a:r>
            <a:endParaRPr lang="en-US" sz="1400" dirty="0"/>
          </a:p>
        </p:txBody>
      </p:sp>
      <p:sp>
        <p:nvSpPr>
          <p:cNvPr id="26" name="Text 24"/>
          <p:cNvSpPr/>
          <p:nvPr/>
        </p:nvSpPr>
        <p:spPr>
          <a:xfrm>
            <a:off x="1325880" y="4206240"/>
            <a:ext cx="10058400" cy="320040"/>
          </a:xfrm>
          <a:prstGeom prst="rect">
            <a:avLst/>
          </a:prstGeom>
          <a:noFill/>
          <a:ln/>
        </p:spPr>
        <p:txBody>
          <a:bodyPr wrap="square" lIns="0" tIns="0" rIns="0" bIns="0" rtlCol="0" anchor="ctr"/>
          <a:lstStyle/>
          <a:p>
            <a:pPr indent="0" marL="0">
              <a:buNone/>
            </a:pPr>
            <a:r>
              <a:rPr lang="en-US" sz="1250" b="1" dirty="0">
                <a:solidFill>
                  <a:srgbClr val="0E3020"/>
                </a:solidFill>
                <a:latin typeface="Poppins" pitchFamily="34" charset="0"/>
                <a:ea typeface="Poppins" pitchFamily="34" charset="-122"/>
                <a:cs typeface="Poppins" pitchFamily="34" charset="-120"/>
              </a:rPr>
              <a:t>Handover, Invoice &amp; Support</a:t>
            </a:r>
            <a:endParaRPr lang="en-US" sz="1250" dirty="0"/>
          </a:p>
        </p:txBody>
      </p:sp>
      <p:sp>
        <p:nvSpPr>
          <p:cNvPr id="27" name="Text 25"/>
          <p:cNvSpPr/>
          <p:nvPr/>
        </p:nvSpPr>
        <p:spPr>
          <a:xfrm>
            <a:off x="1325880" y="4498848"/>
            <a:ext cx="10149840" cy="365760"/>
          </a:xfrm>
          <a:prstGeom prst="rect">
            <a:avLst/>
          </a:prstGeom>
          <a:noFill/>
          <a:ln/>
        </p:spPr>
        <p:txBody>
          <a:bodyPr wrap="square" lIns="0" tIns="0" rIns="0" bIns="0" rtlCol="0" anchor="ctr"/>
          <a:lstStyle/>
          <a:p>
            <a:pPr indent="0" marL="0">
              <a:buNone/>
            </a:pPr>
            <a:r>
              <a:rPr lang="en-US" sz="950" dirty="0">
                <a:solidFill>
                  <a:srgbClr val="5B6478"/>
                </a:solidFill>
                <a:latin typeface="Calibri" pitchFamily="34" charset="0"/>
                <a:ea typeface="Calibri" pitchFamily="34" charset="-122"/>
                <a:cs typeface="Calibri" pitchFamily="34" charset="-120"/>
              </a:rPr>
              <a:t>Complete dossier, GST invoice and post-handover support — with AMC options where relevant.</a:t>
            </a:r>
            <a:endParaRPr lang="en-US" sz="950" dirty="0"/>
          </a:p>
        </p:txBody>
      </p:sp>
      <p:sp>
        <p:nvSpPr>
          <p:cNvPr id="28" name="Shape 26"/>
          <p:cNvSpPr/>
          <p:nvPr/>
        </p:nvSpPr>
        <p:spPr>
          <a:xfrm>
            <a:off x="457200" y="5120640"/>
            <a:ext cx="11274552" cy="960120"/>
          </a:xfrm>
          <a:prstGeom prst="roundRect">
            <a:avLst>
              <a:gd name="adj" fmla="val 7619"/>
            </a:avLst>
          </a:prstGeom>
          <a:solidFill>
            <a:srgbClr val="0E3020"/>
          </a:solidFill>
          <a:ln/>
        </p:spPr>
      </p:sp>
      <p:sp>
        <p:nvSpPr>
          <p:cNvPr id="29" name="Text 27"/>
          <p:cNvSpPr/>
          <p:nvPr/>
        </p:nvSpPr>
        <p:spPr>
          <a:xfrm>
            <a:off x="685800" y="5230368"/>
            <a:ext cx="7315200" cy="274320"/>
          </a:xfrm>
          <a:prstGeom prst="rect">
            <a:avLst/>
          </a:prstGeom>
          <a:noFill/>
          <a:ln/>
        </p:spPr>
        <p:txBody>
          <a:bodyPr wrap="square" lIns="0" tIns="0" rIns="0" bIns="0" rtlCol="0" anchor="ctr"/>
          <a:lstStyle/>
          <a:p>
            <a:pPr indent="0" marL="0">
              <a:buNone/>
            </a:pPr>
            <a:r>
              <a:rPr lang="en-US" sz="1100" b="1" dirty="0">
                <a:solidFill>
                  <a:srgbClr val="BFF0C6"/>
                </a:solidFill>
                <a:latin typeface="Poppins" pitchFamily="34" charset="0"/>
                <a:ea typeface="Poppins" pitchFamily="34" charset="-122"/>
                <a:cs typeface="Poppins" pitchFamily="34" charset="-120"/>
              </a:rPr>
              <a:t>ALSO ON NAVGROW.ORG</a:t>
            </a:r>
            <a:endParaRPr lang="en-US" sz="1100" dirty="0"/>
          </a:p>
        </p:txBody>
      </p:sp>
      <p:sp>
        <p:nvSpPr>
          <p:cNvPr id="30" name="Text 28"/>
          <p:cNvSpPr/>
          <p:nvPr/>
        </p:nvSpPr>
        <p:spPr>
          <a:xfrm>
            <a:off x="685800" y="5522976"/>
            <a:ext cx="9144000" cy="27432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Instant quote calculator  ·  Live tender listings (GeM / IREPS)  ·  Online product store</a:t>
            </a:r>
            <a:endParaRPr lang="en-US" sz="1000" dirty="0"/>
          </a:p>
        </p:txBody>
      </p:sp>
      <p:sp>
        <p:nvSpPr>
          <p:cNvPr id="31" name="Text 29"/>
          <p:cNvSpPr/>
          <p:nvPr/>
        </p:nvSpPr>
        <p:spPr>
          <a:xfrm>
            <a:off x="685800" y="5760720"/>
            <a:ext cx="9144000" cy="27432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Project gallery  ·  Careers  ·  News &amp; case studies</a:t>
            </a:r>
            <a:endParaRPr lang="en-US" sz="1000" dirty="0"/>
          </a:p>
        </p:txBody>
      </p:sp>
      <p:pic>
        <p:nvPicPr>
          <p:cNvPr id="32" name="Image 0" descr="assets/qr.png">    </p:cNvPr>
          <p:cNvPicPr>
            <a:picLocks noChangeAspect="1"/>
          </p:cNvPicPr>
          <p:nvPr/>
        </p:nvPicPr>
        <p:blipFill>
          <a:blip r:embed="rId1"/>
          <a:stretch>
            <a:fillRect/>
          </a:stretch>
        </p:blipFill>
        <p:spPr>
          <a:xfrm>
            <a:off x="10607040" y="5193792"/>
            <a:ext cx="822960" cy="822960"/>
          </a:xfrm>
          <a:prstGeom prst="rect">
            <a:avLst/>
          </a:prstGeom>
        </p:spPr>
      </p:pic>
      <p:sp>
        <p:nvSpPr>
          <p:cNvPr id="33" name="Text 30"/>
          <p:cNvSpPr/>
          <p:nvPr/>
        </p:nvSpPr>
        <p:spPr>
          <a:xfrm>
            <a:off x="457200" y="6455664"/>
            <a:ext cx="4572000" cy="274320"/>
          </a:xfrm>
          <a:prstGeom prst="rect">
            <a:avLst/>
          </a:prstGeom>
          <a:noFill/>
          <a:ln/>
        </p:spPr>
        <p:txBody>
          <a:bodyPr wrap="square" lIns="0" tIns="0" rIns="0" bIns="0" rtlCol="0" anchor="ctr"/>
          <a:lstStyle/>
          <a:p>
            <a:pPr algn="l" indent="0" marL="0">
              <a:buNone/>
            </a:pPr>
            <a:r>
              <a:rPr lang="en-US" sz="750" dirty="0">
                <a:solidFill>
                  <a:srgbClr val="5B6478"/>
                </a:solidFill>
                <a:latin typeface="Calibri" pitchFamily="34" charset="0"/>
                <a:ea typeface="Calibri" pitchFamily="34" charset="-122"/>
                <a:cs typeface="Calibri" pitchFamily="34" charset="-120"/>
              </a:rPr>
              <a:t>NAVGROW ENGINEERING SERVICE PVT. LTD.</a:t>
            </a:r>
            <a:endParaRPr lang="en-US" sz="750" dirty="0"/>
          </a:p>
        </p:txBody>
      </p:sp>
      <p:sp>
        <p:nvSpPr>
          <p:cNvPr id="34" name="Text 31"/>
          <p:cNvSpPr/>
          <p:nvPr/>
        </p:nvSpPr>
        <p:spPr>
          <a:xfrm>
            <a:off x="4023360" y="6455664"/>
            <a:ext cx="4114800" cy="274320"/>
          </a:xfrm>
          <a:prstGeom prst="rect">
            <a:avLst/>
          </a:prstGeom>
          <a:noFill/>
          <a:ln/>
        </p:spPr>
        <p:txBody>
          <a:bodyPr wrap="square" lIns="0" tIns="0" rIns="0" bIns="0" rtlCol="0" anchor="ctr"/>
          <a:lstStyle/>
          <a:p>
            <a:pPr algn="ctr" indent="0" marL="0">
              <a:buNone/>
            </a:pPr>
            <a:r>
              <a:rPr lang="en-US" sz="750" dirty="0">
                <a:solidFill>
                  <a:srgbClr val="5B6478"/>
                </a:solidFill>
                <a:latin typeface="Calibri" pitchFamily="34" charset="0"/>
                <a:ea typeface="Calibri" pitchFamily="34" charset="-122"/>
                <a:cs typeface="Calibri" pitchFamily="34" charset="-120"/>
              </a:rPr>
              <a:t>ENGAGEMENT</a:t>
            </a:r>
            <a:endParaRPr lang="en-US" sz="750" dirty="0"/>
          </a:p>
        </p:txBody>
      </p:sp>
      <p:sp>
        <p:nvSpPr>
          <p:cNvPr id="35" name="Shape 32"/>
          <p:cNvSpPr/>
          <p:nvPr/>
        </p:nvSpPr>
        <p:spPr>
          <a:xfrm>
            <a:off x="11430000" y="6419088"/>
            <a:ext cx="274320" cy="274320"/>
          </a:xfrm>
          <a:prstGeom prst="ellipse">
            <a:avLst/>
          </a:prstGeom>
          <a:solidFill>
            <a:srgbClr val="1E9E3C"/>
          </a:solidFill>
          <a:ln/>
        </p:spPr>
      </p:sp>
      <p:sp>
        <p:nvSpPr>
          <p:cNvPr id="36" name="Text 33"/>
          <p:cNvSpPr/>
          <p:nvPr/>
        </p:nvSpPr>
        <p:spPr>
          <a:xfrm>
            <a:off x="11430000" y="6419088"/>
            <a:ext cx="2743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Poppins" pitchFamily="34" charset="0"/>
                <a:ea typeface="Poppins" pitchFamily="34" charset="-122"/>
                <a:cs typeface="Poppins"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61A10">
              <a:alpha val="58000"/>
            </a:srgbClr>
          </a:solidFill>
          <a:ln/>
        </p:spPr>
      </p:sp>
      <p:pic>
        <p:nvPicPr>
          <p:cNvPr id="3" name="Image 0" descr="/home/claude/navgrow/Navgrow_Base_Code/navgrow-frontend/public/ng_white_logo.png">    </p:cNvPr>
          <p:cNvPicPr>
            <a:picLocks noChangeAspect="1"/>
          </p:cNvPicPr>
          <p:nvPr/>
        </p:nvPicPr>
        <p:blipFill>
          <a:blip r:embed="rId2"/>
          <a:srcRect l="0" r="0" t="0" b="0"/>
          <a:stretch/>
        </p:blipFill>
        <p:spPr>
          <a:xfrm>
            <a:off x="4905756" y="320040"/>
            <a:ext cx="2377440" cy="868680"/>
          </a:xfrm>
          <a:prstGeom prst="rect">
            <a:avLst/>
          </a:prstGeom>
        </p:spPr>
      </p:pic>
      <p:sp>
        <p:nvSpPr>
          <p:cNvPr id="4" name="Text 1"/>
          <p:cNvSpPr/>
          <p:nvPr/>
        </p:nvSpPr>
        <p:spPr>
          <a:xfrm>
            <a:off x="0" y="1234440"/>
            <a:ext cx="12188952" cy="548640"/>
          </a:xfrm>
          <a:prstGeom prst="rect">
            <a:avLst/>
          </a:prstGeom>
          <a:noFill/>
          <a:ln/>
        </p:spPr>
        <p:txBody>
          <a:bodyPr wrap="square" rtlCol="0" anchor="ctr"/>
          <a:lstStyle/>
          <a:p>
            <a:pPr algn="ctr" indent="0" marL="0">
              <a:buNone/>
            </a:pPr>
            <a:r>
              <a:rPr lang="en-US" sz="3000" b="1" dirty="0">
                <a:solidFill>
                  <a:srgbClr val="FFFFFF"/>
                </a:solidFill>
                <a:latin typeface="Poppins" pitchFamily="34" charset="0"/>
                <a:ea typeface="Poppins" pitchFamily="34" charset="-122"/>
                <a:cs typeface="Poppins" pitchFamily="34" charset="-120"/>
              </a:rPr>
              <a:t>Let's Build What Lasts.</a:t>
            </a:r>
            <a:endParaRPr lang="en-US" sz="3000" dirty="0"/>
          </a:p>
        </p:txBody>
      </p:sp>
      <p:sp>
        <p:nvSpPr>
          <p:cNvPr id="5" name="Text 2"/>
          <p:cNvSpPr/>
          <p:nvPr/>
        </p:nvSpPr>
        <p:spPr>
          <a:xfrm>
            <a:off x="0" y="1810512"/>
            <a:ext cx="12188952" cy="320040"/>
          </a:xfrm>
          <a:prstGeom prst="rect">
            <a:avLst/>
          </a:prstGeom>
          <a:noFill/>
          <a:ln/>
        </p:spPr>
        <p:txBody>
          <a:bodyPr wrap="square" rtlCol="0" anchor="ctr"/>
          <a:lstStyle/>
          <a:p>
            <a:pPr algn="ctr" indent="0" marL="0">
              <a:buNone/>
            </a:pPr>
            <a:r>
              <a:rPr lang="en-US" sz="1200" dirty="0">
                <a:solidFill>
                  <a:srgbClr val="CFEFD4"/>
                </a:solidFill>
                <a:latin typeface="Calibri" pitchFamily="34" charset="0"/>
                <a:ea typeface="Calibri" pitchFamily="34" charset="-122"/>
                <a:cs typeface="Calibri" pitchFamily="34" charset="-120"/>
              </a:rPr>
              <a:t>One accountable partner for engineering, construction and sustainability.</a:t>
            </a:r>
            <a:endParaRPr lang="en-US" sz="1200" dirty="0"/>
          </a:p>
        </p:txBody>
      </p:sp>
      <p:sp>
        <p:nvSpPr>
          <p:cNvPr id="6" name="Shape 3"/>
          <p:cNvSpPr/>
          <p:nvPr/>
        </p:nvSpPr>
        <p:spPr>
          <a:xfrm>
            <a:off x="1280160" y="2331720"/>
            <a:ext cx="9628632" cy="3200400"/>
          </a:xfrm>
          <a:prstGeom prst="roundRect">
            <a:avLst>
              <a:gd name="adj" fmla="val 2857"/>
            </a:avLst>
          </a:prstGeom>
          <a:solidFill>
            <a:srgbClr val="FFFFFF"/>
          </a:solidFill>
          <a:ln/>
        </p:spPr>
      </p:sp>
      <p:sp>
        <p:nvSpPr>
          <p:cNvPr id="7" name="Shape 4"/>
          <p:cNvSpPr/>
          <p:nvPr/>
        </p:nvSpPr>
        <p:spPr>
          <a:xfrm>
            <a:off x="1280160" y="2331720"/>
            <a:ext cx="9628632" cy="82296"/>
          </a:xfrm>
          <a:prstGeom prst="rect">
            <a:avLst/>
          </a:prstGeom>
          <a:solidFill>
            <a:srgbClr val="1E9E3C"/>
          </a:solidFill>
          <a:ln/>
        </p:spPr>
      </p:sp>
      <p:sp>
        <p:nvSpPr>
          <p:cNvPr id="8" name="Text 5"/>
          <p:cNvSpPr/>
          <p:nvPr/>
        </p:nvSpPr>
        <p:spPr>
          <a:xfrm>
            <a:off x="1645920" y="2587752"/>
            <a:ext cx="3657600" cy="274320"/>
          </a:xfrm>
          <a:prstGeom prst="rect">
            <a:avLst/>
          </a:prstGeom>
          <a:noFill/>
          <a:ln/>
        </p:spPr>
        <p:txBody>
          <a:bodyPr wrap="square" lIns="0" tIns="0" rIns="0" bIns="0" rtlCol="0" anchor="ctr"/>
          <a:lstStyle/>
          <a:p>
            <a:pPr indent="0" marL="0">
              <a:buNone/>
            </a:pPr>
            <a:r>
              <a:rPr lang="en-US" sz="1200" b="1" dirty="0">
                <a:solidFill>
                  <a:srgbClr val="0E3020"/>
                </a:solidFill>
                <a:latin typeface="Poppins" pitchFamily="34" charset="0"/>
                <a:ea typeface="Poppins" pitchFamily="34" charset="-122"/>
                <a:cs typeface="Poppins" pitchFamily="34" charset="-120"/>
              </a:rPr>
              <a:t>GET IN TOUCH</a:t>
            </a:r>
            <a:endParaRPr lang="en-US" sz="1200" dirty="0"/>
          </a:p>
        </p:txBody>
      </p:sp>
      <p:sp>
        <p:nvSpPr>
          <p:cNvPr id="9" name="Shape 6"/>
          <p:cNvSpPr/>
          <p:nvPr/>
        </p:nvSpPr>
        <p:spPr>
          <a:xfrm>
            <a:off x="1645920" y="3035808"/>
            <a:ext cx="256032" cy="256032"/>
          </a:xfrm>
          <a:prstGeom prst="ellipse">
            <a:avLst/>
          </a:prstGeom>
          <a:solidFill>
            <a:srgbClr val="1E9E3C"/>
          </a:solidFill>
          <a:ln/>
        </p:spPr>
      </p:sp>
      <p:sp>
        <p:nvSpPr>
          <p:cNvPr id="10" name="Text 7"/>
          <p:cNvSpPr/>
          <p:nvPr/>
        </p:nvSpPr>
        <p:spPr>
          <a:xfrm>
            <a:off x="2029968" y="2999232"/>
            <a:ext cx="4206240" cy="201168"/>
          </a:xfrm>
          <a:prstGeom prst="rect">
            <a:avLst/>
          </a:prstGeom>
          <a:noFill/>
          <a:ln/>
        </p:spPr>
        <p:txBody>
          <a:bodyPr wrap="square" lIns="0" tIns="0" rIns="0" bIns="0" rtlCol="0" anchor="ctr"/>
          <a:lstStyle/>
          <a:p>
            <a:pPr indent="0" marL="0">
              <a:buNone/>
            </a:pPr>
            <a:r>
              <a:rPr lang="en-US" sz="750" b="1" dirty="0">
                <a:solidFill>
                  <a:srgbClr val="2FB350"/>
                </a:solidFill>
                <a:latin typeface="Poppins" pitchFamily="34" charset="0"/>
                <a:ea typeface="Poppins" pitchFamily="34" charset="-122"/>
                <a:cs typeface="Poppins" pitchFamily="34" charset="-120"/>
              </a:rPr>
              <a:t>REGISTERED OFFICE</a:t>
            </a:r>
            <a:endParaRPr lang="en-US" sz="750" dirty="0"/>
          </a:p>
        </p:txBody>
      </p:sp>
      <p:sp>
        <p:nvSpPr>
          <p:cNvPr id="11" name="Text 8"/>
          <p:cNvSpPr/>
          <p:nvPr/>
        </p:nvSpPr>
        <p:spPr>
          <a:xfrm>
            <a:off x="2029968" y="3172968"/>
            <a:ext cx="4297680" cy="256032"/>
          </a:xfrm>
          <a:prstGeom prst="rect">
            <a:avLst/>
          </a:prstGeom>
          <a:noFill/>
          <a:ln/>
        </p:spPr>
        <p:txBody>
          <a:bodyPr wrap="square" lIns="0" tIns="0" rIns="0" bIns="0" rtlCol="0" anchor="ctr"/>
          <a:lstStyle/>
          <a:p>
            <a:pPr indent="0" marL="0">
              <a:buNone/>
            </a:pPr>
            <a:r>
              <a:rPr lang="en-US" sz="950" dirty="0">
                <a:solidFill>
                  <a:srgbClr val="17233B"/>
                </a:solidFill>
                <a:latin typeface="Calibri" pitchFamily="34" charset="0"/>
                <a:ea typeface="Calibri" pitchFamily="34" charset="-122"/>
                <a:cs typeface="Calibri" pitchFamily="34" charset="-120"/>
              </a:rPr>
              <a:t>Ward No-47, Old Matigara Road, Pati Colony, Siliguri, WB – 734001</a:t>
            </a:r>
            <a:endParaRPr lang="en-US" sz="950" dirty="0"/>
          </a:p>
        </p:txBody>
      </p:sp>
      <p:sp>
        <p:nvSpPr>
          <p:cNvPr id="12" name="Shape 9"/>
          <p:cNvSpPr/>
          <p:nvPr/>
        </p:nvSpPr>
        <p:spPr>
          <a:xfrm>
            <a:off x="1645920" y="3511296"/>
            <a:ext cx="256032" cy="256032"/>
          </a:xfrm>
          <a:prstGeom prst="ellipse">
            <a:avLst/>
          </a:prstGeom>
          <a:solidFill>
            <a:srgbClr val="1E9E3C"/>
          </a:solidFill>
          <a:ln/>
        </p:spPr>
      </p:sp>
      <p:sp>
        <p:nvSpPr>
          <p:cNvPr id="13" name="Text 10"/>
          <p:cNvSpPr/>
          <p:nvPr/>
        </p:nvSpPr>
        <p:spPr>
          <a:xfrm>
            <a:off x="2029968" y="3474720"/>
            <a:ext cx="4206240" cy="201168"/>
          </a:xfrm>
          <a:prstGeom prst="rect">
            <a:avLst/>
          </a:prstGeom>
          <a:noFill/>
          <a:ln/>
        </p:spPr>
        <p:txBody>
          <a:bodyPr wrap="square" lIns="0" tIns="0" rIns="0" bIns="0" rtlCol="0" anchor="ctr"/>
          <a:lstStyle/>
          <a:p>
            <a:pPr indent="0" marL="0">
              <a:buNone/>
            </a:pPr>
            <a:r>
              <a:rPr lang="en-US" sz="750" b="1" dirty="0">
                <a:solidFill>
                  <a:srgbClr val="2FB350"/>
                </a:solidFill>
                <a:latin typeface="Poppins" pitchFamily="34" charset="0"/>
                <a:ea typeface="Poppins" pitchFamily="34" charset="-122"/>
                <a:cs typeface="Poppins" pitchFamily="34" charset="-120"/>
              </a:rPr>
              <a:t>PHONE</a:t>
            </a:r>
            <a:endParaRPr lang="en-US" sz="750" dirty="0"/>
          </a:p>
        </p:txBody>
      </p:sp>
      <p:sp>
        <p:nvSpPr>
          <p:cNvPr id="14" name="Text 11"/>
          <p:cNvSpPr/>
          <p:nvPr/>
        </p:nvSpPr>
        <p:spPr>
          <a:xfrm>
            <a:off x="2029968" y="3648456"/>
            <a:ext cx="4297680" cy="256032"/>
          </a:xfrm>
          <a:prstGeom prst="rect">
            <a:avLst/>
          </a:prstGeom>
          <a:noFill/>
          <a:ln/>
        </p:spPr>
        <p:txBody>
          <a:bodyPr wrap="square" lIns="0" tIns="0" rIns="0" bIns="0" rtlCol="0" anchor="ctr"/>
          <a:lstStyle/>
          <a:p>
            <a:pPr indent="0" marL="0">
              <a:buNone/>
            </a:pPr>
            <a:r>
              <a:rPr lang="en-US" sz="950" dirty="0">
                <a:solidFill>
                  <a:srgbClr val="17233B"/>
                </a:solidFill>
                <a:latin typeface="Calibri" pitchFamily="34" charset="0"/>
                <a:ea typeface="Calibri" pitchFamily="34" charset="-122"/>
                <a:cs typeface="Calibri" pitchFamily="34" charset="-120"/>
              </a:rPr>
              <a:t>+91 89270 70972</a:t>
            </a:r>
            <a:endParaRPr lang="en-US" sz="950" dirty="0"/>
          </a:p>
        </p:txBody>
      </p:sp>
      <p:sp>
        <p:nvSpPr>
          <p:cNvPr id="15" name="Shape 12"/>
          <p:cNvSpPr/>
          <p:nvPr/>
        </p:nvSpPr>
        <p:spPr>
          <a:xfrm>
            <a:off x="1645920" y="3986784"/>
            <a:ext cx="256032" cy="256032"/>
          </a:xfrm>
          <a:prstGeom prst="ellipse">
            <a:avLst/>
          </a:prstGeom>
          <a:solidFill>
            <a:srgbClr val="1E9E3C"/>
          </a:solidFill>
          <a:ln/>
        </p:spPr>
      </p:sp>
      <p:sp>
        <p:nvSpPr>
          <p:cNvPr id="16" name="Text 13"/>
          <p:cNvSpPr/>
          <p:nvPr/>
        </p:nvSpPr>
        <p:spPr>
          <a:xfrm>
            <a:off x="2029968" y="3950208"/>
            <a:ext cx="4206240" cy="201168"/>
          </a:xfrm>
          <a:prstGeom prst="rect">
            <a:avLst/>
          </a:prstGeom>
          <a:noFill/>
          <a:ln/>
        </p:spPr>
        <p:txBody>
          <a:bodyPr wrap="square" lIns="0" tIns="0" rIns="0" bIns="0" rtlCol="0" anchor="ctr"/>
          <a:lstStyle/>
          <a:p>
            <a:pPr indent="0" marL="0">
              <a:buNone/>
            </a:pPr>
            <a:r>
              <a:rPr lang="en-US" sz="750" b="1" dirty="0">
                <a:solidFill>
                  <a:srgbClr val="2FB350"/>
                </a:solidFill>
                <a:latin typeface="Poppins" pitchFamily="34" charset="0"/>
                <a:ea typeface="Poppins" pitchFamily="34" charset="-122"/>
                <a:cs typeface="Poppins" pitchFamily="34" charset="-120"/>
              </a:rPr>
              <a:t>EMAIL</a:t>
            </a:r>
            <a:endParaRPr lang="en-US" sz="750" dirty="0"/>
          </a:p>
        </p:txBody>
      </p:sp>
      <p:sp>
        <p:nvSpPr>
          <p:cNvPr id="17" name="Text 14"/>
          <p:cNvSpPr/>
          <p:nvPr/>
        </p:nvSpPr>
        <p:spPr>
          <a:xfrm>
            <a:off x="2029968" y="4123944"/>
            <a:ext cx="4297680" cy="256032"/>
          </a:xfrm>
          <a:prstGeom prst="rect">
            <a:avLst/>
          </a:prstGeom>
          <a:noFill/>
          <a:ln/>
        </p:spPr>
        <p:txBody>
          <a:bodyPr wrap="square" lIns="0" tIns="0" rIns="0" bIns="0" rtlCol="0" anchor="ctr"/>
          <a:lstStyle/>
          <a:p>
            <a:pPr indent="0" marL="0">
              <a:buNone/>
            </a:pPr>
            <a:r>
              <a:rPr lang="en-US" sz="950" dirty="0">
                <a:solidFill>
                  <a:srgbClr val="17233B"/>
                </a:solidFill>
                <a:latin typeface="Calibri" pitchFamily="34" charset="0"/>
                <a:ea typeface="Calibri" pitchFamily="34" charset="-122"/>
                <a:cs typeface="Calibri" pitchFamily="34" charset="-120"/>
              </a:rPr>
              <a:t>info@navgrow.org</a:t>
            </a:r>
            <a:endParaRPr lang="en-US" sz="950" dirty="0"/>
          </a:p>
        </p:txBody>
      </p:sp>
      <p:sp>
        <p:nvSpPr>
          <p:cNvPr id="18" name="Shape 15"/>
          <p:cNvSpPr/>
          <p:nvPr/>
        </p:nvSpPr>
        <p:spPr>
          <a:xfrm>
            <a:off x="1645920" y="4462272"/>
            <a:ext cx="256032" cy="256032"/>
          </a:xfrm>
          <a:prstGeom prst="ellipse">
            <a:avLst/>
          </a:prstGeom>
          <a:solidFill>
            <a:srgbClr val="1E9E3C"/>
          </a:solidFill>
          <a:ln/>
        </p:spPr>
      </p:sp>
      <p:sp>
        <p:nvSpPr>
          <p:cNvPr id="19" name="Text 16"/>
          <p:cNvSpPr/>
          <p:nvPr/>
        </p:nvSpPr>
        <p:spPr>
          <a:xfrm>
            <a:off x="2029968" y="4425696"/>
            <a:ext cx="4206240" cy="201168"/>
          </a:xfrm>
          <a:prstGeom prst="rect">
            <a:avLst/>
          </a:prstGeom>
          <a:noFill/>
          <a:ln/>
        </p:spPr>
        <p:txBody>
          <a:bodyPr wrap="square" lIns="0" tIns="0" rIns="0" bIns="0" rtlCol="0" anchor="ctr"/>
          <a:lstStyle/>
          <a:p>
            <a:pPr indent="0" marL="0">
              <a:buNone/>
            </a:pPr>
            <a:r>
              <a:rPr lang="en-US" sz="750" b="1" dirty="0">
                <a:solidFill>
                  <a:srgbClr val="2FB350"/>
                </a:solidFill>
                <a:latin typeface="Poppins" pitchFamily="34" charset="0"/>
                <a:ea typeface="Poppins" pitchFamily="34" charset="-122"/>
                <a:cs typeface="Poppins" pitchFamily="34" charset="-120"/>
              </a:rPr>
              <a:t>WEBSITE</a:t>
            </a:r>
            <a:endParaRPr lang="en-US" sz="750" dirty="0"/>
          </a:p>
        </p:txBody>
      </p:sp>
      <p:sp>
        <p:nvSpPr>
          <p:cNvPr id="20" name="Text 17"/>
          <p:cNvSpPr/>
          <p:nvPr/>
        </p:nvSpPr>
        <p:spPr>
          <a:xfrm>
            <a:off x="2029968" y="4599432"/>
            <a:ext cx="4297680" cy="256032"/>
          </a:xfrm>
          <a:prstGeom prst="rect">
            <a:avLst/>
          </a:prstGeom>
          <a:noFill/>
          <a:ln/>
        </p:spPr>
        <p:txBody>
          <a:bodyPr wrap="square" lIns="0" tIns="0" rIns="0" bIns="0" rtlCol="0" anchor="ctr"/>
          <a:lstStyle/>
          <a:p>
            <a:pPr indent="0" marL="0">
              <a:buNone/>
            </a:pPr>
            <a:r>
              <a:rPr lang="en-US" sz="950" dirty="0">
                <a:solidFill>
                  <a:srgbClr val="17233B"/>
                </a:solidFill>
                <a:latin typeface="Calibri" pitchFamily="34" charset="0"/>
                <a:ea typeface="Calibri" pitchFamily="34" charset="-122"/>
                <a:cs typeface="Calibri" pitchFamily="34" charset="-120"/>
              </a:rPr>
              <a:t>www.navgrow.org</a:t>
            </a:r>
            <a:endParaRPr lang="en-US" sz="950" dirty="0"/>
          </a:p>
        </p:txBody>
      </p:sp>
      <p:sp>
        <p:nvSpPr>
          <p:cNvPr id="21" name="Shape 18"/>
          <p:cNvSpPr/>
          <p:nvPr/>
        </p:nvSpPr>
        <p:spPr>
          <a:xfrm>
            <a:off x="1645920" y="4937760"/>
            <a:ext cx="256032" cy="256032"/>
          </a:xfrm>
          <a:prstGeom prst="ellipse">
            <a:avLst/>
          </a:prstGeom>
          <a:solidFill>
            <a:srgbClr val="1E9E3C"/>
          </a:solidFill>
          <a:ln/>
        </p:spPr>
      </p:sp>
      <p:sp>
        <p:nvSpPr>
          <p:cNvPr id="22" name="Text 19"/>
          <p:cNvSpPr/>
          <p:nvPr/>
        </p:nvSpPr>
        <p:spPr>
          <a:xfrm>
            <a:off x="2029968" y="4901184"/>
            <a:ext cx="4206240" cy="201168"/>
          </a:xfrm>
          <a:prstGeom prst="rect">
            <a:avLst/>
          </a:prstGeom>
          <a:noFill/>
          <a:ln/>
        </p:spPr>
        <p:txBody>
          <a:bodyPr wrap="square" lIns="0" tIns="0" rIns="0" bIns="0" rtlCol="0" anchor="ctr"/>
          <a:lstStyle/>
          <a:p>
            <a:pPr indent="0" marL="0">
              <a:buNone/>
            </a:pPr>
            <a:r>
              <a:rPr lang="en-US" sz="750" b="1" dirty="0">
                <a:solidFill>
                  <a:srgbClr val="2FB350"/>
                </a:solidFill>
                <a:latin typeface="Poppins" pitchFamily="34" charset="0"/>
                <a:ea typeface="Poppins" pitchFamily="34" charset="-122"/>
                <a:cs typeface="Poppins" pitchFamily="34" charset="-120"/>
              </a:rPr>
              <a:t>WHATSAPP</a:t>
            </a:r>
            <a:endParaRPr lang="en-US" sz="750" dirty="0"/>
          </a:p>
        </p:txBody>
      </p:sp>
      <p:sp>
        <p:nvSpPr>
          <p:cNvPr id="23" name="Text 20"/>
          <p:cNvSpPr/>
          <p:nvPr/>
        </p:nvSpPr>
        <p:spPr>
          <a:xfrm>
            <a:off x="2029968" y="5074920"/>
            <a:ext cx="4297680" cy="256032"/>
          </a:xfrm>
          <a:prstGeom prst="rect">
            <a:avLst/>
          </a:prstGeom>
          <a:noFill/>
          <a:ln/>
        </p:spPr>
        <p:txBody>
          <a:bodyPr wrap="square" lIns="0" tIns="0" rIns="0" bIns="0" rtlCol="0" anchor="ctr"/>
          <a:lstStyle/>
          <a:p>
            <a:pPr indent="0" marL="0">
              <a:buNone/>
            </a:pPr>
            <a:r>
              <a:rPr lang="en-US" sz="950" dirty="0">
                <a:solidFill>
                  <a:srgbClr val="17233B"/>
                </a:solidFill>
                <a:latin typeface="Calibri" pitchFamily="34" charset="0"/>
                <a:ea typeface="Calibri" pitchFamily="34" charset="-122"/>
                <a:cs typeface="Calibri" pitchFamily="34" charset="-120"/>
              </a:rPr>
              <a:t>+91 89270 70972</a:t>
            </a:r>
            <a:endParaRPr lang="en-US" sz="950" dirty="0"/>
          </a:p>
        </p:txBody>
      </p:sp>
      <p:sp>
        <p:nvSpPr>
          <p:cNvPr id="24" name="Text 21"/>
          <p:cNvSpPr/>
          <p:nvPr/>
        </p:nvSpPr>
        <p:spPr>
          <a:xfrm>
            <a:off x="6561369" y="2587752"/>
            <a:ext cx="3657600" cy="274320"/>
          </a:xfrm>
          <a:prstGeom prst="rect">
            <a:avLst/>
          </a:prstGeom>
          <a:noFill/>
          <a:ln/>
        </p:spPr>
        <p:txBody>
          <a:bodyPr wrap="square" lIns="0" tIns="0" rIns="0" bIns="0" rtlCol="0" anchor="ctr"/>
          <a:lstStyle/>
          <a:p>
            <a:pPr indent="0" marL="0">
              <a:buNone/>
            </a:pPr>
            <a:r>
              <a:rPr lang="en-US" sz="1200" b="1" dirty="0">
                <a:solidFill>
                  <a:srgbClr val="0E3020"/>
                </a:solidFill>
                <a:latin typeface="Poppins" pitchFamily="34" charset="0"/>
                <a:ea typeface="Poppins" pitchFamily="34" charset="-122"/>
                <a:cs typeface="Poppins" pitchFamily="34" charset="-120"/>
              </a:rPr>
              <a:t>START A PROJECT</a:t>
            </a:r>
            <a:endParaRPr lang="en-US" sz="1200" dirty="0"/>
          </a:p>
        </p:txBody>
      </p:sp>
      <p:sp>
        <p:nvSpPr>
          <p:cNvPr id="25" name="Shape 22"/>
          <p:cNvSpPr/>
          <p:nvPr/>
        </p:nvSpPr>
        <p:spPr>
          <a:xfrm>
            <a:off x="6561369" y="3026664"/>
            <a:ext cx="237744" cy="237744"/>
          </a:xfrm>
          <a:prstGeom prst="ellipse">
            <a:avLst/>
          </a:prstGeom>
          <a:solidFill>
            <a:srgbClr val="1E9E3C"/>
          </a:solidFill>
          <a:ln/>
        </p:spPr>
      </p:sp>
      <p:sp>
        <p:nvSpPr>
          <p:cNvPr id="26" name="Text 23"/>
          <p:cNvSpPr/>
          <p:nvPr/>
        </p:nvSpPr>
        <p:spPr>
          <a:xfrm>
            <a:off x="6561369" y="3026664"/>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Poppins" pitchFamily="34" charset="0"/>
                <a:ea typeface="Poppins" pitchFamily="34" charset="-122"/>
                <a:cs typeface="Poppins" pitchFamily="34" charset="-120"/>
              </a:rPr>
              <a:t>1</a:t>
            </a:r>
            <a:endParaRPr lang="en-US" sz="900" dirty="0"/>
          </a:p>
        </p:txBody>
      </p:sp>
      <p:sp>
        <p:nvSpPr>
          <p:cNvPr id="27" name="Text 24"/>
          <p:cNvSpPr/>
          <p:nvPr/>
        </p:nvSpPr>
        <p:spPr>
          <a:xfrm>
            <a:off x="6908841" y="3017520"/>
            <a:ext cx="3108960" cy="274320"/>
          </a:xfrm>
          <a:prstGeom prst="rect">
            <a:avLst/>
          </a:prstGeom>
          <a:noFill/>
          <a:ln/>
        </p:spPr>
        <p:txBody>
          <a:bodyPr wrap="square" lIns="0" tIns="0" rIns="0" bIns="0" rtlCol="0" anchor="ctr"/>
          <a:lstStyle/>
          <a:p>
            <a:pPr indent="0" marL="0">
              <a:buNone/>
            </a:pPr>
            <a:r>
              <a:rPr lang="en-US" sz="950" dirty="0">
                <a:solidFill>
                  <a:srgbClr val="17233B"/>
                </a:solidFill>
                <a:latin typeface="Calibri" pitchFamily="34" charset="0"/>
                <a:ea typeface="Calibri" pitchFamily="34" charset="-122"/>
                <a:cs typeface="Calibri" pitchFamily="34" charset="-120"/>
              </a:rPr>
              <a:t>Send drawings, a BOQ or a brief.</a:t>
            </a:r>
            <a:endParaRPr lang="en-US" sz="950" dirty="0"/>
          </a:p>
        </p:txBody>
      </p:sp>
      <p:sp>
        <p:nvSpPr>
          <p:cNvPr id="28" name="Shape 25"/>
          <p:cNvSpPr/>
          <p:nvPr/>
        </p:nvSpPr>
        <p:spPr>
          <a:xfrm>
            <a:off x="6561369" y="3410712"/>
            <a:ext cx="237744" cy="237744"/>
          </a:xfrm>
          <a:prstGeom prst="ellipse">
            <a:avLst/>
          </a:prstGeom>
          <a:solidFill>
            <a:srgbClr val="1E9E3C"/>
          </a:solidFill>
          <a:ln/>
        </p:spPr>
      </p:sp>
      <p:sp>
        <p:nvSpPr>
          <p:cNvPr id="29" name="Text 26"/>
          <p:cNvSpPr/>
          <p:nvPr/>
        </p:nvSpPr>
        <p:spPr>
          <a:xfrm>
            <a:off x="6561369" y="341071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Poppins" pitchFamily="34" charset="0"/>
                <a:ea typeface="Poppins" pitchFamily="34" charset="-122"/>
                <a:cs typeface="Poppins" pitchFamily="34" charset="-120"/>
              </a:rPr>
              <a:t>2</a:t>
            </a:r>
            <a:endParaRPr lang="en-US" sz="900" dirty="0"/>
          </a:p>
        </p:txBody>
      </p:sp>
      <p:sp>
        <p:nvSpPr>
          <p:cNvPr id="30" name="Text 27"/>
          <p:cNvSpPr/>
          <p:nvPr/>
        </p:nvSpPr>
        <p:spPr>
          <a:xfrm>
            <a:off x="6908841" y="3401568"/>
            <a:ext cx="3108960" cy="274320"/>
          </a:xfrm>
          <a:prstGeom prst="rect">
            <a:avLst/>
          </a:prstGeom>
          <a:noFill/>
          <a:ln/>
        </p:spPr>
        <p:txBody>
          <a:bodyPr wrap="square" lIns="0" tIns="0" rIns="0" bIns="0" rtlCol="0" anchor="ctr"/>
          <a:lstStyle/>
          <a:p>
            <a:pPr indent="0" marL="0">
              <a:buNone/>
            </a:pPr>
            <a:r>
              <a:rPr lang="en-US" sz="950" dirty="0">
                <a:solidFill>
                  <a:srgbClr val="17233B"/>
                </a:solidFill>
                <a:latin typeface="Calibri" pitchFamily="34" charset="0"/>
                <a:ea typeface="Calibri" pitchFamily="34" charset="-122"/>
                <a:cs typeface="Calibri" pitchFamily="34" charset="-120"/>
              </a:rPr>
              <a:t>Get a GST-compliant quote in 24 hrs.</a:t>
            </a:r>
            <a:endParaRPr lang="en-US" sz="950" dirty="0"/>
          </a:p>
        </p:txBody>
      </p:sp>
      <p:sp>
        <p:nvSpPr>
          <p:cNvPr id="31" name="Shape 28"/>
          <p:cNvSpPr/>
          <p:nvPr/>
        </p:nvSpPr>
        <p:spPr>
          <a:xfrm>
            <a:off x="6561369" y="3794760"/>
            <a:ext cx="237744" cy="237744"/>
          </a:xfrm>
          <a:prstGeom prst="ellipse">
            <a:avLst/>
          </a:prstGeom>
          <a:solidFill>
            <a:srgbClr val="1E9E3C"/>
          </a:solidFill>
          <a:ln/>
        </p:spPr>
      </p:sp>
      <p:sp>
        <p:nvSpPr>
          <p:cNvPr id="32" name="Text 29"/>
          <p:cNvSpPr/>
          <p:nvPr/>
        </p:nvSpPr>
        <p:spPr>
          <a:xfrm>
            <a:off x="6561369" y="379476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Poppins" pitchFamily="34" charset="0"/>
                <a:ea typeface="Poppins" pitchFamily="34" charset="-122"/>
                <a:cs typeface="Poppins" pitchFamily="34" charset="-120"/>
              </a:rPr>
              <a:t>3</a:t>
            </a:r>
            <a:endParaRPr lang="en-US" sz="900" dirty="0"/>
          </a:p>
        </p:txBody>
      </p:sp>
      <p:sp>
        <p:nvSpPr>
          <p:cNvPr id="33" name="Text 30"/>
          <p:cNvSpPr/>
          <p:nvPr/>
        </p:nvSpPr>
        <p:spPr>
          <a:xfrm>
            <a:off x="6908841" y="3785616"/>
            <a:ext cx="3108960" cy="274320"/>
          </a:xfrm>
          <a:prstGeom prst="rect">
            <a:avLst/>
          </a:prstGeom>
          <a:noFill/>
          <a:ln/>
        </p:spPr>
        <p:txBody>
          <a:bodyPr wrap="square" lIns="0" tIns="0" rIns="0" bIns="0" rtlCol="0" anchor="ctr"/>
          <a:lstStyle/>
          <a:p>
            <a:pPr indent="0" marL="0">
              <a:buNone/>
            </a:pPr>
            <a:r>
              <a:rPr lang="en-US" sz="950" dirty="0">
                <a:solidFill>
                  <a:srgbClr val="17233B"/>
                </a:solidFill>
                <a:latin typeface="Calibri" pitchFamily="34" charset="0"/>
                <a:ea typeface="Calibri" pitchFamily="34" charset="-122"/>
                <a:cs typeface="Calibri" pitchFamily="34" charset="-120"/>
              </a:rPr>
              <a:t>We execute under supervision.</a:t>
            </a:r>
            <a:endParaRPr lang="en-US" sz="950" dirty="0"/>
          </a:p>
        </p:txBody>
      </p:sp>
      <p:sp>
        <p:nvSpPr>
          <p:cNvPr id="34" name="Shape 31"/>
          <p:cNvSpPr/>
          <p:nvPr/>
        </p:nvSpPr>
        <p:spPr>
          <a:xfrm>
            <a:off x="6561369" y="4178808"/>
            <a:ext cx="237744" cy="237744"/>
          </a:xfrm>
          <a:prstGeom prst="ellipse">
            <a:avLst/>
          </a:prstGeom>
          <a:solidFill>
            <a:srgbClr val="1E9E3C"/>
          </a:solidFill>
          <a:ln/>
        </p:spPr>
      </p:sp>
      <p:sp>
        <p:nvSpPr>
          <p:cNvPr id="35" name="Text 32"/>
          <p:cNvSpPr/>
          <p:nvPr/>
        </p:nvSpPr>
        <p:spPr>
          <a:xfrm>
            <a:off x="6561369" y="4178808"/>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Poppins" pitchFamily="34" charset="0"/>
                <a:ea typeface="Poppins" pitchFamily="34" charset="-122"/>
                <a:cs typeface="Poppins" pitchFamily="34" charset="-120"/>
              </a:rPr>
              <a:t>4</a:t>
            </a:r>
            <a:endParaRPr lang="en-US" sz="900" dirty="0"/>
          </a:p>
        </p:txBody>
      </p:sp>
      <p:sp>
        <p:nvSpPr>
          <p:cNvPr id="36" name="Text 33"/>
          <p:cNvSpPr/>
          <p:nvPr/>
        </p:nvSpPr>
        <p:spPr>
          <a:xfrm>
            <a:off x="6908841" y="4169664"/>
            <a:ext cx="3108960" cy="274320"/>
          </a:xfrm>
          <a:prstGeom prst="rect">
            <a:avLst/>
          </a:prstGeom>
          <a:noFill/>
          <a:ln/>
        </p:spPr>
        <p:txBody>
          <a:bodyPr wrap="square" lIns="0" tIns="0" rIns="0" bIns="0" rtlCol="0" anchor="ctr"/>
          <a:lstStyle/>
          <a:p>
            <a:pPr indent="0" marL="0">
              <a:buNone/>
            </a:pPr>
            <a:r>
              <a:rPr lang="en-US" sz="950" dirty="0">
                <a:solidFill>
                  <a:srgbClr val="17233B"/>
                </a:solidFill>
                <a:latin typeface="Calibri" pitchFamily="34" charset="0"/>
                <a:ea typeface="Calibri" pitchFamily="34" charset="-122"/>
                <a:cs typeface="Calibri" pitchFamily="34" charset="-120"/>
              </a:rPr>
              <a:t>Handover with a full dossier.</a:t>
            </a:r>
            <a:endParaRPr lang="en-US" sz="950" dirty="0"/>
          </a:p>
        </p:txBody>
      </p:sp>
      <p:sp>
        <p:nvSpPr>
          <p:cNvPr id="37" name="Shape 34"/>
          <p:cNvSpPr/>
          <p:nvPr/>
        </p:nvSpPr>
        <p:spPr>
          <a:xfrm>
            <a:off x="6561369" y="4663440"/>
            <a:ext cx="2651760" cy="457200"/>
          </a:xfrm>
          <a:prstGeom prst="roundRect">
            <a:avLst>
              <a:gd name="adj" fmla="val 50000"/>
            </a:avLst>
          </a:prstGeom>
          <a:solidFill>
            <a:srgbClr val="1E9E3C"/>
          </a:solidFill>
          <a:ln/>
        </p:spPr>
      </p:sp>
      <p:sp>
        <p:nvSpPr>
          <p:cNvPr id="38" name="Text 35"/>
          <p:cNvSpPr/>
          <p:nvPr/>
        </p:nvSpPr>
        <p:spPr>
          <a:xfrm>
            <a:off x="6561369" y="4663440"/>
            <a:ext cx="265176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Poppins" pitchFamily="34" charset="0"/>
                <a:ea typeface="Poppins" pitchFamily="34" charset="-122"/>
                <a:cs typeface="Poppins" pitchFamily="34" charset="-120"/>
              </a:rPr>
              <a:t>REQUEST A QUOTE</a:t>
            </a:r>
            <a:endParaRPr lang="en-US" sz="1100" dirty="0"/>
          </a:p>
        </p:txBody>
      </p:sp>
      <p:pic>
        <p:nvPicPr>
          <p:cNvPr id="39" name="Image 1" descr="assets/qr.png">    </p:cNvPr>
          <p:cNvPicPr>
            <a:picLocks noChangeAspect="1"/>
          </p:cNvPicPr>
          <p:nvPr/>
        </p:nvPicPr>
        <p:blipFill>
          <a:blip r:embed="rId3"/>
          <a:stretch>
            <a:fillRect/>
          </a:stretch>
        </p:blipFill>
        <p:spPr>
          <a:xfrm>
            <a:off x="9765792" y="4617720"/>
            <a:ext cx="777240" cy="777240"/>
          </a:xfrm>
          <a:prstGeom prst="rect">
            <a:avLst/>
          </a:prstGeom>
        </p:spPr>
      </p:pic>
      <p:sp>
        <p:nvSpPr>
          <p:cNvPr id="40" name="Text 36"/>
          <p:cNvSpPr/>
          <p:nvPr/>
        </p:nvSpPr>
        <p:spPr>
          <a:xfrm>
            <a:off x="9582912" y="5367528"/>
            <a:ext cx="1143000" cy="182880"/>
          </a:xfrm>
          <a:prstGeom prst="rect">
            <a:avLst/>
          </a:prstGeom>
          <a:noFill/>
          <a:ln/>
        </p:spPr>
        <p:txBody>
          <a:bodyPr wrap="square" lIns="0" tIns="0" rIns="0" bIns="0" rtlCol="0" anchor="ctr"/>
          <a:lstStyle/>
          <a:p>
            <a:pPr algn="ctr" indent="0" marL="0">
              <a:buNone/>
            </a:pPr>
            <a:r>
              <a:rPr lang="en-US" sz="650" dirty="0">
                <a:solidFill>
                  <a:srgbClr val="0E3020"/>
                </a:solidFill>
                <a:latin typeface="Poppins" pitchFamily="34" charset="0"/>
                <a:ea typeface="Poppins" pitchFamily="34" charset="-122"/>
                <a:cs typeface="Poppins" pitchFamily="34" charset="-120"/>
              </a:rPr>
              <a:t>SCAN TO VISIT</a:t>
            </a:r>
            <a:endParaRPr lang="en-US" sz="650" dirty="0"/>
          </a:p>
        </p:txBody>
      </p:sp>
      <p:sp>
        <p:nvSpPr>
          <p:cNvPr id="41" name="Text 37"/>
          <p:cNvSpPr/>
          <p:nvPr/>
        </p:nvSpPr>
        <p:spPr>
          <a:xfrm>
            <a:off x="457200" y="5806440"/>
            <a:ext cx="8229600" cy="274320"/>
          </a:xfrm>
          <a:prstGeom prst="rect">
            <a:avLst/>
          </a:prstGeom>
          <a:noFill/>
          <a:ln/>
        </p:spPr>
        <p:txBody>
          <a:bodyPr wrap="square" lIns="0" tIns="0" rIns="0" bIns="0" rtlCol="0" anchor="ctr"/>
          <a:lstStyle/>
          <a:p>
            <a:pPr indent="0" marL="0">
              <a:buNone/>
            </a:pPr>
            <a:r>
              <a:rPr lang="en-US" sz="800" dirty="0">
                <a:solidFill>
                  <a:srgbClr val="CFEFD4"/>
                </a:solidFill>
                <a:latin typeface="Calibri" pitchFamily="34" charset="0"/>
                <a:ea typeface="Calibri" pitchFamily="34" charset="-122"/>
                <a:cs typeface="Calibri" pitchFamily="34" charset="-120"/>
              </a:rPr>
              <a:t>Startup India (DPIIT)  ·  Udyam MSME  ·  Make in India  ·  CIN: U74999WB2022PTC256012</a:t>
            </a:r>
            <a:endParaRPr lang="en-US" sz="800" dirty="0"/>
          </a:p>
        </p:txBody>
      </p:sp>
      <p:sp>
        <p:nvSpPr>
          <p:cNvPr id="42" name="Shape 38"/>
          <p:cNvSpPr/>
          <p:nvPr/>
        </p:nvSpPr>
        <p:spPr>
          <a:xfrm>
            <a:off x="8851392" y="5742432"/>
            <a:ext cx="868680" cy="457200"/>
          </a:xfrm>
          <a:prstGeom prst="roundRect">
            <a:avLst>
              <a:gd name="adj" fmla="val 12000"/>
            </a:avLst>
          </a:prstGeom>
          <a:solidFill>
            <a:srgbClr val="FFFFFF"/>
          </a:solidFill>
          <a:ln/>
        </p:spPr>
      </p:sp>
      <p:pic>
        <p:nvPicPr>
          <p:cNvPr id="43" name="Image 2" descr="/home/claude/navgrow/Navgrow_Base_Code/navgrow-frontend/public/DPIIT.png">    </p:cNvPr>
          <p:cNvPicPr>
            <a:picLocks noChangeAspect="1"/>
          </p:cNvPicPr>
          <p:nvPr/>
        </p:nvPicPr>
        <p:blipFill>
          <a:blip r:embed="rId4"/>
          <a:srcRect l="0" r="0" t="0" b="0"/>
          <a:stretch/>
        </p:blipFill>
        <p:spPr>
          <a:xfrm>
            <a:off x="8942832" y="5815584"/>
            <a:ext cx="685800" cy="310896"/>
          </a:xfrm>
          <a:prstGeom prst="rect">
            <a:avLst/>
          </a:prstGeom>
        </p:spPr>
      </p:pic>
      <p:sp>
        <p:nvSpPr>
          <p:cNvPr id="44" name="Shape 39"/>
          <p:cNvSpPr/>
          <p:nvPr/>
        </p:nvSpPr>
        <p:spPr>
          <a:xfrm>
            <a:off x="9811512" y="5742432"/>
            <a:ext cx="868680" cy="457200"/>
          </a:xfrm>
          <a:prstGeom prst="roundRect">
            <a:avLst>
              <a:gd name="adj" fmla="val 12000"/>
            </a:avLst>
          </a:prstGeom>
          <a:solidFill>
            <a:srgbClr val="FFFFFF"/>
          </a:solidFill>
          <a:ln/>
        </p:spPr>
      </p:sp>
      <p:pic>
        <p:nvPicPr>
          <p:cNvPr id="45" name="Image 3" descr="/home/claude/navgrow/Navgrow_Base_Code/navgrow-frontend/public/msme.png">    </p:cNvPr>
          <p:cNvPicPr>
            <a:picLocks noChangeAspect="1"/>
          </p:cNvPicPr>
          <p:nvPr/>
        </p:nvPicPr>
        <p:blipFill>
          <a:blip r:embed="rId5"/>
          <a:srcRect l="0" r="0" t="0" b="0"/>
          <a:stretch/>
        </p:blipFill>
        <p:spPr>
          <a:xfrm>
            <a:off x="9902952" y="5815584"/>
            <a:ext cx="685800" cy="310896"/>
          </a:xfrm>
          <a:prstGeom prst="rect">
            <a:avLst/>
          </a:prstGeom>
        </p:spPr>
      </p:pic>
      <p:sp>
        <p:nvSpPr>
          <p:cNvPr id="46" name="Shape 40"/>
          <p:cNvSpPr/>
          <p:nvPr/>
        </p:nvSpPr>
        <p:spPr>
          <a:xfrm>
            <a:off x="10771632" y="5742432"/>
            <a:ext cx="868680" cy="457200"/>
          </a:xfrm>
          <a:prstGeom prst="roundRect">
            <a:avLst>
              <a:gd name="adj" fmla="val 12000"/>
            </a:avLst>
          </a:prstGeom>
          <a:solidFill>
            <a:srgbClr val="FFFFFF"/>
          </a:solidFill>
          <a:ln/>
        </p:spPr>
      </p:sp>
      <p:pic>
        <p:nvPicPr>
          <p:cNvPr id="47" name="Image 4" descr="/home/claude/navgrow/Navgrow_Base_Code/navgrow-frontend/public/makeinindia.png">    </p:cNvPr>
          <p:cNvPicPr>
            <a:picLocks noChangeAspect="1"/>
          </p:cNvPicPr>
          <p:nvPr/>
        </p:nvPicPr>
        <p:blipFill>
          <a:blip r:embed="rId6"/>
          <a:srcRect l="0" r="0" t="0" b="0"/>
          <a:stretch/>
        </p:blipFill>
        <p:spPr>
          <a:xfrm>
            <a:off x="10863072" y="5815584"/>
            <a:ext cx="685800" cy="310896"/>
          </a:xfrm>
          <a:prstGeom prst="rect">
            <a:avLst/>
          </a:prstGeom>
        </p:spPr>
      </p:pic>
      <p:sp>
        <p:nvSpPr>
          <p:cNvPr id="48" name="Text 41"/>
          <p:cNvSpPr/>
          <p:nvPr/>
        </p:nvSpPr>
        <p:spPr>
          <a:xfrm>
            <a:off x="0" y="6446520"/>
            <a:ext cx="12188952" cy="274320"/>
          </a:xfrm>
          <a:prstGeom prst="rect">
            <a:avLst/>
          </a:prstGeom>
          <a:noFill/>
          <a:ln/>
        </p:spPr>
        <p:txBody>
          <a:bodyPr wrap="square" rtlCol="0" anchor="ctr"/>
          <a:lstStyle/>
          <a:p>
            <a:pPr algn="ctr" indent="0" marL="0">
              <a:buNone/>
            </a:pPr>
            <a:r>
              <a:rPr lang="en-US" sz="750" dirty="0">
                <a:solidFill>
                  <a:srgbClr val="9FC8A8"/>
                </a:solidFill>
                <a:latin typeface="Calibri" pitchFamily="34" charset="0"/>
                <a:ea typeface="Calibri" pitchFamily="34" charset="-122"/>
                <a:cs typeface="Calibri" pitchFamily="34" charset="-120"/>
              </a:rPr>
              <a:t>© 2026 Navgrow Engineering Service Pvt. Ltd. All rights reserved.  ·  Engineering Excellence. Sustainable Solutions.</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Navgrow Engineering Service Pvt.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Navgrow — Company Profile &amp; Capabilities 2026</dc:title>
  <dc:subject>PptxGenJS Presentation</dc:subject>
  <dc:creator>Navgrow Engineering Service Pvt. Ltd.</dc:creator>
  <cp:lastModifiedBy>Navgrow Engineering Service Pvt. Ltd.</cp:lastModifiedBy>
  <cp:revision>1</cp:revision>
  <dcterms:created xsi:type="dcterms:W3CDTF">2026-07-20T08:20:28Z</dcterms:created>
  <dcterms:modified xsi:type="dcterms:W3CDTF">2026-07-20T08:20:28Z</dcterms:modified>
</cp:coreProperties>
</file>